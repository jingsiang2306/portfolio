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8288000" cy="10287000"/>
  <p:notesSz cx="6858000" cy="9144000"/>
  <p:embeddedFontLst>
    <p:embeddedFont>
      <p:font typeface="Montserrat" charset="1" panose="00000500000000000000"/>
      <p:regular r:id="rId31"/>
    </p:embeddedFont>
    <p:embeddedFont>
      <p:font typeface="Montserrat Bold" charset="1" panose="00000800000000000000"/>
      <p:regular r:id="rId32"/>
    </p:embeddedFont>
    <p:embeddedFont>
      <p:font typeface="Belleza" charset="1" panose="02000503050000020003"/>
      <p:regular r:id="rId33"/>
    </p:embeddedFont>
    <p:embeddedFont>
      <p:font typeface="Montserrat Light" charset="1" panose="00000400000000000000"/>
      <p:regular r:id="rId34"/>
    </p:embeddedFont>
    <p:embeddedFont>
      <p:font typeface="ฟ้อนต์" charset="1" panose="00000500000000000000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jpe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jpe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Relationship Id="rId5" Target="../media/image17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Relationship Id="rId6" Target="../media/image25.png" Type="http://schemas.openxmlformats.org/officeDocument/2006/relationships/image"/><Relationship Id="rId7" Target="../media/image2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svg" Type="http://schemas.openxmlformats.org/officeDocument/2006/relationships/image"/><Relationship Id="rId11" Target="../media/image40.png" Type="http://schemas.openxmlformats.org/officeDocument/2006/relationships/image"/><Relationship Id="rId12" Target="../media/image41.png" Type="http://schemas.openxmlformats.org/officeDocument/2006/relationships/image"/><Relationship Id="rId13" Target="../media/image4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Relationship Id="rId8" Target="../media/image37.png" Type="http://schemas.openxmlformats.org/officeDocument/2006/relationships/image"/><Relationship Id="rId9" Target="../media/image38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3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4.png" Type="http://schemas.openxmlformats.org/officeDocument/2006/relationships/image"/><Relationship Id="rId5" Target="../media/image45.png" Type="http://schemas.openxmlformats.org/officeDocument/2006/relationships/image"/><Relationship Id="rId6" Target="../media/image46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7.jpeg" Type="http://schemas.openxmlformats.org/officeDocument/2006/relationships/image"/><Relationship Id="rId5" Target="../media/image48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9.jpeg" Type="http://schemas.openxmlformats.org/officeDocument/2006/relationships/image"/><Relationship Id="rId5" Target="../media/image50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1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272015" y="683570"/>
            <a:ext cx="11213625" cy="1121362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6ACC6">
                    <a:alpha val="100000"/>
                  </a:srgbClr>
                </a:gs>
                <a:gs pos="100000">
                  <a:srgbClr val="BAEF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416602" y="-4183711"/>
            <a:ext cx="8202286" cy="9327211"/>
          </a:xfrm>
          <a:custGeom>
            <a:avLst/>
            <a:gdLst/>
            <a:ahLst/>
            <a:cxnLst/>
            <a:rect r="r" b="b" t="t" l="l"/>
            <a:pathLst>
              <a:path h="9327211" w="8202286">
                <a:moveTo>
                  <a:pt x="0" y="0"/>
                </a:moveTo>
                <a:lnTo>
                  <a:pt x="8202286" y="0"/>
                </a:lnTo>
                <a:lnTo>
                  <a:pt x="8202286" y="9327211"/>
                </a:lnTo>
                <a:lnTo>
                  <a:pt x="0" y="93272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837030" y="7966256"/>
            <a:ext cx="5684060" cy="6463616"/>
          </a:xfrm>
          <a:custGeom>
            <a:avLst/>
            <a:gdLst/>
            <a:ahLst/>
            <a:cxnLst/>
            <a:rect r="r" b="b" t="t" l="l"/>
            <a:pathLst>
              <a:path h="6463616" w="5684060">
                <a:moveTo>
                  <a:pt x="0" y="0"/>
                </a:moveTo>
                <a:lnTo>
                  <a:pt x="5684060" y="0"/>
                </a:lnTo>
                <a:lnTo>
                  <a:pt x="5684060" y="6463616"/>
                </a:lnTo>
                <a:lnTo>
                  <a:pt x="0" y="6463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4993" y="1904550"/>
            <a:ext cx="6941610" cy="6711127"/>
          </a:xfrm>
          <a:custGeom>
            <a:avLst/>
            <a:gdLst/>
            <a:ahLst/>
            <a:cxnLst/>
            <a:rect r="r" b="b" t="t" l="l"/>
            <a:pathLst>
              <a:path h="6711127" w="6941610">
                <a:moveTo>
                  <a:pt x="0" y="0"/>
                </a:moveTo>
                <a:lnTo>
                  <a:pt x="6941610" y="0"/>
                </a:lnTo>
                <a:lnTo>
                  <a:pt x="6941610" y="6711127"/>
                </a:lnTo>
                <a:lnTo>
                  <a:pt x="0" y="67111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207517" y="3875457"/>
            <a:ext cx="2291120" cy="588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57"/>
              </a:lnSpc>
            </a:pPr>
            <a:r>
              <a:rPr lang="en-US" sz="346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in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430928" y="346544"/>
            <a:ext cx="8948756" cy="4761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19"/>
              </a:lnSpc>
            </a:pPr>
            <a:r>
              <a:rPr lang="en-US" b="true" sz="6799">
                <a:solidFill>
                  <a:srgbClr val="60BC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Automated </a:t>
            </a:r>
            <a:r>
              <a:rPr lang="en-US" b="true" sz="6799">
                <a:solidFill>
                  <a:srgbClr val="60BC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Elephant Detection and Early Warning System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430928" y="5174389"/>
            <a:ext cx="4680603" cy="332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8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Group 4</a:t>
            </a:r>
          </a:p>
          <a:p>
            <a:pPr algn="l" marL="820422" indent="-410211" lvl="1">
              <a:lnSpc>
                <a:spcPts val="5320"/>
              </a:lnSpc>
              <a:buAutoNum type="arabicPeriod" startAt="1"/>
            </a:pPr>
            <a:r>
              <a:rPr lang="en-US" sz="38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Chen Jun Han       </a:t>
            </a:r>
          </a:p>
          <a:p>
            <a:pPr algn="l" marL="820422" indent="-410211" lvl="1">
              <a:lnSpc>
                <a:spcPts val="5320"/>
              </a:lnSpc>
              <a:buAutoNum type="arabicPeriod" startAt="1"/>
            </a:pPr>
            <a:r>
              <a:rPr lang="en-US" sz="38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Cheng Jing Siang  </a:t>
            </a:r>
          </a:p>
          <a:p>
            <a:pPr algn="l" marL="820422" indent="-410211" lvl="1">
              <a:lnSpc>
                <a:spcPts val="5320"/>
              </a:lnSpc>
              <a:buAutoNum type="arabicPeriod" startAt="1"/>
            </a:pPr>
            <a:r>
              <a:rPr lang="en-US" sz="38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Wong Zhi Xuan    </a:t>
            </a:r>
          </a:p>
          <a:p>
            <a:pPr algn="l" marL="820422" indent="-410211" lvl="1">
              <a:lnSpc>
                <a:spcPts val="5320"/>
              </a:lnSpc>
              <a:buAutoNum type="arabicPeriod" startAt="1"/>
            </a:pPr>
            <a:r>
              <a:rPr lang="en-US" sz="38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Lim Kuan Ming   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679060" y="5841139"/>
            <a:ext cx="2655573" cy="2656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  <a:spcBef>
                <a:spcPct val="0"/>
              </a:spcBef>
            </a:pPr>
            <a:r>
              <a:rPr lang="en-US" sz="38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[20409166]</a:t>
            </a:r>
          </a:p>
          <a:p>
            <a:pPr algn="ctr">
              <a:lnSpc>
                <a:spcPts val="5320"/>
              </a:lnSpc>
              <a:spcBef>
                <a:spcPct val="0"/>
              </a:spcBef>
            </a:pPr>
            <a:r>
              <a:rPr lang="en-US" sz="38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[20409588]</a:t>
            </a:r>
          </a:p>
          <a:p>
            <a:pPr algn="ctr">
              <a:lnSpc>
                <a:spcPts val="5320"/>
              </a:lnSpc>
              <a:spcBef>
                <a:spcPct val="0"/>
              </a:spcBef>
            </a:pPr>
            <a:r>
              <a:rPr lang="en-US" sz="38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[20393574]</a:t>
            </a:r>
          </a:p>
          <a:p>
            <a:pPr algn="ctr">
              <a:lnSpc>
                <a:spcPts val="5320"/>
              </a:lnSpc>
              <a:spcBef>
                <a:spcPct val="0"/>
              </a:spcBef>
            </a:pPr>
            <a:r>
              <a:rPr lang="en-US" sz="38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[20413703]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706387" y="6489031"/>
            <a:ext cx="8202286" cy="9327211"/>
          </a:xfrm>
          <a:custGeom>
            <a:avLst/>
            <a:gdLst/>
            <a:ahLst/>
            <a:cxnLst/>
            <a:rect r="r" b="b" t="t" l="l"/>
            <a:pathLst>
              <a:path h="9327211" w="8202286">
                <a:moveTo>
                  <a:pt x="0" y="0"/>
                </a:moveTo>
                <a:lnTo>
                  <a:pt x="8202286" y="0"/>
                </a:lnTo>
                <a:lnTo>
                  <a:pt x="8202286" y="9327211"/>
                </a:lnTo>
                <a:lnTo>
                  <a:pt x="0" y="93272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08295" y="4662653"/>
            <a:ext cx="4908481" cy="842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6"/>
              </a:lnSpc>
            </a:pPr>
            <a:r>
              <a:rPr lang="en-US" sz="1431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Deforestation, urbanization, and climate change are rapidly destroying natural habitats, putting many species at risk of extinction.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525244" y="4241237"/>
            <a:ext cx="11237512" cy="87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95"/>
              </a:lnSpc>
            </a:pPr>
            <a:r>
              <a:rPr lang="en-US" b="true" sz="521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Background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3348068" y="-4607409"/>
            <a:ext cx="8202286" cy="9327211"/>
          </a:xfrm>
          <a:custGeom>
            <a:avLst/>
            <a:gdLst/>
            <a:ahLst/>
            <a:cxnLst/>
            <a:rect r="r" b="b" t="t" l="l"/>
            <a:pathLst>
              <a:path h="9327211" w="8202286">
                <a:moveTo>
                  <a:pt x="0" y="0"/>
                </a:moveTo>
                <a:lnTo>
                  <a:pt x="8202285" y="0"/>
                </a:lnTo>
                <a:lnTo>
                  <a:pt x="8202285" y="9327212"/>
                </a:lnTo>
                <a:lnTo>
                  <a:pt x="0" y="9327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circl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64475" y="2433339"/>
            <a:ext cx="6769142" cy="2482870"/>
            <a:chOff x="0" y="0"/>
            <a:chExt cx="1782819" cy="6539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82819" cy="653925"/>
            </a:xfrm>
            <a:custGeom>
              <a:avLst/>
              <a:gdLst/>
              <a:ahLst/>
              <a:cxnLst/>
              <a:rect r="r" b="b" t="t" l="l"/>
              <a:pathLst>
                <a:path h="653925" w="1782819">
                  <a:moveTo>
                    <a:pt x="27449" y="0"/>
                  </a:moveTo>
                  <a:lnTo>
                    <a:pt x="1755370" y="0"/>
                  </a:lnTo>
                  <a:cubicBezTo>
                    <a:pt x="1762650" y="0"/>
                    <a:pt x="1769632" y="2892"/>
                    <a:pt x="1774780" y="8040"/>
                  </a:cubicBezTo>
                  <a:cubicBezTo>
                    <a:pt x="1779927" y="13187"/>
                    <a:pt x="1782819" y="20169"/>
                    <a:pt x="1782819" y="27449"/>
                  </a:cubicBezTo>
                  <a:lnTo>
                    <a:pt x="1782819" y="626476"/>
                  </a:lnTo>
                  <a:cubicBezTo>
                    <a:pt x="1782819" y="633756"/>
                    <a:pt x="1779927" y="640737"/>
                    <a:pt x="1774780" y="645885"/>
                  </a:cubicBezTo>
                  <a:cubicBezTo>
                    <a:pt x="1769632" y="651033"/>
                    <a:pt x="1762650" y="653925"/>
                    <a:pt x="1755370" y="653925"/>
                  </a:cubicBezTo>
                  <a:lnTo>
                    <a:pt x="27449" y="653925"/>
                  </a:lnTo>
                  <a:cubicBezTo>
                    <a:pt x="20169" y="653925"/>
                    <a:pt x="13187" y="651033"/>
                    <a:pt x="8040" y="645885"/>
                  </a:cubicBezTo>
                  <a:cubicBezTo>
                    <a:pt x="2892" y="640737"/>
                    <a:pt x="0" y="633756"/>
                    <a:pt x="0" y="626476"/>
                  </a:cubicBezTo>
                  <a:lnTo>
                    <a:pt x="0" y="27449"/>
                  </a:lnTo>
                  <a:cubicBezTo>
                    <a:pt x="0" y="20169"/>
                    <a:pt x="2892" y="13187"/>
                    <a:pt x="8040" y="8040"/>
                  </a:cubicBezTo>
                  <a:cubicBezTo>
                    <a:pt x="13187" y="2892"/>
                    <a:pt x="20169" y="0"/>
                    <a:pt x="2744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EA4">
                    <a:alpha val="100000"/>
                  </a:srgbClr>
                </a:gs>
                <a:gs pos="100000">
                  <a:srgbClr val="9ECED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782819" cy="711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64475" y="7609816"/>
            <a:ext cx="6769142" cy="2482870"/>
            <a:chOff x="0" y="0"/>
            <a:chExt cx="1782819" cy="6539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82819" cy="653925"/>
            </a:xfrm>
            <a:custGeom>
              <a:avLst/>
              <a:gdLst/>
              <a:ahLst/>
              <a:cxnLst/>
              <a:rect r="r" b="b" t="t" l="l"/>
              <a:pathLst>
                <a:path h="653925" w="1782819">
                  <a:moveTo>
                    <a:pt x="27449" y="0"/>
                  </a:moveTo>
                  <a:lnTo>
                    <a:pt x="1755370" y="0"/>
                  </a:lnTo>
                  <a:cubicBezTo>
                    <a:pt x="1762650" y="0"/>
                    <a:pt x="1769632" y="2892"/>
                    <a:pt x="1774780" y="8040"/>
                  </a:cubicBezTo>
                  <a:cubicBezTo>
                    <a:pt x="1779927" y="13187"/>
                    <a:pt x="1782819" y="20169"/>
                    <a:pt x="1782819" y="27449"/>
                  </a:cubicBezTo>
                  <a:lnTo>
                    <a:pt x="1782819" y="626476"/>
                  </a:lnTo>
                  <a:cubicBezTo>
                    <a:pt x="1782819" y="633756"/>
                    <a:pt x="1779927" y="640737"/>
                    <a:pt x="1774780" y="645885"/>
                  </a:cubicBezTo>
                  <a:cubicBezTo>
                    <a:pt x="1769632" y="651033"/>
                    <a:pt x="1762650" y="653925"/>
                    <a:pt x="1755370" y="653925"/>
                  </a:cubicBezTo>
                  <a:lnTo>
                    <a:pt x="27449" y="653925"/>
                  </a:lnTo>
                  <a:cubicBezTo>
                    <a:pt x="20169" y="653925"/>
                    <a:pt x="13187" y="651033"/>
                    <a:pt x="8040" y="645885"/>
                  </a:cubicBezTo>
                  <a:cubicBezTo>
                    <a:pt x="2892" y="640737"/>
                    <a:pt x="0" y="633756"/>
                    <a:pt x="0" y="626476"/>
                  </a:cubicBezTo>
                  <a:lnTo>
                    <a:pt x="0" y="27449"/>
                  </a:lnTo>
                  <a:cubicBezTo>
                    <a:pt x="0" y="20169"/>
                    <a:pt x="2892" y="13187"/>
                    <a:pt x="8040" y="8040"/>
                  </a:cubicBezTo>
                  <a:cubicBezTo>
                    <a:pt x="13187" y="2892"/>
                    <a:pt x="20169" y="0"/>
                    <a:pt x="2744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EA4">
                    <a:alpha val="100000"/>
                  </a:srgbClr>
                </a:gs>
                <a:gs pos="100000">
                  <a:srgbClr val="9ECED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782819" cy="711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3706387" y="6489031"/>
            <a:ext cx="8202286" cy="9327211"/>
          </a:xfrm>
          <a:custGeom>
            <a:avLst/>
            <a:gdLst/>
            <a:ahLst/>
            <a:cxnLst/>
            <a:rect r="r" b="b" t="t" l="l"/>
            <a:pathLst>
              <a:path h="9327211" w="8202286">
                <a:moveTo>
                  <a:pt x="0" y="0"/>
                </a:moveTo>
                <a:lnTo>
                  <a:pt x="8202286" y="0"/>
                </a:lnTo>
                <a:lnTo>
                  <a:pt x="8202286" y="9327211"/>
                </a:lnTo>
                <a:lnTo>
                  <a:pt x="0" y="93272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264475" y="5021577"/>
            <a:ext cx="6769142" cy="2482870"/>
            <a:chOff x="0" y="0"/>
            <a:chExt cx="1782819" cy="65392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82819" cy="653925"/>
            </a:xfrm>
            <a:custGeom>
              <a:avLst/>
              <a:gdLst/>
              <a:ahLst/>
              <a:cxnLst/>
              <a:rect r="r" b="b" t="t" l="l"/>
              <a:pathLst>
                <a:path h="653925" w="1782819">
                  <a:moveTo>
                    <a:pt x="27449" y="0"/>
                  </a:moveTo>
                  <a:lnTo>
                    <a:pt x="1755370" y="0"/>
                  </a:lnTo>
                  <a:cubicBezTo>
                    <a:pt x="1762650" y="0"/>
                    <a:pt x="1769632" y="2892"/>
                    <a:pt x="1774780" y="8040"/>
                  </a:cubicBezTo>
                  <a:cubicBezTo>
                    <a:pt x="1779927" y="13187"/>
                    <a:pt x="1782819" y="20169"/>
                    <a:pt x="1782819" y="27449"/>
                  </a:cubicBezTo>
                  <a:lnTo>
                    <a:pt x="1782819" y="626476"/>
                  </a:lnTo>
                  <a:cubicBezTo>
                    <a:pt x="1782819" y="633756"/>
                    <a:pt x="1779927" y="640737"/>
                    <a:pt x="1774780" y="645885"/>
                  </a:cubicBezTo>
                  <a:cubicBezTo>
                    <a:pt x="1769632" y="651033"/>
                    <a:pt x="1762650" y="653925"/>
                    <a:pt x="1755370" y="653925"/>
                  </a:cubicBezTo>
                  <a:lnTo>
                    <a:pt x="27449" y="653925"/>
                  </a:lnTo>
                  <a:cubicBezTo>
                    <a:pt x="20169" y="653925"/>
                    <a:pt x="13187" y="651033"/>
                    <a:pt x="8040" y="645885"/>
                  </a:cubicBezTo>
                  <a:cubicBezTo>
                    <a:pt x="2892" y="640737"/>
                    <a:pt x="0" y="633756"/>
                    <a:pt x="0" y="626476"/>
                  </a:cubicBezTo>
                  <a:lnTo>
                    <a:pt x="0" y="27449"/>
                  </a:lnTo>
                  <a:cubicBezTo>
                    <a:pt x="0" y="20169"/>
                    <a:pt x="2892" y="13187"/>
                    <a:pt x="8040" y="8040"/>
                  </a:cubicBezTo>
                  <a:cubicBezTo>
                    <a:pt x="13187" y="2892"/>
                    <a:pt x="20169" y="0"/>
                    <a:pt x="2744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EA4">
                    <a:alpha val="100000"/>
                  </a:srgbClr>
                </a:gs>
                <a:gs pos="100000">
                  <a:srgbClr val="9ECED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782819" cy="711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03703" y="2694704"/>
            <a:ext cx="6090687" cy="663046"/>
            <a:chOff x="0" y="0"/>
            <a:chExt cx="1604132" cy="1746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04132" cy="174629"/>
            </a:xfrm>
            <a:custGeom>
              <a:avLst/>
              <a:gdLst/>
              <a:ahLst/>
              <a:cxnLst/>
              <a:rect r="r" b="b" t="t" l="l"/>
              <a:pathLst>
                <a:path h="174629" w="1604132">
                  <a:moveTo>
                    <a:pt x="24151" y="0"/>
                  </a:moveTo>
                  <a:lnTo>
                    <a:pt x="1579980" y="0"/>
                  </a:lnTo>
                  <a:cubicBezTo>
                    <a:pt x="1593319" y="0"/>
                    <a:pt x="1604132" y="10813"/>
                    <a:pt x="1604132" y="24151"/>
                  </a:cubicBezTo>
                  <a:lnTo>
                    <a:pt x="1604132" y="150478"/>
                  </a:lnTo>
                  <a:cubicBezTo>
                    <a:pt x="1604132" y="163817"/>
                    <a:pt x="1593319" y="174629"/>
                    <a:pt x="1579980" y="174629"/>
                  </a:cubicBezTo>
                  <a:lnTo>
                    <a:pt x="24151" y="174629"/>
                  </a:lnTo>
                  <a:cubicBezTo>
                    <a:pt x="10813" y="174629"/>
                    <a:pt x="0" y="163817"/>
                    <a:pt x="0" y="150478"/>
                  </a:cubicBezTo>
                  <a:lnTo>
                    <a:pt x="0" y="24151"/>
                  </a:lnTo>
                  <a:cubicBezTo>
                    <a:pt x="0" y="10813"/>
                    <a:pt x="10813" y="0"/>
                    <a:pt x="2415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604132" cy="231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03703" y="7871181"/>
            <a:ext cx="6090687" cy="663046"/>
            <a:chOff x="0" y="0"/>
            <a:chExt cx="1604132" cy="17462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04132" cy="174629"/>
            </a:xfrm>
            <a:custGeom>
              <a:avLst/>
              <a:gdLst/>
              <a:ahLst/>
              <a:cxnLst/>
              <a:rect r="r" b="b" t="t" l="l"/>
              <a:pathLst>
                <a:path h="174629" w="1604132">
                  <a:moveTo>
                    <a:pt x="24151" y="0"/>
                  </a:moveTo>
                  <a:lnTo>
                    <a:pt x="1579980" y="0"/>
                  </a:lnTo>
                  <a:cubicBezTo>
                    <a:pt x="1593319" y="0"/>
                    <a:pt x="1604132" y="10813"/>
                    <a:pt x="1604132" y="24151"/>
                  </a:cubicBezTo>
                  <a:lnTo>
                    <a:pt x="1604132" y="150478"/>
                  </a:lnTo>
                  <a:cubicBezTo>
                    <a:pt x="1604132" y="163817"/>
                    <a:pt x="1593319" y="174629"/>
                    <a:pt x="1579980" y="174629"/>
                  </a:cubicBezTo>
                  <a:lnTo>
                    <a:pt x="24151" y="174629"/>
                  </a:lnTo>
                  <a:cubicBezTo>
                    <a:pt x="10813" y="174629"/>
                    <a:pt x="0" y="163817"/>
                    <a:pt x="0" y="150478"/>
                  </a:cubicBezTo>
                  <a:lnTo>
                    <a:pt x="0" y="24151"/>
                  </a:lnTo>
                  <a:cubicBezTo>
                    <a:pt x="0" y="10813"/>
                    <a:pt x="10813" y="0"/>
                    <a:pt x="2415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604132" cy="231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60853" y="5306734"/>
            <a:ext cx="6090687" cy="663046"/>
            <a:chOff x="0" y="0"/>
            <a:chExt cx="1604132" cy="17462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04132" cy="174629"/>
            </a:xfrm>
            <a:custGeom>
              <a:avLst/>
              <a:gdLst/>
              <a:ahLst/>
              <a:cxnLst/>
              <a:rect r="r" b="b" t="t" l="l"/>
              <a:pathLst>
                <a:path h="174629" w="1604132">
                  <a:moveTo>
                    <a:pt x="24151" y="0"/>
                  </a:moveTo>
                  <a:lnTo>
                    <a:pt x="1579980" y="0"/>
                  </a:lnTo>
                  <a:cubicBezTo>
                    <a:pt x="1593319" y="0"/>
                    <a:pt x="1604132" y="10813"/>
                    <a:pt x="1604132" y="24151"/>
                  </a:cubicBezTo>
                  <a:lnTo>
                    <a:pt x="1604132" y="150478"/>
                  </a:lnTo>
                  <a:cubicBezTo>
                    <a:pt x="1604132" y="163817"/>
                    <a:pt x="1593319" y="174629"/>
                    <a:pt x="1579980" y="174629"/>
                  </a:cubicBezTo>
                  <a:lnTo>
                    <a:pt x="24151" y="174629"/>
                  </a:lnTo>
                  <a:cubicBezTo>
                    <a:pt x="10813" y="174629"/>
                    <a:pt x="0" y="163817"/>
                    <a:pt x="0" y="150478"/>
                  </a:cubicBezTo>
                  <a:lnTo>
                    <a:pt x="0" y="24151"/>
                  </a:lnTo>
                  <a:cubicBezTo>
                    <a:pt x="0" y="10813"/>
                    <a:pt x="10813" y="0"/>
                    <a:pt x="2415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604132" cy="231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3664174" y="678789"/>
            <a:ext cx="10959652" cy="135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5"/>
              </a:lnSpc>
            </a:pPr>
            <a:r>
              <a:rPr lang="en-US" b="true" sz="3882">
                <a:solidFill>
                  <a:srgbClr val="60BC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Growing Problem of Human-Elephant Conflict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3348068" y="-4607409"/>
            <a:ext cx="8202286" cy="9327211"/>
          </a:xfrm>
          <a:custGeom>
            <a:avLst/>
            <a:gdLst/>
            <a:ahLst/>
            <a:cxnLst/>
            <a:rect r="r" b="b" t="t" l="l"/>
            <a:pathLst>
              <a:path h="9327211" w="8202286">
                <a:moveTo>
                  <a:pt x="0" y="0"/>
                </a:moveTo>
                <a:lnTo>
                  <a:pt x="8202285" y="0"/>
                </a:lnTo>
                <a:lnTo>
                  <a:pt x="8202285" y="9327212"/>
                </a:lnTo>
                <a:lnTo>
                  <a:pt x="0" y="9327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8574422" y="3645694"/>
            <a:ext cx="8874788" cy="4648170"/>
          </a:xfrm>
          <a:custGeom>
            <a:avLst/>
            <a:gdLst/>
            <a:ahLst/>
            <a:cxnLst/>
            <a:rect r="r" b="b" t="t" l="l"/>
            <a:pathLst>
              <a:path h="4648170" w="8874788">
                <a:moveTo>
                  <a:pt x="0" y="0"/>
                </a:moveTo>
                <a:lnTo>
                  <a:pt x="8874788" y="0"/>
                </a:lnTo>
                <a:lnTo>
                  <a:pt x="8874788" y="4648171"/>
                </a:lnTo>
                <a:lnTo>
                  <a:pt x="0" y="46481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845669" y="8720891"/>
            <a:ext cx="5620828" cy="842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6"/>
              </a:lnSpc>
            </a:pPr>
            <a:r>
              <a:rPr lang="en-US" sz="1431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Dense vegetation and limited infrastructure make it hard to track elephants using traditional methods, delaying warnings and preventing timely interventions.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845669" y="8001936"/>
            <a:ext cx="5905870" cy="372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8"/>
              </a:lnSpc>
            </a:pPr>
            <a:r>
              <a:rPr lang="en-US" b="true" sz="2149">
                <a:solidFill>
                  <a:srgbClr val="60BC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Monitoring Challenges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831595" y="3492316"/>
            <a:ext cx="5634902" cy="1129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6"/>
              </a:lnSpc>
            </a:pPr>
            <a:r>
              <a:rPr lang="en-US" sz="1431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El</a:t>
            </a:r>
            <a:r>
              <a:rPr lang="en-US" sz="1431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ephants often enter farmlands in search of food, trampling and consuming crops, damaging fences, storage, and even homes, leading to significant economic loss for rural communities.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845669" y="6160280"/>
            <a:ext cx="5620828" cy="842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6"/>
              </a:lnSpc>
            </a:pPr>
            <a:r>
              <a:rPr lang="en-US" sz="1431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Close encounters with elephants, especially at night or during migration periods, can lead to injuries or fatalities, creating fear and tension among local residents.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845669" y="2825458"/>
            <a:ext cx="5905870" cy="372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8"/>
              </a:lnSpc>
            </a:pPr>
            <a:r>
              <a:rPr lang="en-US" b="true" sz="2149">
                <a:solidFill>
                  <a:srgbClr val="60BC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Destruction of cro</a:t>
            </a:r>
            <a:r>
              <a:rPr lang="en-US" b="true" sz="2149">
                <a:solidFill>
                  <a:srgbClr val="60BC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ps and property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845669" y="5427963"/>
            <a:ext cx="5905870" cy="372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8"/>
              </a:lnSpc>
            </a:pPr>
            <a:r>
              <a:rPr lang="en-US" b="true" sz="2149">
                <a:solidFill>
                  <a:srgbClr val="60BC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Threats to human safety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27101" y="3173234"/>
            <a:ext cx="6769142" cy="2482870"/>
            <a:chOff x="0" y="0"/>
            <a:chExt cx="1782819" cy="6539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82819" cy="653925"/>
            </a:xfrm>
            <a:custGeom>
              <a:avLst/>
              <a:gdLst/>
              <a:ahLst/>
              <a:cxnLst/>
              <a:rect r="r" b="b" t="t" l="l"/>
              <a:pathLst>
                <a:path h="653925" w="1782819">
                  <a:moveTo>
                    <a:pt x="27449" y="0"/>
                  </a:moveTo>
                  <a:lnTo>
                    <a:pt x="1755370" y="0"/>
                  </a:lnTo>
                  <a:cubicBezTo>
                    <a:pt x="1762650" y="0"/>
                    <a:pt x="1769632" y="2892"/>
                    <a:pt x="1774780" y="8040"/>
                  </a:cubicBezTo>
                  <a:cubicBezTo>
                    <a:pt x="1779927" y="13187"/>
                    <a:pt x="1782819" y="20169"/>
                    <a:pt x="1782819" y="27449"/>
                  </a:cubicBezTo>
                  <a:lnTo>
                    <a:pt x="1782819" y="626476"/>
                  </a:lnTo>
                  <a:cubicBezTo>
                    <a:pt x="1782819" y="633756"/>
                    <a:pt x="1779927" y="640737"/>
                    <a:pt x="1774780" y="645885"/>
                  </a:cubicBezTo>
                  <a:cubicBezTo>
                    <a:pt x="1769632" y="651033"/>
                    <a:pt x="1762650" y="653925"/>
                    <a:pt x="1755370" y="653925"/>
                  </a:cubicBezTo>
                  <a:lnTo>
                    <a:pt x="27449" y="653925"/>
                  </a:lnTo>
                  <a:cubicBezTo>
                    <a:pt x="20169" y="653925"/>
                    <a:pt x="13187" y="651033"/>
                    <a:pt x="8040" y="645885"/>
                  </a:cubicBezTo>
                  <a:cubicBezTo>
                    <a:pt x="2892" y="640737"/>
                    <a:pt x="0" y="633756"/>
                    <a:pt x="0" y="626476"/>
                  </a:cubicBezTo>
                  <a:lnTo>
                    <a:pt x="0" y="27449"/>
                  </a:lnTo>
                  <a:cubicBezTo>
                    <a:pt x="0" y="20169"/>
                    <a:pt x="2892" y="13187"/>
                    <a:pt x="8040" y="8040"/>
                  </a:cubicBezTo>
                  <a:cubicBezTo>
                    <a:pt x="13187" y="2892"/>
                    <a:pt x="20169" y="0"/>
                    <a:pt x="2744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EA4">
                    <a:alpha val="100000"/>
                  </a:srgbClr>
                </a:gs>
                <a:gs pos="100000">
                  <a:srgbClr val="9ECED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782819" cy="711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391757" y="3171865"/>
            <a:ext cx="6769142" cy="2482870"/>
            <a:chOff x="0" y="0"/>
            <a:chExt cx="1782819" cy="6539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82819" cy="653925"/>
            </a:xfrm>
            <a:custGeom>
              <a:avLst/>
              <a:gdLst/>
              <a:ahLst/>
              <a:cxnLst/>
              <a:rect r="r" b="b" t="t" l="l"/>
              <a:pathLst>
                <a:path h="653925" w="1782819">
                  <a:moveTo>
                    <a:pt x="27449" y="0"/>
                  </a:moveTo>
                  <a:lnTo>
                    <a:pt x="1755370" y="0"/>
                  </a:lnTo>
                  <a:cubicBezTo>
                    <a:pt x="1762650" y="0"/>
                    <a:pt x="1769632" y="2892"/>
                    <a:pt x="1774780" y="8040"/>
                  </a:cubicBezTo>
                  <a:cubicBezTo>
                    <a:pt x="1779927" y="13187"/>
                    <a:pt x="1782819" y="20169"/>
                    <a:pt x="1782819" y="27449"/>
                  </a:cubicBezTo>
                  <a:lnTo>
                    <a:pt x="1782819" y="626476"/>
                  </a:lnTo>
                  <a:cubicBezTo>
                    <a:pt x="1782819" y="633756"/>
                    <a:pt x="1779927" y="640737"/>
                    <a:pt x="1774780" y="645885"/>
                  </a:cubicBezTo>
                  <a:cubicBezTo>
                    <a:pt x="1769632" y="651033"/>
                    <a:pt x="1762650" y="653925"/>
                    <a:pt x="1755370" y="653925"/>
                  </a:cubicBezTo>
                  <a:lnTo>
                    <a:pt x="27449" y="653925"/>
                  </a:lnTo>
                  <a:cubicBezTo>
                    <a:pt x="20169" y="653925"/>
                    <a:pt x="13187" y="651033"/>
                    <a:pt x="8040" y="645885"/>
                  </a:cubicBezTo>
                  <a:cubicBezTo>
                    <a:pt x="2892" y="640737"/>
                    <a:pt x="0" y="633756"/>
                    <a:pt x="0" y="626476"/>
                  </a:cubicBezTo>
                  <a:lnTo>
                    <a:pt x="0" y="27449"/>
                  </a:lnTo>
                  <a:cubicBezTo>
                    <a:pt x="0" y="20169"/>
                    <a:pt x="2892" y="13187"/>
                    <a:pt x="8040" y="8040"/>
                  </a:cubicBezTo>
                  <a:cubicBezTo>
                    <a:pt x="13187" y="2892"/>
                    <a:pt x="20169" y="0"/>
                    <a:pt x="2744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EA4">
                    <a:alpha val="100000"/>
                  </a:srgbClr>
                </a:gs>
                <a:gs pos="100000">
                  <a:srgbClr val="9ECED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782819" cy="711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3706387" y="6489031"/>
            <a:ext cx="8202286" cy="9327211"/>
          </a:xfrm>
          <a:custGeom>
            <a:avLst/>
            <a:gdLst/>
            <a:ahLst/>
            <a:cxnLst/>
            <a:rect r="r" b="b" t="t" l="l"/>
            <a:pathLst>
              <a:path h="9327211" w="8202286">
                <a:moveTo>
                  <a:pt x="0" y="0"/>
                </a:moveTo>
                <a:lnTo>
                  <a:pt x="8202286" y="0"/>
                </a:lnTo>
                <a:lnTo>
                  <a:pt x="8202286" y="9327211"/>
                </a:lnTo>
                <a:lnTo>
                  <a:pt x="0" y="93272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2127101" y="6110686"/>
            <a:ext cx="6769142" cy="2482870"/>
            <a:chOff x="0" y="0"/>
            <a:chExt cx="1782819" cy="65392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82819" cy="653925"/>
            </a:xfrm>
            <a:custGeom>
              <a:avLst/>
              <a:gdLst/>
              <a:ahLst/>
              <a:cxnLst/>
              <a:rect r="r" b="b" t="t" l="l"/>
              <a:pathLst>
                <a:path h="653925" w="1782819">
                  <a:moveTo>
                    <a:pt x="27449" y="0"/>
                  </a:moveTo>
                  <a:lnTo>
                    <a:pt x="1755370" y="0"/>
                  </a:lnTo>
                  <a:cubicBezTo>
                    <a:pt x="1762650" y="0"/>
                    <a:pt x="1769632" y="2892"/>
                    <a:pt x="1774780" y="8040"/>
                  </a:cubicBezTo>
                  <a:cubicBezTo>
                    <a:pt x="1779927" y="13187"/>
                    <a:pt x="1782819" y="20169"/>
                    <a:pt x="1782819" y="27449"/>
                  </a:cubicBezTo>
                  <a:lnTo>
                    <a:pt x="1782819" y="626476"/>
                  </a:lnTo>
                  <a:cubicBezTo>
                    <a:pt x="1782819" y="633756"/>
                    <a:pt x="1779927" y="640737"/>
                    <a:pt x="1774780" y="645885"/>
                  </a:cubicBezTo>
                  <a:cubicBezTo>
                    <a:pt x="1769632" y="651033"/>
                    <a:pt x="1762650" y="653925"/>
                    <a:pt x="1755370" y="653925"/>
                  </a:cubicBezTo>
                  <a:lnTo>
                    <a:pt x="27449" y="653925"/>
                  </a:lnTo>
                  <a:cubicBezTo>
                    <a:pt x="20169" y="653925"/>
                    <a:pt x="13187" y="651033"/>
                    <a:pt x="8040" y="645885"/>
                  </a:cubicBezTo>
                  <a:cubicBezTo>
                    <a:pt x="2892" y="640737"/>
                    <a:pt x="0" y="633756"/>
                    <a:pt x="0" y="626476"/>
                  </a:cubicBezTo>
                  <a:lnTo>
                    <a:pt x="0" y="27449"/>
                  </a:lnTo>
                  <a:cubicBezTo>
                    <a:pt x="0" y="20169"/>
                    <a:pt x="2892" y="13187"/>
                    <a:pt x="8040" y="8040"/>
                  </a:cubicBezTo>
                  <a:cubicBezTo>
                    <a:pt x="13187" y="2892"/>
                    <a:pt x="20169" y="0"/>
                    <a:pt x="2744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EA4">
                    <a:alpha val="100000"/>
                  </a:srgbClr>
                </a:gs>
                <a:gs pos="100000">
                  <a:srgbClr val="9ECED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782819" cy="711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391757" y="6109318"/>
            <a:ext cx="6769142" cy="2482870"/>
            <a:chOff x="0" y="0"/>
            <a:chExt cx="1782819" cy="65392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82819" cy="653925"/>
            </a:xfrm>
            <a:custGeom>
              <a:avLst/>
              <a:gdLst/>
              <a:ahLst/>
              <a:cxnLst/>
              <a:rect r="r" b="b" t="t" l="l"/>
              <a:pathLst>
                <a:path h="653925" w="1782819">
                  <a:moveTo>
                    <a:pt x="27449" y="0"/>
                  </a:moveTo>
                  <a:lnTo>
                    <a:pt x="1755370" y="0"/>
                  </a:lnTo>
                  <a:cubicBezTo>
                    <a:pt x="1762650" y="0"/>
                    <a:pt x="1769632" y="2892"/>
                    <a:pt x="1774780" y="8040"/>
                  </a:cubicBezTo>
                  <a:cubicBezTo>
                    <a:pt x="1779927" y="13187"/>
                    <a:pt x="1782819" y="20169"/>
                    <a:pt x="1782819" y="27449"/>
                  </a:cubicBezTo>
                  <a:lnTo>
                    <a:pt x="1782819" y="626476"/>
                  </a:lnTo>
                  <a:cubicBezTo>
                    <a:pt x="1782819" y="633756"/>
                    <a:pt x="1779927" y="640737"/>
                    <a:pt x="1774780" y="645885"/>
                  </a:cubicBezTo>
                  <a:cubicBezTo>
                    <a:pt x="1769632" y="651033"/>
                    <a:pt x="1762650" y="653925"/>
                    <a:pt x="1755370" y="653925"/>
                  </a:cubicBezTo>
                  <a:lnTo>
                    <a:pt x="27449" y="653925"/>
                  </a:lnTo>
                  <a:cubicBezTo>
                    <a:pt x="20169" y="653925"/>
                    <a:pt x="13187" y="651033"/>
                    <a:pt x="8040" y="645885"/>
                  </a:cubicBezTo>
                  <a:cubicBezTo>
                    <a:pt x="2892" y="640737"/>
                    <a:pt x="0" y="633756"/>
                    <a:pt x="0" y="626476"/>
                  </a:cubicBezTo>
                  <a:lnTo>
                    <a:pt x="0" y="27449"/>
                  </a:lnTo>
                  <a:cubicBezTo>
                    <a:pt x="0" y="20169"/>
                    <a:pt x="2892" y="13187"/>
                    <a:pt x="8040" y="8040"/>
                  </a:cubicBezTo>
                  <a:cubicBezTo>
                    <a:pt x="13187" y="2892"/>
                    <a:pt x="20169" y="0"/>
                    <a:pt x="2744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EA4">
                    <a:alpha val="100000"/>
                  </a:srgbClr>
                </a:gs>
                <a:gs pos="100000">
                  <a:srgbClr val="9ECED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782819" cy="711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466329" y="3434599"/>
            <a:ext cx="6090687" cy="663046"/>
            <a:chOff x="0" y="0"/>
            <a:chExt cx="1604132" cy="17462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04132" cy="174629"/>
            </a:xfrm>
            <a:custGeom>
              <a:avLst/>
              <a:gdLst/>
              <a:ahLst/>
              <a:cxnLst/>
              <a:rect r="r" b="b" t="t" l="l"/>
              <a:pathLst>
                <a:path h="174629" w="1604132">
                  <a:moveTo>
                    <a:pt x="24151" y="0"/>
                  </a:moveTo>
                  <a:lnTo>
                    <a:pt x="1579980" y="0"/>
                  </a:lnTo>
                  <a:cubicBezTo>
                    <a:pt x="1593319" y="0"/>
                    <a:pt x="1604132" y="10813"/>
                    <a:pt x="1604132" y="24151"/>
                  </a:cubicBezTo>
                  <a:lnTo>
                    <a:pt x="1604132" y="150478"/>
                  </a:lnTo>
                  <a:cubicBezTo>
                    <a:pt x="1604132" y="163817"/>
                    <a:pt x="1593319" y="174629"/>
                    <a:pt x="1579980" y="174629"/>
                  </a:cubicBezTo>
                  <a:lnTo>
                    <a:pt x="24151" y="174629"/>
                  </a:lnTo>
                  <a:cubicBezTo>
                    <a:pt x="10813" y="174629"/>
                    <a:pt x="0" y="163817"/>
                    <a:pt x="0" y="150478"/>
                  </a:cubicBezTo>
                  <a:lnTo>
                    <a:pt x="0" y="24151"/>
                  </a:lnTo>
                  <a:cubicBezTo>
                    <a:pt x="0" y="10813"/>
                    <a:pt x="10813" y="0"/>
                    <a:pt x="2415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604132" cy="231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730984" y="3433230"/>
            <a:ext cx="6090687" cy="663046"/>
            <a:chOff x="0" y="0"/>
            <a:chExt cx="1604132" cy="17462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04132" cy="174629"/>
            </a:xfrm>
            <a:custGeom>
              <a:avLst/>
              <a:gdLst/>
              <a:ahLst/>
              <a:cxnLst/>
              <a:rect r="r" b="b" t="t" l="l"/>
              <a:pathLst>
                <a:path h="174629" w="1604132">
                  <a:moveTo>
                    <a:pt x="24151" y="0"/>
                  </a:moveTo>
                  <a:lnTo>
                    <a:pt x="1579980" y="0"/>
                  </a:lnTo>
                  <a:cubicBezTo>
                    <a:pt x="1593319" y="0"/>
                    <a:pt x="1604132" y="10813"/>
                    <a:pt x="1604132" y="24151"/>
                  </a:cubicBezTo>
                  <a:lnTo>
                    <a:pt x="1604132" y="150478"/>
                  </a:lnTo>
                  <a:cubicBezTo>
                    <a:pt x="1604132" y="163817"/>
                    <a:pt x="1593319" y="174629"/>
                    <a:pt x="1579980" y="174629"/>
                  </a:cubicBezTo>
                  <a:lnTo>
                    <a:pt x="24151" y="174629"/>
                  </a:lnTo>
                  <a:cubicBezTo>
                    <a:pt x="10813" y="174629"/>
                    <a:pt x="0" y="163817"/>
                    <a:pt x="0" y="150478"/>
                  </a:cubicBezTo>
                  <a:lnTo>
                    <a:pt x="0" y="24151"/>
                  </a:lnTo>
                  <a:cubicBezTo>
                    <a:pt x="0" y="10813"/>
                    <a:pt x="10813" y="0"/>
                    <a:pt x="2415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604132" cy="231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466329" y="6372051"/>
            <a:ext cx="6090687" cy="663046"/>
            <a:chOff x="0" y="0"/>
            <a:chExt cx="1604132" cy="17462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604132" cy="174629"/>
            </a:xfrm>
            <a:custGeom>
              <a:avLst/>
              <a:gdLst/>
              <a:ahLst/>
              <a:cxnLst/>
              <a:rect r="r" b="b" t="t" l="l"/>
              <a:pathLst>
                <a:path h="174629" w="1604132">
                  <a:moveTo>
                    <a:pt x="24151" y="0"/>
                  </a:moveTo>
                  <a:lnTo>
                    <a:pt x="1579980" y="0"/>
                  </a:lnTo>
                  <a:cubicBezTo>
                    <a:pt x="1593319" y="0"/>
                    <a:pt x="1604132" y="10813"/>
                    <a:pt x="1604132" y="24151"/>
                  </a:cubicBezTo>
                  <a:lnTo>
                    <a:pt x="1604132" y="150478"/>
                  </a:lnTo>
                  <a:cubicBezTo>
                    <a:pt x="1604132" y="163817"/>
                    <a:pt x="1593319" y="174629"/>
                    <a:pt x="1579980" y="174629"/>
                  </a:cubicBezTo>
                  <a:lnTo>
                    <a:pt x="24151" y="174629"/>
                  </a:lnTo>
                  <a:cubicBezTo>
                    <a:pt x="10813" y="174629"/>
                    <a:pt x="0" y="163817"/>
                    <a:pt x="0" y="150478"/>
                  </a:cubicBezTo>
                  <a:lnTo>
                    <a:pt x="0" y="24151"/>
                  </a:lnTo>
                  <a:cubicBezTo>
                    <a:pt x="0" y="10813"/>
                    <a:pt x="10813" y="0"/>
                    <a:pt x="2415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1604132" cy="231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730984" y="6370683"/>
            <a:ext cx="6090687" cy="663046"/>
            <a:chOff x="0" y="0"/>
            <a:chExt cx="1604132" cy="17462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604132" cy="174629"/>
            </a:xfrm>
            <a:custGeom>
              <a:avLst/>
              <a:gdLst/>
              <a:ahLst/>
              <a:cxnLst/>
              <a:rect r="r" b="b" t="t" l="l"/>
              <a:pathLst>
                <a:path h="174629" w="1604132">
                  <a:moveTo>
                    <a:pt x="24151" y="0"/>
                  </a:moveTo>
                  <a:lnTo>
                    <a:pt x="1579980" y="0"/>
                  </a:lnTo>
                  <a:cubicBezTo>
                    <a:pt x="1593319" y="0"/>
                    <a:pt x="1604132" y="10813"/>
                    <a:pt x="1604132" y="24151"/>
                  </a:cubicBezTo>
                  <a:lnTo>
                    <a:pt x="1604132" y="150478"/>
                  </a:lnTo>
                  <a:cubicBezTo>
                    <a:pt x="1604132" y="163817"/>
                    <a:pt x="1593319" y="174629"/>
                    <a:pt x="1579980" y="174629"/>
                  </a:cubicBezTo>
                  <a:lnTo>
                    <a:pt x="24151" y="174629"/>
                  </a:lnTo>
                  <a:cubicBezTo>
                    <a:pt x="10813" y="174629"/>
                    <a:pt x="0" y="163817"/>
                    <a:pt x="0" y="150478"/>
                  </a:cubicBezTo>
                  <a:lnTo>
                    <a:pt x="0" y="24151"/>
                  </a:lnTo>
                  <a:cubicBezTo>
                    <a:pt x="0" y="10813"/>
                    <a:pt x="10813" y="0"/>
                    <a:pt x="2415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1604132" cy="231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2708295" y="4274783"/>
            <a:ext cx="4908481" cy="954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7"/>
              </a:lnSpc>
            </a:pPr>
            <a:r>
              <a:rPr lang="en-US" sz="1631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</a:t>
            </a:r>
            <a:r>
              <a:rPr lang="en-US" sz="1631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 system automatically detects elephants through camera and audio data using machine learning,.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972951" y="4273415"/>
            <a:ext cx="4908481" cy="954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7"/>
              </a:lnSpc>
            </a:pPr>
            <a:r>
              <a:rPr lang="en-US" sz="1631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The system sends immediate notifications to nearby communities, allowing proactive measures to avoid human-elephant conflicts.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708295" y="7212236"/>
            <a:ext cx="4908481" cy="954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7"/>
              </a:lnSpc>
            </a:pPr>
            <a:r>
              <a:rPr lang="en-US" sz="1631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The system operates on green energy, ensuring sustainable power without the need for direct electricity connections.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972951" y="7210868"/>
            <a:ext cx="4908481" cy="954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7"/>
              </a:lnSpc>
            </a:pPr>
            <a:r>
              <a:rPr lang="en-US" sz="1631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The system is designed for easy setup and low-maintenance operation, perfect for remote and off-grid locations.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708295" y="3565353"/>
            <a:ext cx="5905870" cy="372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8"/>
              </a:lnSpc>
            </a:pPr>
            <a:r>
              <a:rPr lang="en-US" b="true" sz="2149">
                <a:solidFill>
                  <a:srgbClr val="60BC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Autom</a:t>
            </a:r>
            <a:r>
              <a:rPr lang="en-US" b="true" sz="2149">
                <a:solidFill>
                  <a:srgbClr val="60BC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ated Elephant Detection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972951" y="3563985"/>
            <a:ext cx="5905870" cy="372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8"/>
              </a:lnSpc>
            </a:pPr>
            <a:r>
              <a:rPr lang="en-US" b="true" sz="2149">
                <a:solidFill>
                  <a:srgbClr val="60BC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Real-time Warnings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708295" y="6501438"/>
            <a:ext cx="5905870" cy="372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8"/>
              </a:lnSpc>
            </a:pPr>
            <a:r>
              <a:rPr lang="en-US" b="true" sz="2149">
                <a:solidFill>
                  <a:srgbClr val="60BC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Sustainable Operation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972951" y="6501438"/>
            <a:ext cx="5905870" cy="372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8"/>
              </a:lnSpc>
            </a:pPr>
            <a:r>
              <a:rPr lang="en-US" b="true" sz="2149">
                <a:solidFill>
                  <a:srgbClr val="60BC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Easy Deployment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804176" y="1178668"/>
            <a:ext cx="10959652" cy="666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5"/>
              </a:lnSpc>
            </a:pPr>
            <a:r>
              <a:rPr lang="en-US" b="true" sz="388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Objectives: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804176" y="1880382"/>
            <a:ext cx="10959652" cy="666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5"/>
              </a:lnSpc>
            </a:pPr>
            <a:r>
              <a:rPr lang="en-US" b="true" sz="3882">
                <a:solidFill>
                  <a:srgbClr val="60BC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Aiming for a Sustainable Solution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13348068" y="-4607409"/>
            <a:ext cx="8202286" cy="9327211"/>
          </a:xfrm>
          <a:custGeom>
            <a:avLst/>
            <a:gdLst/>
            <a:ahLst/>
            <a:cxnLst/>
            <a:rect r="r" b="b" t="t" l="l"/>
            <a:pathLst>
              <a:path h="9327211" w="8202286">
                <a:moveTo>
                  <a:pt x="0" y="0"/>
                </a:moveTo>
                <a:lnTo>
                  <a:pt x="8202285" y="0"/>
                </a:lnTo>
                <a:lnTo>
                  <a:pt x="8202285" y="9327212"/>
                </a:lnTo>
                <a:lnTo>
                  <a:pt x="0" y="9327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cover dir="d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158157" y="4929562"/>
            <a:ext cx="8202286" cy="9327211"/>
          </a:xfrm>
          <a:custGeom>
            <a:avLst/>
            <a:gdLst/>
            <a:ahLst/>
            <a:cxnLst/>
            <a:rect r="r" b="b" t="t" l="l"/>
            <a:pathLst>
              <a:path h="9327211" w="8202286">
                <a:moveTo>
                  <a:pt x="0" y="0"/>
                </a:moveTo>
                <a:lnTo>
                  <a:pt x="8202286" y="0"/>
                </a:lnTo>
                <a:lnTo>
                  <a:pt x="8202286" y="9327211"/>
                </a:lnTo>
                <a:lnTo>
                  <a:pt x="0" y="93272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174461" y="2637863"/>
            <a:ext cx="9282198" cy="883123"/>
            <a:chOff x="0" y="0"/>
            <a:chExt cx="2444694" cy="2325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4694" cy="232592"/>
            </a:xfrm>
            <a:custGeom>
              <a:avLst/>
              <a:gdLst/>
              <a:ahLst/>
              <a:cxnLst/>
              <a:rect r="r" b="b" t="t" l="l"/>
              <a:pathLst>
                <a:path h="232592" w="2444694">
                  <a:moveTo>
                    <a:pt x="20017" y="0"/>
                  </a:moveTo>
                  <a:lnTo>
                    <a:pt x="2424677" y="0"/>
                  </a:lnTo>
                  <a:cubicBezTo>
                    <a:pt x="2435732" y="0"/>
                    <a:pt x="2444694" y="8962"/>
                    <a:pt x="2444694" y="20017"/>
                  </a:cubicBezTo>
                  <a:lnTo>
                    <a:pt x="2444694" y="212575"/>
                  </a:lnTo>
                  <a:cubicBezTo>
                    <a:pt x="2444694" y="223630"/>
                    <a:pt x="2435732" y="232592"/>
                    <a:pt x="2424677" y="232592"/>
                  </a:cubicBezTo>
                  <a:lnTo>
                    <a:pt x="20017" y="232592"/>
                  </a:lnTo>
                  <a:cubicBezTo>
                    <a:pt x="8962" y="232592"/>
                    <a:pt x="0" y="223630"/>
                    <a:pt x="0" y="212575"/>
                  </a:cubicBezTo>
                  <a:lnTo>
                    <a:pt x="0" y="20017"/>
                  </a:lnTo>
                  <a:cubicBezTo>
                    <a:pt x="0" y="8962"/>
                    <a:pt x="8962" y="0"/>
                    <a:pt x="2001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EA4">
                    <a:alpha val="100000"/>
                  </a:srgbClr>
                </a:gs>
                <a:gs pos="100000">
                  <a:srgbClr val="9ECED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2444694" cy="2897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652637" y="2742669"/>
            <a:ext cx="5541163" cy="622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6"/>
              </a:lnSpc>
            </a:pPr>
            <a:r>
              <a:rPr lang="en-US" sz="159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Combines visual and bioacoustic sensors for reliable elephant detection.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41148" y="2871793"/>
            <a:ext cx="4474411" cy="374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8"/>
              </a:lnSpc>
            </a:pPr>
            <a:r>
              <a:rPr lang="en-US" b="true" sz="214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Dual Mode Detection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232644" y="1105047"/>
            <a:ext cx="10959652" cy="666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5"/>
              </a:lnSpc>
            </a:pPr>
            <a:r>
              <a:rPr lang="en-US" b="true" sz="3882">
                <a:solidFill>
                  <a:srgbClr val="60BC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Elephant Detection Approach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3376946" y="-4615385"/>
            <a:ext cx="8202286" cy="9327211"/>
          </a:xfrm>
          <a:custGeom>
            <a:avLst/>
            <a:gdLst/>
            <a:ahLst/>
            <a:cxnLst/>
            <a:rect r="r" b="b" t="t" l="l"/>
            <a:pathLst>
              <a:path h="9327211" w="8202286">
                <a:moveTo>
                  <a:pt x="0" y="0"/>
                </a:moveTo>
                <a:lnTo>
                  <a:pt x="8202286" y="0"/>
                </a:lnTo>
                <a:lnTo>
                  <a:pt x="8202286" y="9327211"/>
                </a:lnTo>
                <a:lnTo>
                  <a:pt x="0" y="93272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14000">
            <a:off x="12411354" y="3007174"/>
            <a:ext cx="4651474" cy="6087034"/>
          </a:xfrm>
          <a:custGeom>
            <a:avLst/>
            <a:gdLst/>
            <a:ahLst/>
            <a:cxnLst/>
            <a:rect r="r" b="b" t="t" l="l"/>
            <a:pathLst>
              <a:path h="6087034" w="4651474">
                <a:moveTo>
                  <a:pt x="197025" y="0"/>
                </a:moveTo>
                <a:lnTo>
                  <a:pt x="4651474" y="147769"/>
                </a:lnTo>
                <a:lnTo>
                  <a:pt x="4454448" y="6087034"/>
                </a:lnTo>
                <a:lnTo>
                  <a:pt x="0" y="5939264"/>
                </a:lnTo>
                <a:lnTo>
                  <a:pt x="197025" y="0"/>
                </a:lnTo>
                <a:close/>
              </a:path>
            </a:pathLst>
          </a:custGeom>
          <a:blipFill>
            <a:blip r:embed="rId4"/>
            <a:stretch>
              <a:fillRect l="-37529" t="-28636" r="-20059" b="-31927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74461" y="3826852"/>
            <a:ext cx="9282198" cy="883123"/>
            <a:chOff x="0" y="0"/>
            <a:chExt cx="2444694" cy="23259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44694" cy="232592"/>
            </a:xfrm>
            <a:custGeom>
              <a:avLst/>
              <a:gdLst/>
              <a:ahLst/>
              <a:cxnLst/>
              <a:rect r="r" b="b" t="t" l="l"/>
              <a:pathLst>
                <a:path h="232592" w="2444694">
                  <a:moveTo>
                    <a:pt x="20017" y="0"/>
                  </a:moveTo>
                  <a:lnTo>
                    <a:pt x="2424677" y="0"/>
                  </a:lnTo>
                  <a:cubicBezTo>
                    <a:pt x="2435732" y="0"/>
                    <a:pt x="2444694" y="8962"/>
                    <a:pt x="2444694" y="20017"/>
                  </a:cubicBezTo>
                  <a:lnTo>
                    <a:pt x="2444694" y="212575"/>
                  </a:lnTo>
                  <a:cubicBezTo>
                    <a:pt x="2444694" y="223630"/>
                    <a:pt x="2435732" y="232592"/>
                    <a:pt x="2424677" y="232592"/>
                  </a:cubicBezTo>
                  <a:lnTo>
                    <a:pt x="20017" y="232592"/>
                  </a:lnTo>
                  <a:cubicBezTo>
                    <a:pt x="8962" y="232592"/>
                    <a:pt x="0" y="223630"/>
                    <a:pt x="0" y="212575"/>
                  </a:cubicBezTo>
                  <a:lnTo>
                    <a:pt x="0" y="20017"/>
                  </a:lnTo>
                  <a:cubicBezTo>
                    <a:pt x="0" y="8962"/>
                    <a:pt x="8962" y="0"/>
                    <a:pt x="2001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EA4">
                    <a:alpha val="100000"/>
                  </a:srgbClr>
                </a:gs>
                <a:gs pos="100000">
                  <a:srgbClr val="9ECED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2444694" cy="2897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174461" y="5016626"/>
            <a:ext cx="9282198" cy="883123"/>
            <a:chOff x="0" y="0"/>
            <a:chExt cx="2444694" cy="23259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44694" cy="232592"/>
            </a:xfrm>
            <a:custGeom>
              <a:avLst/>
              <a:gdLst/>
              <a:ahLst/>
              <a:cxnLst/>
              <a:rect r="r" b="b" t="t" l="l"/>
              <a:pathLst>
                <a:path h="232592" w="2444694">
                  <a:moveTo>
                    <a:pt x="20017" y="0"/>
                  </a:moveTo>
                  <a:lnTo>
                    <a:pt x="2424677" y="0"/>
                  </a:lnTo>
                  <a:cubicBezTo>
                    <a:pt x="2435732" y="0"/>
                    <a:pt x="2444694" y="8962"/>
                    <a:pt x="2444694" y="20017"/>
                  </a:cubicBezTo>
                  <a:lnTo>
                    <a:pt x="2444694" y="212575"/>
                  </a:lnTo>
                  <a:cubicBezTo>
                    <a:pt x="2444694" y="223630"/>
                    <a:pt x="2435732" y="232592"/>
                    <a:pt x="2424677" y="232592"/>
                  </a:cubicBezTo>
                  <a:lnTo>
                    <a:pt x="20017" y="232592"/>
                  </a:lnTo>
                  <a:cubicBezTo>
                    <a:pt x="8962" y="232592"/>
                    <a:pt x="0" y="223630"/>
                    <a:pt x="0" y="212575"/>
                  </a:cubicBezTo>
                  <a:lnTo>
                    <a:pt x="0" y="20017"/>
                  </a:lnTo>
                  <a:cubicBezTo>
                    <a:pt x="0" y="8962"/>
                    <a:pt x="8962" y="0"/>
                    <a:pt x="2001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EA4">
                    <a:alpha val="100000"/>
                  </a:srgbClr>
                </a:gs>
                <a:gs pos="100000">
                  <a:srgbClr val="9ECED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444694" cy="2897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174461" y="6204549"/>
            <a:ext cx="9282198" cy="883123"/>
            <a:chOff x="0" y="0"/>
            <a:chExt cx="2444694" cy="2325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444694" cy="232592"/>
            </a:xfrm>
            <a:custGeom>
              <a:avLst/>
              <a:gdLst/>
              <a:ahLst/>
              <a:cxnLst/>
              <a:rect r="r" b="b" t="t" l="l"/>
              <a:pathLst>
                <a:path h="232592" w="2444694">
                  <a:moveTo>
                    <a:pt x="20017" y="0"/>
                  </a:moveTo>
                  <a:lnTo>
                    <a:pt x="2424677" y="0"/>
                  </a:lnTo>
                  <a:cubicBezTo>
                    <a:pt x="2435732" y="0"/>
                    <a:pt x="2444694" y="8962"/>
                    <a:pt x="2444694" y="20017"/>
                  </a:cubicBezTo>
                  <a:lnTo>
                    <a:pt x="2444694" y="212575"/>
                  </a:lnTo>
                  <a:cubicBezTo>
                    <a:pt x="2444694" y="223630"/>
                    <a:pt x="2435732" y="232592"/>
                    <a:pt x="2424677" y="232592"/>
                  </a:cubicBezTo>
                  <a:lnTo>
                    <a:pt x="20017" y="232592"/>
                  </a:lnTo>
                  <a:cubicBezTo>
                    <a:pt x="8962" y="232592"/>
                    <a:pt x="0" y="223630"/>
                    <a:pt x="0" y="212575"/>
                  </a:cubicBezTo>
                  <a:lnTo>
                    <a:pt x="0" y="20017"/>
                  </a:lnTo>
                  <a:cubicBezTo>
                    <a:pt x="0" y="8962"/>
                    <a:pt x="8962" y="0"/>
                    <a:pt x="2001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EA4">
                    <a:alpha val="100000"/>
                  </a:srgbClr>
                </a:gs>
                <a:gs pos="100000">
                  <a:srgbClr val="9ECED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2444694" cy="2897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174461" y="7392472"/>
            <a:ext cx="9282198" cy="883123"/>
            <a:chOff x="0" y="0"/>
            <a:chExt cx="2444694" cy="2325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44694" cy="232592"/>
            </a:xfrm>
            <a:custGeom>
              <a:avLst/>
              <a:gdLst/>
              <a:ahLst/>
              <a:cxnLst/>
              <a:rect r="r" b="b" t="t" l="l"/>
              <a:pathLst>
                <a:path h="232592" w="2444694">
                  <a:moveTo>
                    <a:pt x="20017" y="0"/>
                  </a:moveTo>
                  <a:lnTo>
                    <a:pt x="2424677" y="0"/>
                  </a:lnTo>
                  <a:cubicBezTo>
                    <a:pt x="2435732" y="0"/>
                    <a:pt x="2444694" y="8962"/>
                    <a:pt x="2444694" y="20017"/>
                  </a:cubicBezTo>
                  <a:lnTo>
                    <a:pt x="2444694" y="212575"/>
                  </a:lnTo>
                  <a:cubicBezTo>
                    <a:pt x="2444694" y="223630"/>
                    <a:pt x="2435732" y="232592"/>
                    <a:pt x="2424677" y="232592"/>
                  </a:cubicBezTo>
                  <a:lnTo>
                    <a:pt x="20017" y="232592"/>
                  </a:lnTo>
                  <a:cubicBezTo>
                    <a:pt x="8962" y="232592"/>
                    <a:pt x="0" y="223630"/>
                    <a:pt x="0" y="212575"/>
                  </a:cubicBezTo>
                  <a:lnTo>
                    <a:pt x="0" y="20017"/>
                  </a:lnTo>
                  <a:cubicBezTo>
                    <a:pt x="0" y="8962"/>
                    <a:pt x="8962" y="0"/>
                    <a:pt x="2001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EA4">
                    <a:alpha val="100000"/>
                  </a:srgbClr>
                </a:gs>
                <a:gs pos="100000">
                  <a:srgbClr val="9ECED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2444694" cy="2897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3647502" y="934267"/>
            <a:ext cx="1089589" cy="1094532"/>
          </a:xfrm>
          <a:custGeom>
            <a:avLst/>
            <a:gdLst/>
            <a:ahLst/>
            <a:cxnLst/>
            <a:rect r="r" b="b" t="t" l="l"/>
            <a:pathLst>
              <a:path h="1094532" w="1089589">
                <a:moveTo>
                  <a:pt x="0" y="0"/>
                </a:moveTo>
                <a:lnTo>
                  <a:pt x="1089589" y="0"/>
                </a:lnTo>
                <a:lnTo>
                  <a:pt x="1089589" y="1094532"/>
                </a:lnTo>
                <a:lnTo>
                  <a:pt x="0" y="10945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2174461" y="8580395"/>
            <a:ext cx="9282198" cy="883123"/>
            <a:chOff x="0" y="0"/>
            <a:chExt cx="2444694" cy="23259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444694" cy="232592"/>
            </a:xfrm>
            <a:custGeom>
              <a:avLst/>
              <a:gdLst/>
              <a:ahLst/>
              <a:cxnLst/>
              <a:rect r="r" b="b" t="t" l="l"/>
              <a:pathLst>
                <a:path h="232592" w="2444694">
                  <a:moveTo>
                    <a:pt x="20017" y="0"/>
                  </a:moveTo>
                  <a:lnTo>
                    <a:pt x="2424677" y="0"/>
                  </a:lnTo>
                  <a:cubicBezTo>
                    <a:pt x="2435732" y="0"/>
                    <a:pt x="2444694" y="8962"/>
                    <a:pt x="2444694" y="20017"/>
                  </a:cubicBezTo>
                  <a:lnTo>
                    <a:pt x="2444694" y="212575"/>
                  </a:lnTo>
                  <a:cubicBezTo>
                    <a:pt x="2444694" y="223630"/>
                    <a:pt x="2435732" y="232592"/>
                    <a:pt x="2424677" y="232592"/>
                  </a:cubicBezTo>
                  <a:lnTo>
                    <a:pt x="20017" y="232592"/>
                  </a:lnTo>
                  <a:cubicBezTo>
                    <a:pt x="8962" y="232592"/>
                    <a:pt x="0" y="223630"/>
                    <a:pt x="0" y="212575"/>
                  </a:cubicBezTo>
                  <a:lnTo>
                    <a:pt x="0" y="20017"/>
                  </a:lnTo>
                  <a:cubicBezTo>
                    <a:pt x="0" y="8962"/>
                    <a:pt x="8962" y="0"/>
                    <a:pt x="2001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EA4">
                    <a:alpha val="100000"/>
                  </a:srgbClr>
                </a:gs>
                <a:gs pos="100000">
                  <a:srgbClr val="9ECED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2444694" cy="2897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5200955" y="745557"/>
            <a:ext cx="449923" cy="1471952"/>
          </a:xfrm>
          <a:custGeom>
            <a:avLst/>
            <a:gdLst/>
            <a:ahLst/>
            <a:cxnLst/>
            <a:rect r="r" b="b" t="t" l="l"/>
            <a:pathLst>
              <a:path h="1471952" w="449923">
                <a:moveTo>
                  <a:pt x="0" y="0"/>
                </a:moveTo>
                <a:lnTo>
                  <a:pt x="449923" y="0"/>
                </a:lnTo>
                <a:lnTo>
                  <a:pt x="449923" y="1471952"/>
                </a:lnTo>
                <a:lnTo>
                  <a:pt x="0" y="14719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5952203" y="524463"/>
            <a:ext cx="2026675" cy="1914139"/>
          </a:xfrm>
          <a:custGeom>
            <a:avLst/>
            <a:gdLst/>
            <a:ahLst/>
            <a:cxnLst/>
            <a:rect r="r" b="b" t="t" l="l"/>
            <a:pathLst>
              <a:path h="1914139" w="2026675">
                <a:moveTo>
                  <a:pt x="0" y="0"/>
                </a:moveTo>
                <a:lnTo>
                  <a:pt x="2026674" y="0"/>
                </a:lnTo>
                <a:lnTo>
                  <a:pt x="2026674" y="1914139"/>
                </a:lnTo>
                <a:lnTo>
                  <a:pt x="0" y="19141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5652637" y="3928460"/>
            <a:ext cx="5541163" cy="622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6"/>
              </a:lnSpc>
            </a:pPr>
            <a:r>
              <a:rPr lang="en-US" sz="15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Solar-powered in remote areas, no external electricity required.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341148" y="4057584"/>
            <a:ext cx="4474411" cy="374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8"/>
              </a:lnSpc>
            </a:pPr>
            <a:r>
              <a:rPr lang="en-US" b="true" sz="214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OFF-Grid Operation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652637" y="5117309"/>
            <a:ext cx="5541163" cy="622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6"/>
              </a:lnSpc>
            </a:pPr>
            <a:r>
              <a:rPr lang="en-US" sz="159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Machine learning runs locally on the device, without the need for cloud connectivity..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652637" y="6306157"/>
            <a:ext cx="5541163" cy="622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6"/>
              </a:lnSpc>
            </a:pPr>
            <a:r>
              <a:rPr lang="en-US" sz="159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Instant data transmission via API for live monitoring and alerts.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652637" y="7494080"/>
            <a:ext cx="5541163" cy="622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6"/>
              </a:lnSpc>
            </a:pPr>
            <a:r>
              <a:rPr lang="en-US" sz="159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Easy installation and operation, designed for user-friendly interaction without technical complexity.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341148" y="5247358"/>
            <a:ext cx="4474411" cy="374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8"/>
              </a:lnSpc>
            </a:pPr>
            <a:r>
              <a:rPr lang="en-US" b="true" sz="214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Edge Processing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341148" y="6435281"/>
            <a:ext cx="4474411" cy="374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8"/>
              </a:lnSpc>
            </a:pPr>
            <a:r>
              <a:rPr lang="en-US" b="true" sz="214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Real-Time API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341148" y="7623204"/>
            <a:ext cx="4474411" cy="374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8"/>
              </a:lnSpc>
            </a:pPr>
            <a:r>
              <a:rPr lang="en-US" b="true" sz="214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Plug and Play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66750" y="3755076"/>
            <a:ext cx="680323" cy="95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75"/>
              </a:lnSpc>
              <a:spcBef>
                <a:spcPct val="0"/>
              </a:spcBef>
            </a:pPr>
            <a:r>
              <a:rPr lang="en-US" sz="5625">
                <a:solidFill>
                  <a:srgbClr val="000000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🔋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26665" y="2646433"/>
            <a:ext cx="785115" cy="777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2"/>
              </a:lnSpc>
              <a:spcBef>
                <a:spcPct val="0"/>
              </a:spcBef>
            </a:pPr>
            <a:r>
              <a:rPr lang="en-US" sz="4502">
                <a:solidFill>
                  <a:srgbClr val="000000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🔍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15004" y="5016011"/>
            <a:ext cx="896775" cy="883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  <a:spcBef>
                <a:spcPct val="0"/>
              </a:spcBef>
            </a:pPr>
            <a:r>
              <a:rPr lang="en-US" sz="5143">
                <a:solidFill>
                  <a:srgbClr val="000000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🧠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77748" y="6109299"/>
            <a:ext cx="858328" cy="880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60"/>
              </a:lnSpc>
              <a:spcBef>
                <a:spcPct val="0"/>
              </a:spcBef>
            </a:pPr>
            <a:r>
              <a:rPr lang="en-US" sz="5185">
                <a:solidFill>
                  <a:srgbClr val="000000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☁️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77748" y="7332903"/>
            <a:ext cx="834032" cy="819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95"/>
              </a:lnSpc>
              <a:spcBef>
                <a:spcPct val="0"/>
              </a:spcBef>
            </a:pPr>
            <a:r>
              <a:rPr lang="en-US" sz="4782">
                <a:solidFill>
                  <a:srgbClr val="000000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⚙️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652637" y="8682003"/>
            <a:ext cx="5541163" cy="622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6"/>
              </a:lnSpc>
            </a:pPr>
            <a:r>
              <a:rPr lang="en-US" sz="159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Designed for durability, able to function in tough environments with varying climates.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341148" y="8811127"/>
            <a:ext cx="4474411" cy="374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8"/>
              </a:lnSpc>
            </a:pPr>
            <a:r>
              <a:rPr lang="en-US" b="true" sz="214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Weather Resistance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28700" y="8447793"/>
            <a:ext cx="975949" cy="1007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55"/>
              </a:lnSpc>
              <a:spcBef>
                <a:spcPct val="0"/>
              </a:spcBef>
            </a:pPr>
            <a:r>
              <a:rPr lang="en-US" sz="5896">
                <a:solidFill>
                  <a:srgbClr val="000000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🌧️</a:t>
            </a:r>
          </a:p>
        </p:txBody>
      </p:sp>
    </p:spTree>
  </p:cSld>
  <p:clrMapOvr>
    <a:masterClrMapping/>
  </p:clrMapOvr>
  <p:transition spd="slow">
    <p:cover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84002" y="1642692"/>
            <a:ext cx="6769142" cy="2482870"/>
            <a:chOff x="0" y="0"/>
            <a:chExt cx="1782819" cy="6539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82819" cy="653925"/>
            </a:xfrm>
            <a:custGeom>
              <a:avLst/>
              <a:gdLst/>
              <a:ahLst/>
              <a:cxnLst/>
              <a:rect r="r" b="b" t="t" l="l"/>
              <a:pathLst>
                <a:path h="653925" w="1782819">
                  <a:moveTo>
                    <a:pt x="27449" y="0"/>
                  </a:moveTo>
                  <a:lnTo>
                    <a:pt x="1755370" y="0"/>
                  </a:lnTo>
                  <a:cubicBezTo>
                    <a:pt x="1762650" y="0"/>
                    <a:pt x="1769632" y="2892"/>
                    <a:pt x="1774780" y="8040"/>
                  </a:cubicBezTo>
                  <a:cubicBezTo>
                    <a:pt x="1779927" y="13187"/>
                    <a:pt x="1782819" y="20169"/>
                    <a:pt x="1782819" y="27449"/>
                  </a:cubicBezTo>
                  <a:lnTo>
                    <a:pt x="1782819" y="626476"/>
                  </a:lnTo>
                  <a:cubicBezTo>
                    <a:pt x="1782819" y="633756"/>
                    <a:pt x="1779927" y="640737"/>
                    <a:pt x="1774780" y="645885"/>
                  </a:cubicBezTo>
                  <a:cubicBezTo>
                    <a:pt x="1769632" y="651033"/>
                    <a:pt x="1762650" y="653925"/>
                    <a:pt x="1755370" y="653925"/>
                  </a:cubicBezTo>
                  <a:lnTo>
                    <a:pt x="27449" y="653925"/>
                  </a:lnTo>
                  <a:cubicBezTo>
                    <a:pt x="20169" y="653925"/>
                    <a:pt x="13187" y="651033"/>
                    <a:pt x="8040" y="645885"/>
                  </a:cubicBezTo>
                  <a:cubicBezTo>
                    <a:pt x="2892" y="640737"/>
                    <a:pt x="0" y="633756"/>
                    <a:pt x="0" y="626476"/>
                  </a:cubicBezTo>
                  <a:lnTo>
                    <a:pt x="0" y="27449"/>
                  </a:lnTo>
                  <a:cubicBezTo>
                    <a:pt x="0" y="20169"/>
                    <a:pt x="2892" y="13187"/>
                    <a:pt x="8040" y="8040"/>
                  </a:cubicBezTo>
                  <a:cubicBezTo>
                    <a:pt x="13187" y="2892"/>
                    <a:pt x="20169" y="0"/>
                    <a:pt x="2744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EA4">
                    <a:alpha val="100000"/>
                  </a:srgbClr>
                </a:gs>
                <a:gs pos="100000">
                  <a:srgbClr val="9ECED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782819" cy="711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84002" y="4409327"/>
            <a:ext cx="6769142" cy="2482870"/>
            <a:chOff x="0" y="0"/>
            <a:chExt cx="1782819" cy="6539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82819" cy="653925"/>
            </a:xfrm>
            <a:custGeom>
              <a:avLst/>
              <a:gdLst/>
              <a:ahLst/>
              <a:cxnLst/>
              <a:rect r="r" b="b" t="t" l="l"/>
              <a:pathLst>
                <a:path h="653925" w="1782819">
                  <a:moveTo>
                    <a:pt x="27449" y="0"/>
                  </a:moveTo>
                  <a:lnTo>
                    <a:pt x="1755370" y="0"/>
                  </a:lnTo>
                  <a:cubicBezTo>
                    <a:pt x="1762650" y="0"/>
                    <a:pt x="1769632" y="2892"/>
                    <a:pt x="1774780" y="8040"/>
                  </a:cubicBezTo>
                  <a:cubicBezTo>
                    <a:pt x="1779927" y="13187"/>
                    <a:pt x="1782819" y="20169"/>
                    <a:pt x="1782819" y="27449"/>
                  </a:cubicBezTo>
                  <a:lnTo>
                    <a:pt x="1782819" y="626476"/>
                  </a:lnTo>
                  <a:cubicBezTo>
                    <a:pt x="1782819" y="633756"/>
                    <a:pt x="1779927" y="640737"/>
                    <a:pt x="1774780" y="645885"/>
                  </a:cubicBezTo>
                  <a:cubicBezTo>
                    <a:pt x="1769632" y="651033"/>
                    <a:pt x="1762650" y="653925"/>
                    <a:pt x="1755370" y="653925"/>
                  </a:cubicBezTo>
                  <a:lnTo>
                    <a:pt x="27449" y="653925"/>
                  </a:lnTo>
                  <a:cubicBezTo>
                    <a:pt x="20169" y="653925"/>
                    <a:pt x="13187" y="651033"/>
                    <a:pt x="8040" y="645885"/>
                  </a:cubicBezTo>
                  <a:cubicBezTo>
                    <a:pt x="2892" y="640737"/>
                    <a:pt x="0" y="633756"/>
                    <a:pt x="0" y="626476"/>
                  </a:cubicBezTo>
                  <a:lnTo>
                    <a:pt x="0" y="27449"/>
                  </a:lnTo>
                  <a:cubicBezTo>
                    <a:pt x="0" y="20169"/>
                    <a:pt x="2892" y="13187"/>
                    <a:pt x="8040" y="8040"/>
                  </a:cubicBezTo>
                  <a:cubicBezTo>
                    <a:pt x="13187" y="2892"/>
                    <a:pt x="20169" y="0"/>
                    <a:pt x="2744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EA4">
                    <a:alpha val="100000"/>
                  </a:srgbClr>
                </a:gs>
                <a:gs pos="100000">
                  <a:srgbClr val="9ECED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782819" cy="711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4398110" y="6600363"/>
            <a:ext cx="8202286" cy="9327211"/>
          </a:xfrm>
          <a:custGeom>
            <a:avLst/>
            <a:gdLst/>
            <a:ahLst/>
            <a:cxnLst/>
            <a:rect r="r" b="b" t="t" l="l"/>
            <a:pathLst>
              <a:path h="9327211" w="8202286">
                <a:moveTo>
                  <a:pt x="0" y="0"/>
                </a:moveTo>
                <a:lnTo>
                  <a:pt x="8202286" y="0"/>
                </a:lnTo>
                <a:lnTo>
                  <a:pt x="8202286" y="9327212"/>
                </a:lnTo>
                <a:lnTo>
                  <a:pt x="0" y="9327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9312577" y="7139847"/>
            <a:ext cx="6769142" cy="2482870"/>
            <a:chOff x="0" y="0"/>
            <a:chExt cx="1782819" cy="65392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82819" cy="653925"/>
            </a:xfrm>
            <a:custGeom>
              <a:avLst/>
              <a:gdLst/>
              <a:ahLst/>
              <a:cxnLst/>
              <a:rect r="r" b="b" t="t" l="l"/>
              <a:pathLst>
                <a:path h="653925" w="1782819">
                  <a:moveTo>
                    <a:pt x="27449" y="0"/>
                  </a:moveTo>
                  <a:lnTo>
                    <a:pt x="1755370" y="0"/>
                  </a:lnTo>
                  <a:cubicBezTo>
                    <a:pt x="1762650" y="0"/>
                    <a:pt x="1769632" y="2892"/>
                    <a:pt x="1774780" y="8040"/>
                  </a:cubicBezTo>
                  <a:cubicBezTo>
                    <a:pt x="1779927" y="13187"/>
                    <a:pt x="1782819" y="20169"/>
                    <a:pt x="1782819" y="27449"/>
                  </a:cubicBezTo>
                  <a:lnTo>
                    <a:pt x="1782819" y="626476"/>
                  </a:lnTo>
                  <a:cubicBezTo>
                    <a:pt x="1782819" y="633756"/>
                    <a:pt x="1779927" y="640737"/>
                    <a:pt x="1774780" y="645885"/>
                  </a:cubicBezTo>
                  <a:cubicBezTo>
                    <a:pt x="1769632" y="651033"/>
                    <a:pt x="1762650" y="653925"/>
                    <a:pt x="1755370" y="653925"/>
                  </a:cubicBezTo>
                  <a:lnTo>
                    <a:pt x="27449" y="653925"/>
                  </a:lnTo>
                  <a:cubicBezTo>
                    <a:pt x="20169" y="653925"/>
                    <a:pt x="13187" y="651033"/>
                    <a:pt x="8040" y="645885"/>
                  </a:cubicBezTo>
                  <a:cubicBezTo>
                    <a:pt x="2892" y="640737"/>
                    <a:pt x="0" y="633756"/>
                    <a:pt x="0" y="626476"/>
                  </a:cubicBezTo>
                  <a:lnTo>
                    <a:pt x="0" y="27449"/>
                  </a:lnTo>
                  <a:cubicBezTo>
                    <a:pt x="0" y="20169"/>
                    <a:pt x="2892" y="13187"/>
                    <a:pt x="8040" y="8040"/>
                  </a:cubicBezTo>
                  <a:cubicBezTo>
                    <a:pt x="13187" y="2892"/>
                    <a:pt x="20169" y="0"/>
                    <a:pt x="2744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EA4">
                    <a:alpha val="100000"/>
                  </a:srgbClr>
                </a:gs>
                <a:gs pos="100000">
                  <a:srgbClr val="9ECED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782819" cy="711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502246" y="1954787"/>
            <a:ext cx="6090687" cy="663046"/>
            <a:chOff x="0" y="0"/>
            <a:chExt cx="1604132" cy="1746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04132" cy="174629"/>
            </a:xfrm>
            <a:custGeom>
              <a:avLst/>
              <a:gdLst/>
              <a:ahLst/>
              <a:cxnLst/>
              <a:rect r="r" b="b" t="t" l="l"/>
              <a:pathLst>
                <a:path h="174629" w="1604132">
                  <a:moveTo>
                    <a:pt x="24151" y="0"/>
                  </a:moveTo>
                  <a:lnTo>
                    <a:pt x="1579980" y="0"/>
                  </a:lnTo>
                  <a:cubicBezTo>
                    <a:pt x="1593319" y="0"/>
                    <a:pt x="1604132" y="10813"/>
                    <a:pt x="1604132" y="24151"/>
                  </a:cubicBezTo>
                  <a:lnTo>
                    <a:pt x="1604132" y="150478"/>
                  </a:lnTo>
                  <a:cubicBezTo>
                    <a:pt x="1604132" y="163817"/>
                    <a:pt x="1593319" y="174629"/>
                    <a:pt x="1579980" y="174629"/>
                  </a:cubicBezTo>
                  <a:lnTo>
                    <a:pt x="24151" y="174629"/>
                  </a:lnTo>
                  <a:cubicBezTo>
                    <a:pt x="10813" y="174629"/>
                    <a:pt x="0" y="163817"/>
                    <a:pt x="0" y="150478"/>
                  </a:cubicBezTo>
                  <a:lnTo>
                    <a:pt x="0" y="24151"/>
                  </a:lnTo>
                  <a:cubicBezTo>
                    <a:pt x="0" y="10813"/>
                    <a:pt x="10813" y="0"/>
                    <a:pt x="2415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604132" cy="231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502246" y="4683977"/>
            <a:ext cx="6090687" cy="663046"/>
            <a:chOff x="0" y="0"/>
            <a:chExt cx="1604132" cy="17462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04132" cy="174629"/>
            </a:xfrm>
            <a:custGeom>
              <a:avLst/>
              <a:gdLst/>
              <a:ahLst/>
              <a:cxnLst/>
              <a:rect r="r" b="b" t="t" l="l"/>
              <a:pathLst>
                <a:path h="174629" w="1604132">
                  <a:moveTo>
                    <a:pt x="24151" y="0"/>
                  </a:moveTo>
                  <a:lnTo>
                    <a:pt x="1579980" y="0"/>
                  </a:lnTo>
                  <a:cubicBezTo>
                    <a:pt x="1593319" y="0"/>
                    <a:pt x="1604132" y="10813"/>
                    <a:pt x="1604132" y="24151"/>
                  </a:cubicBezTo>
                  <a:lnTo>
                    <a:pt x="1604132" y="150478"/>
                  </a:lnTo>
                  <a:cubicBezTo>
                    <a:pt x="1604132" y="163817"/>
                    <a:pt x="1593319" y="174629"/>
                    <a:pt x="1579980" y="174629"/>
                  </a:cubicBezTo>
                  <a:lnTo>
                    <a:pt x="24151" y="174629"/>
                  </a:lnTo>
                  <a:cubicBezTo>
                    <a:pt x="10813" y="174629"/>
                    <a:pt x="0" y="163817"/>
                    <a:pt x="0" y="150478"/>
                  </a:cubicBezTo>
                  <a:lnTo>
                    <a:pt x="0" y="24151"/>
                  </a:lnTo>
                  <a:cubicBezTo>
                    <a:pt x="0" y="10813"/>
                    <a:pt x="10813" y="0"/>
                    <a:pt x="2415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604132" cy="231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502246" y="7349397"/>
            <a:ext cx="6090687" cy="663046"/>
            <a:chOff x="0" y="0"/>
            <a:chExt cx="1604132" cy="17462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04132" cy="174629"/>
            </a:xfrm>
            <a:custGeom>
              <a:avLst/>
              <a:gdLst/>
              <a:ahLst/>
              <a:cxnLst/>
              <a:rect r="r" b="b" t="t" l="l"/>
              <a:pathLst>
                <a:path h="174629" w="1604132">
                  <a:moveTo>
                    <a:pt x="24151" y="0"/>
                  </a:moveTo>
                  <a:lnTo>
                    <a:pt x="1579980" y="0"/>
                  </a:lnTo>
                  <a:cubicBezTo>
                    <a:pt x="1593319" y="0"/>
                    <a:pt x="1604132" y="10813"/>
                    <a:pt x="1604132" y="24151"/>
                  </a:cubicBezTo>
                  <a:lnTo>
                    <a:pt x="1604132" y="150478"/>
                  </a:lnTo>
                  <a:cubicBezTo>
                    <a:pt x="1604132" y="163817"/>
                    <a:pt x="1593319" y="174629"/>
                    <a:pt x="1579980" y="174629"/>
                  </a:cubicBezTo>
                  <a:lnTo>
                    <a:pt x="24151" y="174629"/>
                  </a:lnTo>
                  <a:cubicBezTo>
                    <a:pt x="10813" y="174629"/>
                    <a:pt x="0" y="163817"/>
                    <a:pt x="0" y="150478"/>
                  </a:cubicBezTo>
                  <a:lnTo>
                    <a:pt x="0" y="24151"/>
                  </a:lnTo>
                  <a:cubicBezTo>
                    <a:pt x="0" y="10813"/>
                    <a:pt x="10813" y="0"/>
                    <a:pt x="2415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604132" cy="231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3804176" y="626548"/>
            <a:ext cx="10959652" cy="666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5"/>
              </a:lnSpc>
            </a:pPr>
            <a:r>
              <a:rPr lang="en-US" b="true" sz="388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A Path to Coexistence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3348068" y="-4607409"/>
            <a:ext cx="8202286" cy="9327211"/>
          </a:xfrm>
          <a:custGeom>
            <a:avLst/>
            <a:gdLst/>
            <a:ahLst/>
            <a:cxnLst/>
            <a:rect r="r" b="b" t="t" l="l"/>
            <a:pathLst>
              <a:path h="9327211" w="8202286">
                <a:moveTo>
                  <a:pt x="0" y="0"/>
                </a:moveTo>
                <a:lnTo>
                  <a:pt x="8202285" y="0"/>
                </a:lnTo>
                <a:lnTo>
                  <a:pt x="8202285" y="9327212"/>
                </a:lnTo>
                <a:lnTo>
                  <a:pt x="0" y="9327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400430" y="2458503"/>
            <a:ext cx="8743570" cy="5825403"/>
          </a:xfrm>
          <a:custGeom>
            <a:avLst/>
            <a:gdLst/>
            <a:ahLst/>
            <a:cxnLst/>
            <a:rect r="r" b="b" t="t" l="l"/>
            <a:pathLst>
              <a:path h="5825403" w="8743570">
                <a:moveTo>
                  <a:pt x="0" y="0"/>
                </a:moveTo>
                <a:lnTo>
                  <a:pt x="8743570" y="0"/>
                </a:lnTo>
                <a:lnTo>
                  <a:pt x="8743570" y="5825403"/>
                </a:lnTo>
                <a:lnTo>
                  <a:pt x="0" y="58254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9744213" y="2807927"/>
            <a:ext cx="4908481" cy="791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8"/>
              </a:lnSpc>
            </a:pPr>
            <a:r>
              <a:rPr lang="en-US" sz="2031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Warns communities before elephants get too close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744213" y="5514637"/>
            <a:ext cx="4908481" cy="791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8"/>
              </a:lnSpc>
            </a:pPr>
            <a:r>
              <a:rPr lang="en-US" sz="2031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Prevents injuries and protects property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744213" y="8180057"/>
            <a:ext cx="4908481" cy="791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8"/>
              </a:lnSpc>
            </a:pPr>
            <a:r>
              <a:rPr lang="en-US" sz="2031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Supports peaceful living near elephant habitats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744213" y="2085541"/>
            <a:ext cx="5905870" cy="372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8"/>
              </a:lnSpc>
            </a:pPr>
            <a:r>
              <a:rPr lang="en-US" b="true" sz="2149">
                <a:solidFill>
                  <a:srgbClr val="60BC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Early Detection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744213" y="4814732"/>
            <a:ext cx="5905870" cy="372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8"/>
              </a:lnSpc>
            </a:pPr>
            <a:r>
              <a:rPr lang="en-US" b="true" sz="2149">
                <a:solidFill>
                  <a:srgbClr val="60BC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Safety for All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744213" y="7480152"/>
            <a:ext cx="5905870" cy="372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8"/>
              </a:lnSpc>
            </a:pPr>
            <a:r>
              <a:rPr lang="en-US" b="true" sz="2149">
                <a:solidFill>
                  <a:srgbClr val="60BC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Empowered Communities</a:t>
            </a:r>
          </a:p>
        </p:txBody>
      </p:sp>
    </p:spTree>
  </p:cSld>
  <p:clrMapOvr>
    <a:masterClrMapping/>
  </p:clrMapOvr>
  <p:transition spd="fast">
    <p:cover dir="d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706387" y="6489031"/>
            <a:ext cx="8202286" cy="9327211"/>
          </a:xfrm>
          <a:custGeom>
            <a:avLst/>
            <a:gdLst/>
            <a:ahLst/>
            <a:cxnLst/>
            <a:rect r="r" b="b" t="t" l="l"/>
            <a:pathLst>
              <a:path h="9327211" w="8202286">
                <a:moveTo>
                  <a:pt x="0" y="0"/>
                </a:moveTo>
                <a:lnTo>
                  <a:pt x="8202286" y="0"/>
                </a:lnTo>
                <a:lnTo>
                  <a:pt x="8202286" y="9327211"/>
                </a:lnTo>
                <a:lnTo>
                  <a:pt x="0" y="93272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08295" y="4662653"/>
            <a:ext cx="4908481" cy="842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6"/>
              </a:lnSpc>
            </a:pPr>
            <a:r>
              <a:rPr lang="en-US" sz="1431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Deforestation, urbanization, and climate change are rapidly destroying natural habitats, putting many species at risk of extinction.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525244" y="4241237"/>
            <a:ext cx="11237512" cy="87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95"/>
              </a:lnSpc>
            </a:pPr>
            <a:r>
              <a:rPr lang="en-US" b="true" sz="521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Features of the System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3348068" y="-4607409"/>
            <a:ext cx="8202286" cy="9327211"/>
          </a:xfrm>
          <a:custGeom>
            <a:avLst/>
            <a:gdLst/>
            <a:ahLst/>
            <a:cxnLst/>
            <a:rect r="r" b="b" t="t" l="l"/>
            <a:pathLst>
              <a:path h="9327211" w="8202286">
                <a:moveTo>
                  <a:pt x="0" y="0"/>
                </a:moveTo>
                <a:lnTo>
                  <a:pt x="8202285" y="0"/>
                </a:lnTo>
                <a:lnTo>
                  <a:pt x="8202285" y="9327212"/>
                </a:lnTo>
                <a:lnTo>
                  <a:pt x="0" y="9327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cover dir="d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0404" y="2373165"/>
            <a:ext cx="8279368" cy="2346638"/>
            <a:chOff x="0" y="0"/>
            <a:chExt cx="2180574" cy="6180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0574" cy="618044"/>
            </a:xfrm>
            <a:custGeom>
              <a:avLst/>
              <a:gdLst/>
              <a:ahLst/>
              <a:cxnLst/>
              <a:rect r="r" b="b" t="t" l="l"/>
              <a:pathLst>
                <a:path h="618044" w="2180574">
                  <a:moveTo>
                    <a:pt x="22442" y="0"/>
                  </a:moveTo>
                  <a:lnTo>
                    <a:pt x="2158132" y="0"/>
                  </a:lnTo>
                  <a:cubicBezTo>
                    <a:pt x="2170527" y="0"/>
                    <a:pt x="2180574" y="10048"/>
                    <a:pt x="2180574" y="22442"/>
                  </a:cubicBezTo>
                  <a:lnTo>
                    <a:pt x="2180574" y="595602"/>
                  </a:lnTo>
                  <a:cubicBezTo>
                    <a:pt x="2180574" y="607997"/>
                    <a:pt x="2170527" y="618044"/>
                    <a:pt x="2158132" y="618044"/>
                  </a:cubicBezTo>
                  <a:lnTo>
                    <a:pt x="22442" y="618044"/>
                  </a:lnTo>
                  <a:cubicBezTo>
                    <a:pt x="10048" y="618044"/>
                    <a:pt x="0" y="607997"/>
                    <a:pt x="0" y="595602"/>
                  </a:cubicBezTo>
                  <a:lnTo>
                    <a:pt x="0" y="22442"/>
                  </a:lnTo>
                  <a:cubicBezTo>
                    <a:pt x="0" y="10048"/>
                    <a:pt x="10048" y="0"/>
                    <a:pt x="2244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EA4">
                    <a:alpha val="100000"/>
                  </a:srgbClr>
                </a:gs>
                <a:gs pos="100000">
                  <a:srgbClr val="9ECED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180574" cy="6751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26355" y="2372456"/>
            <a:ext cx="6811242" cy="3540575"/>
            <a:chOff x="0" y="0"/>
            <a:chExt cx="1793907" cy="93249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93907" cy="932497"/>
            </a:xfrm>
            <a:custGeom>
              <a:avLst/>
              <a:gdLst/>
              <a:ahLst/>
              <a:cxnLst/>
              <a:rect r="r" b="b" t="t" l="l"/>
              <a:pathLst>
                <a:path h="932497" w="1793907">
                  <a:moveTo>
                    <a:pt x="27279" y="0"/>
                  </a:moveTo>
                  <a:lnTo>
                    <a:pt x="1766628" y="0"/>
                  </a:lnTo>
                  <a:cubicBezTo>
                    <a:pt x="1781694" y="0"/>
                    <a:pt x="1793907" y="12213"/>
                    <a:pt x="1793907" y="27279"/>
                  </a:cubicBezTo>
                  <a:lnTo>
                    <a:pt x="1793907" y="905218"/>
                  </a:lnTo>
                  <a:cubicBezTo>
                    <a:pt x="1793907" y="920284"/>
                    <a:pt x="1781694" y="932497"/>
                    <a:pt x="1766628" y="932497"/>
                  </a:cubicBezTo>
                  <a:lnTo>
                    <a:pt x="27279" y="932497"/>
                  </a:lnTo>
                  <a:cubicBezTo>
                    <a:pt x="12213" y="932497"/>
                    <a:pt x="0" y="920284"/>
                    <a:pt x="0" y="905218"/>
                  </a:cubicBezTo>
                  <a:lnTo>
                    <a:pt x="0" y="27279"/>
                  </a:lnTo>
                  <a:cubicBezTo>
                    <a:pt x="0" y="12213"/>
                    <a:pt x="12213" y="0"/>
                    <a:pt x="2727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EA4">
                    <a:alpha val="100000"/>
                  </a:srgbClr>
                </a:gs>
                <a:gs pos="100000">
                  <a:srgbClr val="9ECED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793907" cy="9896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3706387" y="6489031"/>
            <a:ext cx="8202286" cy="9327211"/>
          </a:xfrm>
          <a:custGeom>
            <a:avLst/>
            <a:gdLst/>
            <a:ahLst/>
            <a:cxnLst/>
            <a:rect r="r" b="b" t="t" l="l"/>
            <a:pathLst>
              <a:path h="9327211" w="8202286">
                <a:moveTo>
                  <a:pt x="0" y="0"/>
                </a:moveTo>
                <a:lnTo>
                  <a:pt x="8202286" y="0"/>
                </a:lnTo>
                <a:lnTo>
                  <a:pt x="8202286" y="9327211"/>
                </a:lnTo>
                <a:lnTo>
                  <a:pt x="0" y="93272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268454" y="6265456"/>
            <a:ext cx="6769142" cy="3535189"/>
            <a:chOff x="0" y="0"/>
            <a:chExt cx="1782819" cy="93107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82819" cy="931078"/>
            </a:xfrm>
            <a:custGeom>
              <a:avLst/>
              <a:gdLst/>
              <a:ahLst/>
              <a:cxnLst/>
              <a:rect r="r" b="b" t="t" l="l"/>
              <a:pathLst>
                <a:path h="931078" w="1782819">
                  <a:moveTo>
                    <a:pt x="27449" y="0"/>
                  </a:moveTo>
                  <a:lnTo>
                    <a:pt x="1755370" y="0"/>
                  </a:lnTo>
                  <a:cubicBezTo>
                    <a:pt x="1762650" y="0"/>
                    <a:pt x="1769632" y="2892"/>
                    <a:pt x="1774780" y="8040"/>
                  </a:cubicBezTo>
                  <a:cubicBezTo>
                    <a:pt x="1779927" y="13187"/>
                    <a:pt x="1782819" y="20169"/>
                    <a:pt x="1782819" y="27449"/>
                  </a:cubicBezTo>
                  <a:lnTo>
                    <a:pt x="1782819" y="903629"/>
                  </a:lnTo>
                  <a:cubicBezTo>
                    <a:pt x="1782819" y="910909"/>
                    <a:pt x="1779927" y="917891"/>
                    <a:pt x="1774780" y="923039"/>
                  </a:cubicBezTo>
                  <a:cubicBezTo>
                    <a:pt x="1769632" y="928186"/>
                    <a:pt x="1762650" y="931078"/>
                    <a:pt x="1755370" y="931078"/>
                  </a:cubicBezTo>
                  <a:lnTo>
                    <a:pt x="27449" y="931078"/>
                  </a:lnTo>
                  <a:cubicBezTo>
                    <a:pt x="20169" y="931078"/>
                    <a:pt x="13187" y="928186"/>
                    <a:pt x="8040" y="923039"/>
                  </a:cubicBezTo>
                  <a:cubicBezTo>
                    <a:pt x="2892" y="917891"/>
                    <a:pt x="0" y="910909"/>
                    <a:pt x="0" y="903629"/>
                  </a:cubicBezTo>
                  <a:lnTo>
                    <a:pt x="0" y="27449"/>
                  </a:lnTo>
                  <a:cubicBezTo>
                    <a:pt x="0" y="20169"/>
                    <a:pt x="2892" y="13187"/>
                    <a:pt x="8040" y="8040"/>
                  </a:cubicBezTo>
                  <a:cubicBezTo>
                    <a:pt x="13187" y="2892"/>
                    <a:pt x="20169" y="0"/>
                    <a:pt x="2744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EA4">
                    <a:alpha val="100000"/>
                  </a:srgbClr>
                </a:gs>
                <a:gs pos="100000">
                  <a:srgbClr val="9ECED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782819" cy="988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95846" y="2586493"/>
            <a:ext cx="7712558" cy="667075"/>
            <a:chOff x="0" y="0"/>
            <a:chExt cx="2031291" cy="1756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31291" cy="175690"/>
            </a:xfrm>
            <a:custGeom>
              <a:avLst/>
              <a:gdLst/>
              <a:ahLst/>
              <a:cxnLst/>
              <a:rect r="r" b="b" t="t" l="l"/>
              <a:pathLst>
                <a:path h="175690" w="2031291">
                  <a:moveTo>
                    <a:pt x="19072" y="0"/>
                  </a:moveTo>
                  <a:lnTo>
                    <a:pt x="2012219" y="0"/>
                  </a:lnTo>
                  <a:cubicBezTo>
                    <a:pt x="2017277" y="0"/>
                    <a:pt x="2022128" y="2009"/>
                    <a:pt x="2025705" y="5586"/>
                  </a:cubicBezTo>
                  <a:cubicBezTo>
                    <a:pt x="2029282" y="9163"/>
                    <a:pt x="2031291" y="14014"/>
                    <a:pt x="2031291" y="19072"/>
                  </a:cubicBezTo>
                  <a:lnTo>
                    <a:pt x="2031291" y="156618"/>
                  </a:lnTo>
                  <a:cubicBezTo>
                    <a:pt x="2031291" y="161676"/>
                    <a:pt x="2029282" y="166528"/>
                    <a:pt x="2025705" y="170104"/>
                  </a:cubicBezTo>
                  <a:cubicBezTo>
                    <a:pt x="2022128" y="173681"/>
                    <a:pt x="2017277" y="175690"/>
                    <a:pt x="2012219" y="175690"/>
                  </a:cubicBezTo>
                  <a:lnTo>
                    <a:pt x="19072" y="175690"/>
                  </a:lnTo>
                  <a:cubicBezTo>
                    <a:pt x="14014" y="175690"/>
                    <a:pt x="9163" y="173681"/>
                    <a:pt x="5586" y="170104"/>
                  </a:cubicBezTo>
                  <a:cubicBezTo>
                    <a:pt x="2009" y="166528"/>
                    <a:pt x="0" y="161676"/>
                    <a:pt x="0" y="156618"/>
                  </a:cubicBezTo>
                  <a:lnTo>
                    <a:pt x="0" y="19072"/>
                  </a:lnTo>
                  <a:cubicBezTo>
                    <a:pt x="0" y="14014"/>
                    <a:pt x="2009" y="9163"/>
                    <a:pt x="5586" y="5586"/>
                  </a:cubicBezTo>
                  <a:cubicBezTo>
                    <a:pt x="9163" y="2009"/>
                    <a:pt x="14014" y="0"/>
                    <a:pt x="1907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2031291" cy="2328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586632" y="2590522"/>
            <a:ext cx="6090687" cy="663046"/>
            <a:chOff x="0" y="0"/>
            <a:chExt cx="1604132" cy="17462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04132" cy="174629"/>
            </a:xfrm>
            <a:custGeom>
              <a:avLst/>
              <a:gdLst/>
              <a:ahLst/>
              <a:cxnLst/>
              <a:rect r="r" b="b" t="t" l="l"/>
              <a:pathLst>
                <a:path h="174629" w="1604132">
                  <a:moveTo>
                    <a:pt x="24151" y="0"/>
                  </a:moveTo>
                  <a:lnTo>
                    <a:pt x="1579980" y="0"/>
                  </a:lnTo>
                  <a:cubicBezTo>
                    <a:pt x="1593319" y="0"/>
                    <a:pt x="1604132" y="10813"/>
                    <a:pt x="1604132" y="24151"/>
                  </a:cubicBezTo>
                  <a:lnTo>
                    <a:pt x="1604132" y="150478"/>
                  </a:lnTo>
                  <a:cubicBezTo>
                    <a:pt x="1604132" y="163817"/>
                    <a:pt x="1593319" y="174629"/>
                    <a:pt x="1579980" y="174629"/>
                  </a:cubicBezTo>
                  <a:lnTo>
                    <a:pt x="24151" y="174629"/>
                  </a:lnTo>
                  <a:cubicBezTo>
                    <a:pt x="10813" y="174629"/>
                    <a:pt x="0" y="163817"/>
                    <a:pt x="0" y="150478"/>
                  </a:cubicBezTo>
                  <a:lnTo>
                    <a:pt x="0" y="24151"/>
                  </a:lnTo>
                  <a:cubicBezTo>
                    <a:pt x="0" y="10813"/>
                    <a:pt x="10813" y="0"/>
                    <a:pt x="2415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604132" cy="231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558057" y="6655981"/>
            <a:ext cx="6090687" cy="663046"/>
            <a:chOff x="0" y="0"/>
            <a:chExt cx="1604132" cy="17462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04132" cy="174629"/>
            </a:xfrm>
            <a:custGeom>
              <a:avLst/>
              <a:gdLst/>
              <a:ahLst/>
              <a:cxnLst/>
              <a:rect r="r" b="b" t="t" l="l"/>
              <a:pathLst>
                <a:path h="174629" w="1604132">
                  <a:moveTo>
                    <a:pt x="24151" y="0"/>
                  </a:moveTo>
                  <a:lnTo>
                    <a:pt x="1579980" y="0"/>
                  </a:lnTo>
                  <a:cubicBezTo>
                    <a:pt x="1593319" y="0"/>
                    <a:pt x="1604132" y="10813"/>
                    <a:pt x="1604132" y="24151"/>
                  </a:cubicBezTo>
                  <a:lnTo>
                    <a:pt x="1604132" y="150478"/>
                  </a:lnTo>
                  <a:cubicBezTo>
                    <a:pt x="1604132" y="163817"/>
                    <a:pt x="1593319" y="174629"/>
                    <a:pt x="1579980" y="174629"/>
                  </a:cubicBezTo>
                  <a:lnTo>
                    <a:pt x="24151" y="174629"/>
                  </a:lnTo>
                  <a:cubicBezTo>
                    <a:pt x="10813" y="174629"/>
                    <a:pt x="0" y="163817"/>
                    <a:pt x="0" y="150478"/>
                  </a:cubicBezTo>
                  <a:lnTo>
                    <a:pt x="0" y="24151"/>
                  </a:lnTo>
                  <a:cubicBezTo>
                    <a:pt x="0" y="10813"/>
                    <a:pt x="10813" y="0"/>
                    <a:pt x="2415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604132" cy="231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771449" y="3373570"/>
            <a:ext cx="4908481" cy="2320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7062" indent="-208531" lvl="1">
              <a:lnSpc>
                <a:spcPts val="3098"/>
              </a:lnSpc>
              <a:buFont typeface="Arial"/>
              <a:buChar char="•"/>
            </a:pPr>
            <a:r>
              <a:rPr lang="en-US" sz="1931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Car</a:t>
            </a:r>
          </a:p>
          <a:p>
            <a:pPr algn="l" marL="417062" indent="-208531" lvl="1">
              <a:lnSpc>
                <a:spcPts val="3098"/>
              </a:lnSpc>
              <a:buFont typeface="Arial"/>
              <a:buChar char="•"/>
            </a:pPr>
            <a:r>
              <a:rPr lang="en-US" sz="1931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Cow</a:t>
            </a:r>
          </a:p>
          <a:p>
            <a:pPr algn="l" marL="417062" indent="-208531" lvl="1">
              <a:lnSpc>
                <a:spcPts val="3098"/>
              </a:lnSpc>
              <a:buFont typeface="Arial"/>
              <a:buChar char="•"/>
            </a:pPr>
            <a:r>
              <a:rPr lang="en-US" sz="1931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Human</a:t>
            </a:r>
          </a:p>
          <a:p>
            <a:pPr algn="l" marL="417062" indent="-208531" lvl="1">
              <a:lnSpc>
                <a:spcPts val="3098"/>
              </a:lnSpc>
              <a:buFont typeface="Arial"/>
              <a:buChar char="•"/>
            </a:pPr>
            <a:r>
              <a:rPr lang="en-US" sz="1931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Motorbike</a:t>
            </a:r>
          </a:p>
          <a:p>
            <a:pPr algn="l" marL="417062" indent="-208531" lvl="1">
              <a:lnSpc>
                <a:spcPts val="3098"/>
              </a:lnSpc>
              <a:buFont typeface="Arial"/>
              <a:buChar char="•"/>
            </a:pPr>
            <a:r>
              <a:rPr lang="en-US" sz="1931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Sheep</a:t>
            </a:r>
          </a:p>
          <a:p>
            <a:pPr algn="l">
              <a:lnSpc>
                <a:spcPts val="3098"/>
              </a:lnSpc>
            </a:pPr>
            <a:r>
              <a:rPr lang="en-US" sz="1931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With moderate accuracy.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771449" y="2715781"/>
            <a:ext cx="5905870" cy="381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8"/>
              </a:lnSpc>
            </a:pPr>
            <a:r>
              <a:rPr lang="en-US" b="true" sz="2249">
                <a:solidFill>
                  <a:srgbClr val="60BC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Able to Detect Other Wildlife/Objects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804176" y="1178668"/>
            <a:ext cx="10959652" cy="666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5"/>
              </a:lnSpc>
            </a:pPr>
            <a:r>
              <a:rPr lang="en-US" b="true" sz="388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Image Detection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3348068" y="-4607409"/>
            <a:ext cx="8202286" cy="9327211"/>
          </a:xfrm>
          <a:custGeom>
            <a:avLst/>
            <a:gdLst/>
            <a:ahLst/>
            <a:cxnLst/>
            <a:rect r="r" b="b" t="t" l="l"/>
            <a:pathLst>
              <a:path h="9327211" w="8202286">
                <a:moveTo>
                  <a:pt x="0" y="0"/>
                </a:moveTo>
                <a:lnTo>
                  <a:pt x="8202285" y="0"/>
                </a:lnTo>
                <a:lnTo>
                  <a:pt x="8202285" y="9327212"/>
                </a:lnTo>
                <a:lnTo>
                  <a:pt x="0" y="9327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250404" y="5015078"/>
            <a:ext cx="4029404" cy="2266540"/>
          </a:xfrm>
          <a:custGeom>
            <a:avLst/>
            <a:gdLst/>
            <a:ahLst/>
            <a:cxnLst/>
            <a:rect r="r" b="b" t="t" l="l"/>
            <a:pathLst>
              <a:path h="2266540" w="4029404">
                <a:moveTo>
                  <a:pt x="0" y="0"/>
                </a:moveTo>
                <a:lnTo>
                  <a:pt x="4029403" y="0"/>
                </a:lnTo>
                <a:lnTo>
                  <a:pt x="4029403" y="2266540"/>
                </a:lnTo>
                <a:lnTo>
                  <a:pt x="0" y="22665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5279807" y="7319027"/>
            <a:ext cx="4249964" cy="2379980"/>
          </a:xfrm>
          <a:custGeom>
            <a:avLst/>
            <a:gdLst/>
            <a:ahLst/>
            <a:cxnLst/>
            <a:rect r="r" b="b" t="t" l="l"/>
            <a:pathLst>
              <a:path h="2379980" w="4249964">
                <a:moveTo>
                  <a:pt x="0" y="0"/>
                </a:moveTo>
                <a:lnTo>
                  <a:pt x="4249964" y="0"/>
                </a:lnTo>
                <a:lnTo>
                  <a:pt x="4249964" y="2379980"/>
                </a:lnTo>
                <a:lnTo>
                  <a:pt x="0" y="23799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495846" y="3470284"/>
            <a:ext cx="7041503" cy="758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7062" indent="-208531" lvl="1">
              <a:lnSpc>
                <a:spcPts val="3098"/>
              </a:lnSpc>
              <a:buFont typeface="Arial"/>
              <a:buChar char="•"/>
            </a:pPr>
            <a:r>
              <a:rPr lang="en-US" sz="1931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YOLO-based image detection model.</a:t>
            </a:r>
          </a:p>
          <a:p>
            <a:pPr algn="l" marL="417062" indent="-208531" lvl="1">
              <a:lnSpc>
                <a:spcPts val="3098"/>
              </a:lnSpc>
              <a:buFont typeface="Arial"/>
              <a:buChar char="•"/>
            </a:pPr>
            <a:r>
              <a:rPr lang="en-US" sz="1931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Trained with large dataset of elephant image.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800024" y="7486640"/>
            <a:ext cx="5696126" cy="1929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7062" indent="-208531" lvl="1">
              <a:lnSpc>
                <a:spcPts val="3098"/>
              </a:lnSpc>
              <a:buFont typeface="Arial"/>
              <a:buChar char="•"/>
            </a:pPr>
            <a:r>
              <a:rPr lang="en-US" sz="1931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High resolution</a:t>
            </a:r>
          </a:p>
          <a:p>
            <a:pPr algn="l" marL="417062" indent="-208531" lvl="1">
              <a:lnSpc>
                <a:spcPts val="3098"/>
              </a:lnSpc>
              <a:buFont typeface="Arial"/>
              <a:buChar char="•"/>
            </a:pPr>
            <a:r>
              <a:rPr lang="en-US" sz="1931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Workable during day and night</a:t>
            </a:r>
          </a:p>
          <a:p>
            <a:pPr algn="l" marL="417062" indent="-208531" lvl="1">
              <a:lnSpc>
                <a:spcPts val="3098"/>
              </a:lnSpc>
              <a:buFont typeface="Arial"/>
              <a:buChar char="•"/>
            </a:pPr>
            <a:r>
              <a:rPr lang="en-US" sz="1931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Box annotated for detected objects</a:t>
            </a:r>
          </a:p>
          <a:p>
            <a:pPr algn="l" marL="417062" indent="-208531" lvl="1">
              <a:lnSpc>
                <a:spcPts val="3098"/>
              </a:lnSpc>
              <a:buFont typeface="Arial"/>
              <a:buChar char="•"/>
            </a:pPr>
            <a:r>
              <a:rPr lang="en-US" sz="1931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Tracking ID, name and confidence level</a:t>
            </a:r>
          </a:p>
          <a:p>
            <a:pPr algn="l" marL="417062" indent="-208531" lvl="1">
              <a:lnSpc>
                <a:spcPts val="3098"/>
              </a:lnSpc>
              <a:buFont typeface="Arial"/>
              <a:buChar char="•"/>
            </a:pPr>
            <a:r>
              <a:rPr lang="en-US" sz="1931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Counter and FPS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706888" y="2715781"/>
            <a:ext cx="7003801" cy="381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8"/>
              </a:lnSpc>
            </a:pPr>
            <a:r>
              <a:rPr lang="en-US" b="true" sz="2249">
                <a:solidFill>
                  <a:srgbClr val="60BC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High Accuracy on Elephants Detection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800024" y="6786736"/>
            <a:ext cx="5905870" cy="372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8"/>
              </a:lnSpc>
            </a:pPr>
            <a:r>
              <a:rPr lang="en-US" b="true" sz="2149">
                <a:solidFill>
                  <a:srgbClr val="60BC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Capture &amp; Annotate Images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31210" y="4918885"/>
            <a:ext cx="8202286" cy="9327211"/>
          </a:xfrm>
          <a:custGeom>
            <a:avLst/>
            <a:gdLst/>
            <a:ahLst/>
            <a:cxnLst/>
            <a:rect r="r" b="b" t="t" l="l"/>
            <a:pathLst>
              <a:path h="9327211" w="8202286">
                <a:moveTo>
                  <a:pt x="0" y="0"/>
                </a:moveTo>
                <a:lnTo>
                  <a:pt x="8202286" y="0"/>
                </a:lnTo>
                <a:lnTo>
                  <a:pt x="8202286" y="9327212"/>
                </a:lnTo>
                <a:lnTo>
                  <a:pt x="0" y="9327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099008" y="2263603"/>
            <a:ext cx="4474411" cy="3169632"/>
            <a:chOff x="0" y="0"/>
            <a:chExt cx="1178446" cy="834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78446" cy="834800"/>
            </a:xfrm>
            <a:custGeom>
              <a:avLst/>
              <a:gdLst/>
              <a:ahLst/>
              <a:cxnLst/>
              <a:rect r="r" b="b" t="t" l="l"/>
              <a:pathLst>
                <a:path h="834800" w="1178446">
                  <a:moveTo>
                    <a:pt x="41526" y="0"/>
                  </a:moveTo>
                  <a:lnTo>
                    <a:pt x="1136919" y="0"/>
                  </a:lnTo>
                  <a:cubicBezTo>
                    <a:pt x="1147933" y="0"/>
                    <a:pt x="1158495" y="4375"/>
                    <a:pt x="1166283" y="12163"/>
                  </a:cubicBezTo>
                  <a:cubicBezTo>
                    <a:pt x="1174071" y="19950"/>
                    <a:pt x="1178446" y="30513"/>
                    <a:pt x="1178446" y="41526"/>
                  </a:cubicBezTo>
                  <a:lnTo>
                    <a:pt x="1178446" y="793274"/>
                  </a:lnTo>
                  <a:cubicBezTo>
                    <a:pt x="1178446" y="804287"/>
                    <a:pt x="1174071" y="814850"/>
                    <a:pt x="1166283" y="822637"/>
                  </a:cubicBezTo>
                  <a:cubicBezTo>
                    <a:pt x="1158495" y="830425"/>
                    <a:pt x="1147933" y="834800"/>
                    <a:pt x="1136919" y="834800"/>
                  </a:cubicBezTo>
                  <a:lnTo>
                    <a:pt x="41526" y="834800"/>
                  </a:lnTo>
                  <a:cubicBezTo>
                    <a:pt x="30513" y="834800"/>
                    <a:pt x="19950" y="830425"/>
                    <a:pt x="12163" y="822637"/>
                  </a:cubicBezTo>
                  <a:cubicBezTo>
                    <a:pt x="4375" y="814850"/>
                    <a:pt x="0" y="804287"/>
                    <a:pt x="0" y="793274"/>
                  </a:cubicBezTo>
                  <a:lnTo>
                    <a:pt x="0" y="41526"/>
                  </a:lnTo>
                  <a:cubicBezTo>
                    <a:pt x="0" y="30513"/>
                    <a:pt x="4375" y="19950"/>
                    <a:pt x="12163" y="12163"/>
                  </a:cubicBezTo>
                  <a:cubicBezTo>
                    <a:pt x="19950" y="4375"/>
                    <a:pt x="30513" y="0"/>
                    <a:pt x="4152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EA4">
                    <a:alpha val="100000"/>
                  </a:srgbClr>
                </a:gs>
                <a:gs pos="100000">
                  <a:srgbClr val="9ECED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178446" cy="891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907884" y="4105594"/>
            <a:ext cx="4474411" cy="2655282"/>
            <a:chOff x="0" y="0"/>
            <a:chExt cx="1178446" cy="6993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78446" cy="699334"/>
            </a:xfrm>
            <a:custGeom>
              <a:avLst/>
              <a:gdLst/>
              <a:ahLst/>
              <a:cxnLst/>
              <a:rect r="r" b="b" t="t" l="l"/>
              <a:pathLst>
                <a:path h="699334" w="1178446">
                  <a:moveTo>
                    <a:pt x="41526" y="0"/>
                  </a:moveTo>
                  <a:lnTo>
                    <a:pt x="1136919" y="0"/>
                  </a:lnTo>
                  <a:cubicBezTo>
                    <a:pt x="1147933" y="0"/>
                    <a:pt x="1158495" y="4375"/>
                    <a:pt x="1166283" y="12163"/>
                  </a:cubicBezTo>
                  <a:cubicBezTo>
                    <a:pt x="1174071" y="19950"/>
                    <a:pt x="1178446" y="30513"/>
                    <a:pt x="1178446" y="41526"/>
                  </a:cubicBezTo>
                  <a:lnTo>
                    <a:pt x="1178446" y="657807"/>
                  </a:lnTo>
                  <a:cubicBezTo>
                    <a:pt x="1178446" y="668821"/>
                    <a:pt x="1174071" y="679383"/>
                    <a:pt x="1166283" y="687171"/>
                  </a:cubicBezTo>
                  <a:cubicBezTo>
                    <a:pt x="1158495" y="694959"/>
                    <a:pt x="1147933" y="699334"/>
                    <a:pt x="1136919" y="699334"/>
                  </a:cubicBezTo>
                  <a:lnTo>
                    <a:pt x="41526" y="699334"/>
                  </a:lnTo>
                  <a:cubicBezTo>
                    <a:pt x="30513" y="699334"/>
                    <a:pt x="19950" y="694959"/>
                    <a:pt x="12163" y="687171"/>
                  </a:cubicBezTo>
                  <a:cubicBezTo>
                    <a:pt x="4375" y="679383"/>
                    <a:pt x="0" y="668821"/>
                    <a:pt x="0" y="657807"/>
                  </a:cubicBezTo>
                  <a:lnTo>
                    <a:pt x="0" y="41526"/>
                  </a:lnTo>
                  <a:cubicBezTo>
                    <a:pt x="0" y="30513"/>
                    <a:pt x="4375" y="19950"/>
                    <a:pt x="12163" y="12163"/>
                  </a:cubicBezTo>
                  <a:cubicBezTo>
                    <a:pt x="19950" y="4375"/>
                    <a:pt x="30513" y="0"/>
                    <a:pt x="4152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EA4">
                    <a:alpha val="100000"/>
                  </a:srgbClr>
                </a:gs>
                <a:gs pos="100000">
                  <a:srgbClr val="9ECED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178446" cy="7564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099008" y="5963167"/>
            <a:ext cx="4474411" cy="2655282"/>
            <a:chOff x="0" y="0"/>
            <a:chExt cx="1178446" cy="69933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78446" cy="699334"/>
            </a:xfrm>
            <a:custGeom>
              <a:avLst/>
              <a:gdLst/>
              <a:ahLst/>
              <a:cxnLst/>
              <a:rect r="r" b="b" t="t" l="l"/>
              <a:pathLst>
                <a:path h="699334" w="1178446">
                  <a:moveTo>
                    <a:pt x="41526" y="0"/>
                  </a:moveTo>
                  <a:lnTo>
                    <a:pt x="1136919" y="0"/>
                  </a:lnTo>
                  <a:cubicBezTo>
                    <a:pt x="1147933" y="0"/>
                    <a:pt x="1158495" y="4375"/>
                    <a:pt x="1166283" y="12163"/>
                  </a:cubicBezTo>
                  <a:cubicBezTo>
                    <a:pt x="1174071" y="19950"/>
                    <a:pt x="1178446" y="30513"/>
                    <a:pt x="1178446" y="41526"/>
                  </a:cubicBezTo>
                  <a:lnTo>
                    <a:pt x="1178446" y="657807"/>
                  </a:lnTo>
                  <a:cubicBezTo>
                    <a:pt x="1178446" y="668821"/>
                    <a:pt x="1174071" y="679383"/>
                    <a:pt x="1166283" y="687171"/>
                  </a:cubicBezTo>
                  <a:cubicBezTo>
                    <a:pt x="1158495" y="694959"/>
                    <a:pt x="1147933" y="699334"/>
                    <a:pt x="1136919" y="699334"/>
                  </a:cubicBezTo>
                  <a:lnTo>
                    <a:pt x="41526" y="699334"/>
                  </a:lnTo>
                  <a:cubicBezTo>
                    <a:pt x="30513" y="699334"/>
                    <a:pt x="19950" y="694959"/>
                    <a:pt x="12163" y="687171"/>
                  </a:cubicBezTo>
                  <a:cubicBezTo>
                    <a:pt x="4375" y="679383"/>
                    <a:pt x="0" y="668821"/>
                    <a:pt x="0" y="657807"/>
                  </a:cubicBezTo>
                  <a:lnTo>
                    <a:pt x="0" y="41526"/>
                  </a:lnTo>
                  <a:cubicBezTo>
                    <a:pt x="0" y="30513"/>
                    <a:pt x="4375" y="19950"/>
                    <a:pt x="12163" y="12163"/>
                  </a:cubicBezTo>
                  <a:cubicBezTo>
                    <a:pt x="19950" y="4375"/>
                    <a:pt x="30513" y="0"/>
                    <a:pt x="4152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EA4">
                    <a:alpha val="100000"/>
                  </a:srgbClr>
                </a:gs>
                <a:gs pos="100000">
                  <a:srgbClr val="9ECED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178446" cy="7564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384209" y="3339449"/>
            <a:ext cx="3821001" cy="1929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7062" indent="-208531" lvl="1">
              <a:lnSpc>
                <a:spcPts val="3098"/>
              </a:lnSpc>
              <a:buFont typeface="Arial"/>
              <a:buChar char="•"/>
            </a:pPr>
            <a:r>
              <a:rPr lang="en-US" sz="1931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PyTourch-based audio detection model.</a:t>
            </a:r>
          </a:p>
          <a:p>
            <a:pPr algn="l" marL="417062" indent="-208531" lvl="1">
              <a:lnSpc>
                <a:spcPts val="3098"/>
              </a:lnSpc>
              <a:buFont typeface="Arial"/>
              <a:buChar char="•"/>
            </a:pPr>
            <a:r>
              <a:rPr lang="en-US" sz="1931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Detection model trained with a large dataset of elephant sounds.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99008" y="2464407"/>
            <a:ext cx="4474411" cy="771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8"/>
              </a:lnSpc>
            </a:pPr>
            <a:r>
              <a:rPr lang="en-US" b="true" sz="224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High Accuracy on Elephant Detection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666353" y="952500"/>
            <a:ext cx="10959652" cy="666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5"/>
              </a:lnSpc>
            </a:pPr>
            <a:r>
              <a:rPr lang="en-US" b="true" sz="388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Audio Detection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-2941137" y="-3819262"/>
            <a:ext cx="8202286" cy="9327211"/>
          </a:xfrm>
          <a:custGeom>
            <a:avLst/>
            <a:gdLst/>
            <a:ahLst/>
            <a:cxnLst/>
            <a:rect r="r" b="b" t="t" l="l"/>
            <a:pathLst>
              <a:path h="9327211" w="8202286">
                <a:moveTo>
                  <a:pt x="0" y="0"/>
                </a:moveTo>
                <a:lnTo>
                  <a:pt x="8202286" y="0"/>
                </a:lnTo>
                <a:lnTo>
                  <a:pt x="8202286" y="9327211"/>
                </a:lnTo>
                <a:lnTo>
                  <a:pt x="0" y="93272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980818" y="2263603"/>
            <a:ext cx="5290376" cy="7399128"/>
          </a:xfrm>
          <a:custGeom>
            <a:avLst/>
            <a:gdLst/>
            <a:ahLst/>
            <a:cxnLst/>
            <a:rect r="r" b="b" t="t" l="l"/>
            <a:pathLst>
              <a:path h="7399128" w="5290376">
                <a:moveTo>
                  <a:pt x="0" y="0"/>
                </a:moveTo>
                <a:lnTo>
                  <a:pt x="5290376" y="0"/>
                </a:lnTo>
                <a:lnTo>
                  <a:pt x="5290376" y="7399128"/>
                </a:lnTo>
                <a:lnTo>
                  <a:pt x="0" y="73991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6907884" y="4749813"/>
            <a:ext cx="4247230" cy="1539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7062" indent="-208531" lvl="1">
              <a:lnSpc>
                <a:spcPts val="3098"/>
              </a:lnSpc>
              <a:buFont typeface="Arial"/>
              <a:buChar char="•"/>
            </a:pPr>
            <a:r>
              <a:rPr lang="en-US" sz="1931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Record 4s audio when elephant sound is detected</a:t>
            </a:r>
          </a:p>
          <a:p>
            <a:pPr algn="l" marL="417062" indent="-208531" lvl="1">
              <a:lnSpc>
                <a:spcPts val="3098"/>
              </a:lnSpc>
              <a:buFont typeface="Arial"/>
              <a:buChar char="•"/>
            </a:pPr>
            <a:r>
              <a:rPr lang="en-US" sz="1931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Name, confidence level and timestamp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84209" y="6729424"/>
            <a:ext cx="3462980" cy="1157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8847" indent="-209423" lvl="1">
              <a:lnSpc>
                <a:spcPts val="3111"/>
              </a:lnSpc>
              <a:buFont typeface="Arial"/>
              <a:buChar char="•"/>
            </a:pPr>
            <a:r>
              <a:rPr lang="en-US" sz="194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Elephant</a:t>
            </a:r>
          </a:p>
          <a:p>
            <a:pPr algn="l" marL="418847" indent="-209423" lvl="1">
              <a:lnSpc>
                <a:spcPts val="3111"/>
              </a:lnSpc>
              <a:buFont typeface="Arial"/>
              <a:buChar char="•"/>
            </a:pPr>
            <a:r>
              <a:rPr lang="en-US" sz="194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Gunshot</a:t>
            </a:r>
          </a:p>
          <a:p>
            <a:pPr algn="l" marL="418847" indent="-209423" lvl="1">
              <a:lnSpc>
                <a:spcPts val="3111"/>
              </a:lnSpc>
              <a:buFont typeface="Arial"/>
              <a:buChar char="•"/>
            </a:pPr>
            <a:r>
              <a:rPr lang="en-US" sz="194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Background noise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905704" y="4306361"/>
            <a:ext cx="4474411" cy="381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8"/>
              </a:lnSpc>
            </a:pPr>
            <a:r>
              <a:rPr lang="en-US" b="true" sz="224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Audio Recording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099008" y="6163971"/>
            <a:ext cx="4474411" cy="381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8"/>
              </a:lnSpc>
            </a:pPr>
            <a:r>
              <a:rPr lang="en-US" b="true" sz="224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Multiple Detection Events</a:t>
            </a:r>
          </a:p>
        </p:txBody>
      </p:sp>
    </p:spTree>
  </p:cSld>
  <p:clrMapOvr>
    <a:masterClrMapping/>
  </p:clrMapOvr>
  <p:transition spd="slow">
    <p:cover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31210" y="4918885"/>
            <a:ext cx="8202286" cy="9327211"/>
          </a:xfrm>
          <a:custGeom>
            <a:avLst/>
            <a:gdLst/>
            <a:ahLst/>
            <a:cxnLst/>
            <a:rect r="r" b="b" t="t" l="l"/>
            <a:pathLst>
              <a:path h="9327211" w="8202286">
                <a:moveTo>
                  <a:pt x="0" y="0"/>
                </a:moveTo>
                <a:lnTo>
                  <a:pt x="8202286" y="0"/>
                </a:lnTo>
                <a:lnTo>
                  <a:pt x="8202286" y="9327212"/>
                </a:lnTo>
                <a:lnTo>
                  <a:pt x="0" y="9327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096828" y="2032184"/>
            <a:ext cx="4474411" cy="3111316"/>
            <a:chOff x="0" y="0"/>
            <a:chExt cx="1178446" cy="81944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78446" cy="819441"/>
            </a:xfrm>
            <a:custGeom>
              <a:avLst/>
              <a:gdLst/>
              <a:ahLst/>
              <a:cxnLst/>
              <a:rect r="r" b="b" t="t" l="l"/>
              <a:pathLst>
                <a:path h="819441" w="1178446">
                  <a:moveTo>
                    <a:pt x="41526" y="0"/>
                  </a:moveTo>
                  <a:lnTo>
                    <a:pt x="1136919" y="0"/>
                  </a:lnTo>
                  <a:cubicBezTo>
                    <a:pt x="1147933" y="0"/>
                    <a:pt x="1158495" y="4375"/>
                    <a:pt x="1166283" y="12163"/>
                  </a:cubicBezTo>
                  <a:cubicBezTo>
                    <a:pt x="1174071" y="19950"/>
                    <a:pt x="1178446" y="30513"/>
                    <a:pt x="1178446" y="41526"/>
                  </a:cubicBezTo>
                  <a:lnTo>
                    <a:pt x="1178446" y="777915"/>
                  </a:lnTo>
                  <a:cubicBezTo>
                    <a:pt x="1178446" y="788928"/>
                    <a:pt x="1174071" y="799491"/>
                    <a:pt x="1166283" y="807279"/>
                  </a:cubicBezTo>
                  <a:cubicBezTo>
                    <a:pt x="1158495" y="815066"/>
                    <a:pt x="1147933" y="819441"/>
                    <a:pt x="1136919" y="819441"/>
                  </a:cubicBezTo>
                  <a:lnTo>
                    <a:pt x="41526" y="819441"/>
                  </a:lnTo>
                  <a:cubicBezTo>
                    <a:pt x="30513" y="819441"/>
                    <a:pt x="19950" y="815066"/>
                    <a:pt x="12163" y="807279"/>
                  </a:cubicBezTo>
                  <a:cubicBezTo>
                    <a:pt x="4375" y="799491"/>
                    <a:pt x="0" y="788928"/>
                    <a:pt x="0" y="777915"/>
                  </a:cubicBezTo>
                  <a:lnTo>
                    <a:pt x="0" y="41526"/>
                  </a:lnTo>
                  <a:cubicBezTo>
                    <a:pt x="0" y="30513"/>
                    <a:pt x="4375" y="19950"/>
                    <a:pt x="12163" y="12163"/>
                  </a:cubicBezTo>
                  <a:cubicBezTo>
                    <a:pt x="19950" y="4375"/>
                    <a:pt x="30513" y="0"/>
                    <a:pt x="4152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EA4">
                    <a:alpha val="100000"/>
                  </a:srgbClr>
                </a:gs>
                <a:gs pos="100000">
                  <a:srgbClr val="9ECED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178446" cy="8765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908974" y="2032184"/>
            <a:ext cx="4472232" cy="3111316"/>
            <a:chOff x="0" y="0"/>
            <a:chExt cx="1177872" cy="81944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77872" cy="819441"/>
            </a:xfrm>
            <a:custGeom>
              <a:avLst/>
              <a:gdLst/>
              <a:ahLst/>
              <a:cxnLst/>
              <a:rect r="r" b="b" t="t" l="l"/>
              <a:pathLst>
                <a:path h="819441" w="1177872">
                  <a:moveTo>
                    <a:pt x="41547" y="0"/>
                  </a:moveTo>
                  <a:lnTo>
                    <a:pt x="1136325" y="0"/>
                  </a:lnTo>
                  <a:cubicBezTo>
                    <a:pt x="1159271" y="0"/>
                    <a:pt x="1177872" y="18601"/>
                    <a:pt x="1177872" y="41547"/>
                  </a:cubicBezTo>
                  <a:lnTo>
                    <a:pt x="1177872" y="777895"/>
                  </a:lnTo>
                  <a:cubicBezTo>
                    <a:pt x="1177872" y="788914"/>
                    <a:pt x="1173494" y="799481"/>
                    <a:pt x="1165703" y="807273"/>
                  </a:cubicBezTo>
                  <a:cubicBezTo>
                    <a:pt x="1157911" y="815064"/>
                    <a:pt x="1147344" y="819441"/>
                    <a:pt x="1136325" y="819441"/>
                  </a:cubicBezTo>
                  <a:lnTo>
                    <a:pt x="41547" y="819441"/>
                  </a:lnTo>
                  <a:cubicBezTo>
                    <a:pt x="30528" y="819441"/>
                    <a:pt x="19960" y="815064"/>
                    <a:pt x="12169" y="807273"/>
                  </a:cubicBezTo>
                  <a:cubicBezTo>
                    <a:pt x="4377" y="799481"/>
                    <a:pt x="0" y="788914"/>
                    <a:pt x="0" y="777895"/>
                  </a:cubicBezTo>
                  <a:lnTo>
                    <a:pt x="0" y="41547"/>
                  </a:lnTo>
                  <a:cubicBezTo>
                    <a:pt x="0" y="30528"/>
                    <a:pt x="4377" y="19960"/>
                    <a:pt x="12169" y="12169"/>
                  </a:cubicBezTo>
                  <a:cubicBezTo>
                    <a:pt x="19960" y="4377"/>
                    <a:pt x="30528" y="0"/>
                    <a:pt x="4154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EA4">
                    <a:alpha val="100000"/>
                  </a:srgbClr>
                </a:gs>
                <a:gs pos="100000">
                  <a:srgbClr val="9ECED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177872" cy="8765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716760" y="2032184"/>
            <a:ext cx="4474411" cy="3111316"/>
            <a:chOff x="0" y="0"/>
            <a:chExt cx="1178446" cy="81944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78446" cy="819441"/>
            </a:xfrm>
            <a:custGeom>
              <a:avLst/>
              <a:gdLst/>
              <a:ahLst/>
              <a:cxnLst/>
              <a:rect r="r" b="b" t="t" l="l"/>
              <a:pathLst>
                <a:path h="819441" w="1178446">
                  <a:moveTo>
                    <a:pt x="41526" y="0"/>
                  </a:moveTo>
                  <a:lnTo>
                    <a:pt x="1136919" y="0"/>
                  </a:lnTo>
                  <a:cubicBezTo>
                    <a:pt x="1147933" y="0"/>
                    <a:pt x="1158495" y="4375"/>
                    <a:pt x="1166283" y="12163"/>
                  </a:cubicBezTo>
                  <a:cubicBezTo>
                    <a:pt x="1174071" y="19950"/>
                    <a:pt x="1178446" y="30513"/>
                    <a:pt x="1178446" y="41526"/>
                  </a:cubicBezTo>
                  <a:lnTo>
                    <a:pt x="1178446" y="777915"/>
                  </a:lnTo>
                  <a:cubicBezTo>
                    <a:pt x="1178446" y="788928"/>
                    <a:pt x="1174071" y="799491"/>
                    <a:pt x="1166283" y="807279"/>
                  </a:cubicBezTo>
                  <a:cubicBezTo>
                    <a:pt x="1158495" y="815066"/>
                    <a:pt x="1147933" y="819441"/>
                    <a:pt x="1136919" y="819441"/>
                  </a:cubicBezTo>
                  <a:lnTo>
                    <a:pt x="41526" y="819441"/>
                  </a:lnTo>
                  <a:cubicBezTo>
                    <a:pt x="30513" y="819441"/>
                    <a:pt x="19950" y="815066"/>
                    <a:pt x="12163" y="807279"/>
                  </a:cubicBezTo>
                  <a:cubicBezTo>
                    <a:pt x="4375" y="799491"/>
                    <a:pt x="0" y="788928"/>
                    <a:pt x="0" y="777915"/>
                  </a:cubicBezTo>
                  <a:lnTo>
                    <a:pt x="0" y="41526"/>
                  </a:lnTo>
                  <a:cubicBezTo>
                    <a:pt x="0" y="30513"/>
                    <a:pt x="4375" y="19950"/>
                    <a:pt x="12163" y="12163"/>
                  </a:cubicBezTo>
                  <a:cubicBezTo>
                    <a:pt x="19950" y="4375"/>
                    <a:pt x="30513" y="0"/>
                    <a:pt x="4152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EA4">
                    <a:alpha val="100000"/>
                  </a:srgbClr>
                </a:gs>
                <a:gs pos="100000">
                  <a:srgbClr val="9ECED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178446" cy="8765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370410" y="2826842"/>
            <a:ext cx="3976589" cy="1157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8847" indent="-209423" lvl="1">
              <a:lnSpc>
                <a:spcPts val="3111"/>
              </a:lnSpc>
              <a:buFont typeface="Arial"/>
              <a:buChar char="•"/>
            </a:pPr>
            <a:r>
              <a:rPr lang="en-US" sz="194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Waterproof.</a:t>
            </a:r>
          </a:p>
          <a:p>
            <a:pPr algn="l" marL="418847" indent="-209423" lvl="1">
              <a:lnSpc>
                <a:spcPts val="3111"/>
              </a:lnSpc>
              <a:buFont typeface="Arial"/>
              <a:buChar char="•"/>
            </a:pPr>
            <a:r>
              <a:rPr lang="en-US" sz="194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Corrosion resistance.</a:t>
            </a:r>
          </a:p>
          <a:p>
            <a:pPr algn="l" marL="418847" indent="-209423" lvl="1">
              <a:lnSpc>
                <a:spcPts val="3111"/>
              </a:lnSpc>
              <a:buFont typeface="Arial"/>
              <a:buChar char="•"/>
            </a:pPr>
            <a:r>
              <a:rPr lang="en-US" sz="194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Impact resistance.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96828" y="2232950"/>
            <a:ext cx="4474411" cy="381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8"/>
              </a:lnSpc>
            </a:pPr>
            <a:r>
              <a:rPr lang="en-US" b="true" sz="224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Weatherproof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664174" y="768144"/>
            <a:ext cx="10959652" cy="666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5"/>
              </a:lnSpc>
            </a:pPr>
            <a:r>
              <a:rPr lang="en-US" b="true" sz="388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Case Design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-2941137" y="-3819262"/>
            <a:ext cx="8202286" cy="9327211"/>
          </a:xfrm>
          <a:custGeom>
            <a:avLst/>
            <a:gdLst/>
            <a:ahLst/>
            <a:cxnLst/>
            <a:rect r="r" b="b" t="t" l="l"/>
            <a:pathLst>
              <a:path h="9327211" w="8202286">
                <a:moveTo>
                  <a:pt x="0" y="0"/>
                </a:moveTo>
                <a:lnTo>
                  <a:pt x="8202286" y="0"/>
                </a:lnTo>
                <a:lnTo>
                  <a:pt x="8202286" y="9327211"/>
                </a:lnTo>
                <a:lnTo>
                  <a:pt x="0" y="93272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752504" y="5386741"/>
            <a:ext cx="3928512" cy="4489728"/>
          </a:xfrm>
          <a:custGeom>
            <a:avLst/>
            <a:gdLst/>
            <a:ahLst/>
            <a:cxnLst/>
            <a:rect r="r" b="b" t="t" l="l"/>
            <a:pathLst>
              <a:path h="4489728" w="3928512">
                <a:moveTo>
                  <a:pt x="0" y="0"/>
                </a:moveTo>
                <a:lnTo>
                  <a:pt x="3928513" y="0"/>
                </a:lnTo>
                <a:lnTo>
                  <a:pt x="3928513" y="4489728"/>
                </a:lnTo>
                <a:lnTo>
                  <a:pt x="0" y="44897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3131" t="-39015" r="-33716" b="-55641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096828" y="5507949"/>
            <a:ext cx="5941969" cy="4368520"/>
          </a:xfrm>
          <a:custGeom>
            <a:avLst/>
            <a:gdLst/>
            <a:ahLst/>
            <a:cxnLst/>
            <a:rect r="r" b="b" t="t" l="l"/>
            <a:pathLst>
              <a:path h="4368520" w="5941969">
                <a:moveTo>
                  <a:pt x="0" y="0"/>
                </a:moveTo>
                <a:lnTo>
                  <a:pt x="5941969" y="0"/>
                </a:lnTo>
                <a:lnTo>
                  <a:pt x="5941969" y="4368520"/>
                </a:lnTo>
                <a:lnTo>
                  <a:pt x="0" y="43685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7124337" y="2826842"/>
            <a:ext cx="3778437" cy="1938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9888" indent="-209944" lvl="1">
              <a:lnSpc>
                <a:spcPts val="3119"/>
              </a:lnSpc>
              <a:buFont typeface="Arial"/>
              <a:buChar char="•"/>
            </a:pPr>
            <a:r>
              <a:rPr lang="en-US" sz="1944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Aluminium outer case.</a:t>
            </a:r>
          </a:p>
          <a:p>
            <a:pPr algn="l" marL="419888" indent="-209944" lvl="1">
              <a:lnSpc>
                <a:spcPts val="3119"/>
              </a:lnSpc>
              <a:buFont typeface="Arial"/>
              <a:buChar char="•"/>
            </a:pPr>
            <a:r>
              <a:rPr lang="en-US" sz="1944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3D-printed inner holder.</a:t>
            </a:r>
          </a:p>
          <a:p>
            <a:pPr algn="l" marL="419888" indent="-209944" lvl="1">
              <a:lnSpc>
                <a:spcPts val="3119"/>
              </a:lnSpc>
              <a:buFont typeface="Arial"/>
              <a:buChar char="•"/>
            </a:pPr>
            <a:r>
              <a:rPr lang="en-US" sz="1944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Compact.</a:t>
            </a:r>
          </a:p>
          <a:p>
            <a:pPr algn="l" marL="419888" indent="-209944" lvl="1">
              <a:lnSpc>
                <a:spcPts val="3119"/>
              </a:lnSpc>
              <a:buFont typeface="Arial"/>
              <a:buChar char="•"/>
            </a:pPr>
            <a:r>
              <a:rPr lang="en-US" sz="1944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Mounted with a cargo strap.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906794" y="2232950"/>
            <a:ext cx="4474411" cy="374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8"/>
              </a:lnSpc>
            </a:pPr>
            <a:r>
              <a:rPr lang="en-US" b="true" sz="214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Robust &amp; Lightweight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716760" y="2232950"/>
            <a:ext cx="4474411" cy="381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8"/>
              </a:lnSpc>
            </a:pPr>
            <a:r>
              <a:rPr lang="en-US" b="true" sz="224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Ease of Maintainence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944360" y="2845892"/>
            <a:ext cx="3814324" cy="1926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2294" indent="-176147" lvl="1">
              <a:lnSpc>
                <a:spcPts val="2617"/>
              </a:lnSpc>
              <a:buFont typeface="Arial"/>
              <a:buChar char="•"/>
            </a:pPr>
            <a:r>
              <a:rPr lang="en-US" sz="1631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Modular design.</a:t>
            </a:r>
          </a:p>
          <a:p>
            <a:pPr algn="l" marL="352294" indent="-176147" lvl="1">
              <a:lnSpc>
                <a:spcPts val="2617"/>
              </a:lnSpc>
              <a:buFont typeface="Arial"/>
              <a:buChar char="•"/>
            </a:pPr>
            <a:r>
              <a:rPr lang="en-US" sz="1631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Quick access to internal components by unscrewing front cover’s bolts.</a:t>
            </a:r>
          </a:p>
          <a:p>
            <a:pPr algn="l" marL="352294" indent="-176147" lvl="1">
              <a:lnSpc>
                <a:spcPts val="2617"/>
              </a:lnSpc>
              <a:buFont typeface="Arial"/>
              <a:buChar char="•"/>
            </a:pPr>
            <a:r>
              <a:rPr lang="en-US" sz="1631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Simplified assembly and disassembly process</a:t>
            </a:r>
          </a:p>
        </p:txBody>
      </p:sp>
    </p:spTree>
  </p:cSld>
  <p:clrMapOvr>
    <a:masterClrMapping/>
  </p:clrMapOvr>
  <p:transition spd="slow">
    <p:cover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27101" y="2644592"/>
            <a:ext cx="6769142" cy="2482870"/>
            <a:chOff x="0" y="0"/>
            <a:chExt cx="1782819" cy="6539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82819" cy="653925"/>
            </a:xfrm>
            <a:custGeom>
              <a:avLst/>
              <a:gdLst/>
              <a:ahLst/>
              <a:cxnLst/>
              <a:rect r="r" b="b" t="t" l="l"/>
              <a:pathLst>
                <a:path h="653925" w="1782819">
                  <a:moveTo>
                    <a:pt x="27449" y="0"/>
                  </a:moveTo>
                  <a:lnTo>
                    <a:pt x="1755370" y="0"/>
                  </a:lnTo>
                  <a:cubicBezTo>
                    <a:pt x="1762650" y="0"/>
                    <a:pt x="1769632" y="2892"/>
                    <a:pt x="1774780" y="8040"/>
                  </a:cubicBezTo>
                  <a:cubicBezTo>
                    <a:pt x="1779927" y="13187"/>
                    <a:pt x="1782819" y="20169"/>
                    <a:pt x="1782819" y="27449"/>
                  </a:cubicBezTo>
                  <a:lnTo>
                    <a:pt x="1782819" y="626476"/>
                  </a:lnTo>
                  <a:cubicBezTo>
                    <a:pt x="1782819" y="633756"/>
                    <a:pt x="1779927" y="640737"/>
                    <a:pt x="1774780" y="645885"/>
                  </a:cubicBezTo>
                  <a:cubicBezTo>
                    <a:pt x="1769632" y="651033"/>
                    <a:pt x="1762650" y="653925"/>
                    <a:pt x="1755370" y="653925"/>
                  </a:cubicBezTo>
                  <a:lnTo>
                    <a:pt x="27449" y="653925"/>
                  </a:lnTo>
                  <a:cubicBezTo>
                    <a:pt x="20169" y="653925"/>
                    <a:pt x="13187" y="651033"/>
                    <a:pt x="8040" y="645885"/>
                  </a:cubicBezTo>
                  <a:cubicBezTo>
                    <a:pt x="2892" y="640737"/>
                    <a:pt x="0" y="633756"/>
                    <a:pt x="0" y="626476"/>
                  </a:cubicBezTo>
                  <a:lnTo>
                    <a:pt x="0" y="27449"/>
                  </a:lnTo>
                  <a:cubicBezTo>
                    <a:pt x="0" y="20169"/>
                    <a:pt x="2892" y="13187"/>
                    <a:pt x="8040" y="8040"/>
                  </a:cubicBezTo>
                  <a:cubicBezTo>
                    <a:pt x="13187" y="2892"/>
                    <a:pt x="20169" y="0"/>
                    <a:pt x="2744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EA4">
                    <a:alpha val="100000"/>
                  </a:srgbClr>
                </a:gs>
                <a:gs pos="100000">
                  <a:srgbClr val="9ECED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782819" cy="711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391757" y="2643224"/>
            <a:ext cx="6769142" cy="2482870"/>
            <a:chOff x="0" y="0"/>
            <a:chExt cx="1782819" cy="6539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82819" cy="653925"/>
            </a:xfrm>
            <a:custGeom>
              <a:avLst/>
              <a:gdLst/>
              <a:ahLst/>
              <a:cxnLst/>
              <a:rect r="r" b="b" t="t" l="l"/>
              <a:pathLst>
                <a:path h="653925" w="1782819">
                  <a:moveTo>
                    <a:pt x="27449" y="0"/>
                  </a:moveTo>
                  <a:lnTo>
                    <a:pt x="1755370" y="0"/>
                  </a:lnTo>
                  <a:cubicBezTo>
                    <a:pt x="1762650" y="0"/>
                    <a:pt x="1769632" y="2892"/>
                    <a:pt x="1774780" y="8040"/>
                  </a:cubicBezTo>
                  <a:cubicBezTo>
                    <a:pt x="1779927" y="13187"/>
                    <a:pt x="1782819" y="20169"/>
                    <a:pt x="1782819" y="27449"/>
                  </a:cubicBezTo>
                  <a:lnTo>
                    <a:pt x="1782819" y="626476"/>
                  </a:lnTo>
                  <a:cubicBezTo>
                    <a:pt x="1782819" y="633756"/>
                    <a:pt x="1779927" y="640737"/>
                    <a:pt x="1774780" y="645885"/>
                  </a:cubicBezTo>
                  <a:cubicBezTo>
                    <a:pt x="1769632" y="651033"/>
                    <a:pt x="1762650" y="653925"/>
                    <a:pt x="1755370" y="653925"/>
                  </a:cubicBezTo>
                  <a:lnTo>
                    <a:pt x="27449" y="653925"/>
                  </a:lnTo>
                  <a:cubicBezTo>
                    <a:pt x="20169" y="653925"/>
                    <a:pt x="13187" y="651033"/>
                    <a:pt x="8040" y="645885"/>
                  </a:cubicBezTo>
                  <a:cubicBezTo>
                    <a:pt x="2892" y="640737"/>
                    <a:pt x="0" y="633756"/>
                    <a:pt x="0" y="626476"/>
                  </a:cubicBezTo>
                  <a:lnTo>
                    <a:pt x="0" y="27449"/>
                  </a:lnTo>
                  <a:cubicBezTo>
                    <a:pt x="0" y="20169"/>
                    <a:pt x="2892" y="13187"/>
                    <a:pt x="8040" y="8040"/>
                  </a:cubicBezTo>
                  <a:cubicBezTo>
                    <a:pt x="13187" y="2892"/>
                    <a:pt x="20169" y="0"/>
                    <a:pt x="2744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EA4">
                    <a:alpha val="100000"/>
                  </a:srgbClr>
                </a:gs>
                <a:gs pos="100000">
                  <a:srgbClr val="9ECED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782819" cy="711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3706387" y="6489031"/>
            <a:ext cx="8202286" cy="9327211"/>
          </a:xfrm>
          <a:custGeom>
            <a:avLst/>
            <a:gdLst/>
            <a:ahLst/>
            <a:cxnLst/>
            <a:rect r="r" b="b" t="t" l="l"/>
            <a:pathLst>
              <a:path h="9327211" w="8202286">
                <a:moveTo>
                  <a:pt x="0" y="0"/>
                </a:moveTo>
                <a:lnTo>
                  <a:pt x="8202286" y="0"/>
                </a:lnTo>
                <a:lnTo>
                  <a:pt x="8202286" y="9327211"/>
                </a:lnTo>
                <a:lnTo>
                  <a:pt x="0" y="93272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5759429" y="5582045"/>
            <a:ext cx="6769142" cy="3389856"/>
            <a:chOff x="0" y="0"/>
            <a:chExt cx="1782819" cy="89280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82819" cy="892802"/>
            </a:xfrm>
            <a:custGeom>
              <a:avLst/>
              <a:gdLst/>
              <a:ahLst/>
              <a:cxnLst/>
              <a:rect r="r" b="b" t="t" l="l"/>
              <a:pathLst>
                <a:path h="892802" w="1782819">
                  <a:moveTo>
                    <a:pt x="27449" y="0"/>
                  </a:moveTo>
                  <a:lnTo>
                    <a:pt x="1755370" y="0"/>
                  </a:lnTo>
                  <a:cubicBezTo>
                    <a:pt x="1762650" y="0"/>
                    <a:pt x="1769632" y="2892"/>
                    <a:pt x="1774780" y="8040"/>
                  </a:cubicBezTo>
                  <a:cubicBezTo>
                    <a:pt x="1779927" y="13187"/>
                    <a:pt x="1782819" y="20169"/>
                    <a:pt x="1782819" y="27449"/>
                  </a:cubicBezTo>
                  <a:lnTo>
                    <a:pt x="1782819" y="865353"/>
                  </a:lnTo>
                  <a:cubicBezTo>
                    <a:pt x="1782819" y="872633"/>
                    <a:pt x="1779927" y="879614"/>
                    <a:pt x="1774780" y="884762"/>
                  </a:cubicBezTo>
                  <a:cubicBezTo>
                    <a:pt x="1769632" y="889910"/>
                    <a:pt x="1762650" y="892802"/>
                    <a:pt x="1755370" y="892802"/>
                  </a:cubicBezTo>
                  <a:lnTo>
                    <a:pt x="27449" y="892802"/>
                  </a:lnTo>
                  <a:cubicBezTo>
                    <a:pt x="20169" y="892802"/>
                    <a:pt x="13187" y="889910"/>
                    <a:pt x="8040" y="884762"/>
                  </a:cubicBezTo>
                  <a:cubicBezTo>
                    <a:pt x="2892" y="879614"/>
                    <a:pt x="0" y="872633"/>
                    <a:pt x="0" y="865353"/>
                  </a:cubicBezTo>
                  <a:lnTo>
                    <a:pt x="0" y="27449"/>
                  </a:lnTo>
                  <a:cubicBezTo>
                    <a:pt x="0" y="20169"/>
                    <a:pt x="2892" y="13187"/>
                    <a:pt x="8040" y="8040"/>
                  </a:cubicBezTo>
                  <a:cubicBezTo>
                    <a:pt x="13187" y="2892"/>
                    <a:pt x="20169" y="0"/>
                    <a:pt x="2744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EA4">
                    <a:alpha val="100000"/>
                  </a:srgbClr>
                </a:gs>
                <a:gs pos="100000">
                  <a:srgbClr val="9ECED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782819" cy="949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466329" y="2905957"/>
            <a:ext cx="6090687" cy="663046"/>
            <a:chOff x="0" y="0"/>
            <a:chExt cx="1604132" cy="1746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04132" cy="174629"/>
            </a:xfrm>
            <a:custGeom>
              <a:avLst/>
              <a:gdLst/>
              <a:ahLst/>
              <a:cxnLst/>
              <a:rect r="r" b="b" t="t" l="l"/>
              <a:pathLst>
                <a:path h="174629" w="1604132">
                  <a:moveTo>
                    <a:pt x="24151" y="0"/>
                  </a:moveTo>
                  <a:lnTo>
                    <a:pt x="1579980" y="0"/>
                  </a:lnTo>
                  <a:cubicBezTo>
                    <a:pt x="1593319" y="0"/>
                    <a:pt x="1604132" y="10813"/>
                    <a:pt x="1604132" y="24151"/>
                  </a:cubicBezTo>
                  <a:lnTo>
                    <a:pt x="1604132" y="150478"/>
                  </a:lnTo>
                  <a:cubicBezTo>
                    <a:pt x="1604132" y="163817"/>
                    <a:pt x="1593319" y="174629"/>
                    <a:pt x="1579980" y="174629"/>
                  </a:cubicBezTo>
                  <a:lnTo>
                    <a:pt x="24151" y="174629"/>
                  </a:lnTo>
                  <a:cubicBezTo>
                    <a:pt x="10813" y="174629"/>
                    <a:pt x="0" y="163817"/>
                    <a:pt x="0" y="150478"/>
                  </a:cubicBezTo>
                  <a:lnTo>
                    <a:pt x="0" y="24151"/>
                  </a:lnTo>
                  <a:cubicBezTo>
                    <a:pt x="0" y="10813"/>
                    <a:pt x="10813" y="0"/>
                    <a:pt x="2415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604132" cy="231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730984" y="2904589"/>
            <a:ext cx="6090687" cy="663046"/>
            <a:chOff x="0" y="0"/>
            <a:chExt cx="1604132" cy="17462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04132" cy="174629"/>
            </a:xfrm>
            <a:custGeom>
              <a:avLst/>
              <a:gdLst/>
              <a:ahLst/>
              <a:cxnLst/>
              <a:rect r="r" b="b" t="t" l="l"/>
              <a:pathLst>
                <a:path h="174629" w="1604132">
                  <a:moveTo>
                    <a:pt x="24151" y="0"/>
                  </a:moveTo>
                  <a:lnTo>
                    <a:pt x="1579980" y="0"/>
                  </a:lnTo>
                  <a:cubicBezTo>
                    <a:pt x="1593319" y="0"/>
                    <a:pt x="1604132" y="10813"/>
                    <a:pt x="1604132" y="24151"/>
                  </a:cubicBezTo>
                  <a:lnTo>
                    <a:pt x="1604132" y="150478"/>
                  </a:lnTo>
                  <a:cubicBezTo>
                    <a:pt x="1604132" y="163817"/>
                    <a:pt x="1593319" y="174629"/>
                    <a:pt x="1579980" y="174629"/>
                  </a:cubicBezTo>
                  <a:lnTo>
                    <a:pt x="24151" y="174629"/>
                  </a:lnTo>
                  <a:cubicBezTo>
                    <a:pt x="10813" y="174629"/>
                    <a:pt x="0" y="163817"/>
                    <a:pt x="0" y="150478"/>
                  </a:cubicBezTo>
                  <a:lnTo>
                    <a:pt x="0" y="24151"/>
                  </a:lnTo>
                  <a:cubicBezTo>
                    <a:pt x="0" y="10813"/>
                    <a:pt x="10813" y="0"/>
                    <a:pt x="2415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604132" cy="231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098657" y="5843410"/>
            <a:ext cx="6090687" cy="663046"/>
            <a:chOff x="0" y="0"/>
            <a:chExt cx="1604132" cy="17462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04132" cy="174629"/>
            </a:xfrm>
            <a:custGeom>
              <a:avLst/>
              <a:gdLst/>
              <a:ahLst/>
              <a:cxnLst/>
              <a:rect r="r" b="b" t="t" l="l"/>
              <a:pathLst>
                <a:path h="174629" w="1604132">
                  <a:moveTo>
                    <a:pt x="24151" y="0"/>
                  </a:moveTo>
                  <a:lnTo>
                    <a:pt x="1579980" y="0"/>
                  </a:lnTo>
                  <a:cubicBezTo>
                    <a:pt x="1593319" y="0"/>
                    <a:pt x="1604132" y="10813"/>
                    <a:pt x="1604132" y="24151"/>
                  </a:cubicBezTo>
                  <a:lnTo>
                    <a:pt x="1604132" y="150478"/>
                  </a:lnTo>
                  <a:cubicBezTo>
                    <a:pt x="1604132" y="163817"/>
                    <a:pt x="1593319" y="174629"/>
                    <a:pt x="1579980" y="174629"/>
                  </a:cubicBezTo>
                  <a:lnTo>
                    <a:pt x="24151" y="174629"/>
                  </a:lnTo>
                  <a:cubicBezTo>
                    <a:pt x="10813" y="174629"/>
                    <a:pt x="0" y="163817"/>
                    <a:pt x="0" y="150478"/>
                  </a:cubicBezTo>
                  <a:lnTo>
                    <a:pt x="0" y="24151"/>
                  </a:lnTo>
                  <a:cubicBezTo>
                    <a:pt x="0" y="10813"/>
                    <a:pt x="10813" y="0"/>
                    <a:pt x="2415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604132" cy="231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972951" y="3735249"/>
            <a:ext cx="4908481" cy="758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7062" indent="-208531" lvl="1">
              <a:lnSpc>
                <a:spcPts val="3098"/>
              </a:lnSpc>
              <a:buFont typeface="Arial"/>
              <a:buChar char="•"/>
            </a:pPr>
            <a:r>
              <a:rPr lang="en-US" sz="1931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18Ah battery capacity.</a:t>
            </a:r>
          </a:p>
          <a:p>
            <a:pPr algn="l">
              <a:lnSpc>
                <a:spcPts val="3098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9972951" y="3035344"/>
            <a:ext cx="5905870" cy="381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8"/>
              </a:lnSpc>
            </a:pPr>
            <a:r>
              <a:rPr lang="en-US" b="true" sz="2249">
                <a:solidFill>
                  <a:srgbClr val="60BC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Large Battery Capacity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813732" y="874394"/>
            <a:ext cx="10959652" cy="666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5"/>
              </a:lnSpc>
            </a:pPr>
            <a:r>
              <a:rPr lang="en-US" b="true" sz="388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Power Management System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3348068" y="-4607409"/>
            <a:ext cx="8202286" cy="9327211"/>
          </a:xfrm>
          <a:custGeom>
            <a:avLst/>
            <a:gdLst/>
            <a:ahLst/>
            <a:cxnLst/>
            <a:rect r="r" b="b" t="t" l="l"/>
            <a:pathLst>
              <a:path h="9327211" w="8202286">
                <a:moveTo>
                  <a:pt x="0" y="0"/>
                </a:moveTo>
                <a:lnTo>
                  <a:pt x="8202285" y="0"/>
                </a:lnTo>
                <a:lnTo>
                  <a:pt x="8202285" y="9327212"/>
                </a:lnTo>
                <a:lnTo>
                  <a:pt x="0" y="9327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3131243" y="5463427"/>
            <a:ext cx="4317968" cy="3627093"/>
          </a:xfrm>
          <a:custGeom>
            <a:avLst/>
            <a:gdLst/>
            <a:ahLst/>
            <a:cxnLst/>
            <a:rect r="r" b="b" t="t" l="l"/>
            <a:pathLst>
              <a:path h="3627093" w="4317968">
                <a:moveTo>
                  <a:pt x="0" y="0"/>
                </a:moveTo>
                <a:lnTo>
                  <a:pt x="4317967" y="0"/>
                </a:lnTo>
                <a:lnTo>
                  <a:pt x="4317967" y="3627093"/>
                </a:lnTo>
                <a:lnTo>
                  <a:pt x="0" y="36270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40530" t="-89218" r="-26300" b="-49022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2708295" y="3736617"/>
            <a:ext cx="4908481" cy="758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7062" indent="-208531" lvl="1">
              <a:lnSpc>
                <a:spcPts val="3098"/>
              </a:lnSpc>
              <a:buFont typeface="Arial"/>
              <a:buChar char="•"/>
            </a:pPr>
            <a:r>
              <a:rPr lang="en-US" sz="1931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100W solar panel.</a:t>
            </a:r>
          </a:p>
          <a:p>
            <a:pPr algn="l" marL="417062" indent="-208531" lvl="1">
              <a:lnSpc>
                <a:spcPts val="3098"/>
              </a:lnSpc>
              <a:buFont typeface="Arial"/>
              <a:buChar char="•"/>
            </a:pPr>
            <a:r>
              <a:rPr lang="en-US" sz="1931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Battery recharge during daytime.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340623" y="6668381"/>
            <a:ext cx="5457446" cy="1929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7062" indent="-208531" lvl="1">
              <a:lnSpc>
                <a:spcPts val="3098"/>
              </a:lnSpc>
              <a:buFont typeface="Arial"/>
              <a:buChar char="•"/>
            </a:pPr>
            <a:r>
              <a:rPr lang="en-US" sz="1931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Solar charge controller</a:t>
            </a:r>
          </a:p>
          <a:p>
            <a:pPr algn="l" marL="417062" indent="-208531" lvl="1">
              <a:lnSpc>
                <a:spcPts val="3098"/>
              </a:lnSpc>
              <a:buFont typeface="Arial"/>
              <a:buChar char="•"/>
            </a:pPr>
            <a:r>
              <a:rPr lang="en-US" sz="1931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Automatically turns off the system when the battery is too low</a:t>
            </a:r>
          </a:p>
          <a:p>
            <a:pPr algn="l" marL="417062" indent="-208531" lvl="1">
              <a:lnSpc>
                <a:spcPts val="3098"/>
              </a:lnSpc>
              <a:buFont typeface="Arial"/>
              <a:buChar char="•"/>
            </a:pPr>
            <a:r>
              <a:rPr lang="en-US" sz="1931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Turns back on when the battery recharges to a safe level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708295" y="3036712"/>
            <a:ext cx="5905870" cy="381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8"/>
              </a:lnSpc>
            </a:pPr>
            <a:r>
              <a:rPr lang="en-US" b="true" sz="2249">
                <a:solidFill>
                  <a:srgbClr val="60BC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Solar Powered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340623" y="5974165"/>
            <a:ext cx="5905870" cy="381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8"/>
              </a:lnSpc>
            </a:pPr>
            <a:r>
              <a:rPr lang="en-US" b="true" sz="2249">
                <a:solidFill>
                  <a:srgbClr val="60BC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Power Management</a:t>
            </a:r>
          </a:p>
        </p:txBody>
      </p:sp>
    </p:spTree>
  </p:cSld>
  <p:clrMapOvr>
    <a:masterClrMapping/>
  </p:clrMapOvr>
  <p:transition spd="slow">
    <p:cover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31210" y="4918885"/>
            <a:ext cx="8202286" cy="9327211"/>
          </a:xfrm>
          <a:custGeom>
            <a:avLst/>
            <a:gdLst/>
            <a:ahLst/>
            <a:cxnLst/>
            <a:rect r="r" b="b" t="t" l="l"/>
            <a:pathLst>
              <a:path h="9327211" w="8202286">
                <a:moveTo>
                  <a:pt x="0" y="0"/>
                </a:moveTo>
                <a:lnTo>
                  <a:pt x="8202286" y="0"/>
                </a:lnTo>
                <a:lnTo>
                  <a:pt x="8202286" y="9327212"/>
                </a:lnTo>
                <a:lnTo>
                  <a:pt x="0" y="9327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076964" y="2024922"/>
            <a:ext cx="4474411" cy="2893963"/>
            <a:chOff x="0" y="0"/>
            <a:chExt cx="1178446" cy="76219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78446" cy="762196"/>
            </a:xfrm>
            <a:custGeom>
              <a:avLst/>
              <a:gdLst/>
              <a:ahLst/>
              <a:cxnLst/>
              <a:rect r="r" b="b" t="t" l="l"/>
              <a:pathLst>
                <a:path h="762196" w="1178446">
                  <a:moveTo>
                    <a:pt x="41526" y="0"/>
                  </a:moveTo>
                  <a:lnTo>
                    <a:pt x="1136919" y="0"/>
                  </a:lnTo>
                  <a:cubicBezTo>
                    <a:pt x="1147933" y="0"/>
                    <a:pt x="1158495" y="4375"/>
                    <a:pt x="1166283" y="12163"/>
                  </a:cubicBezTo>
                  <a:cubicBezTo>
                    <a:pt x="1174071" y="19950"/>
                    <a:pt x="1178446" y="30513"/>
                    <a:pt x="1178446" y="41526"/>
                  </a:cubicBezTo>
                  <a:lnTo>
                    <a:pt x="1178446" y="720670"/>
                  </a:lnTo>
                  <a:cubicBezTo>
                    <a:pt x="1178446" y="731683"/>
                    <a:pt x="1174071" y="742246"/>
                    <a:pt x="1166283" y="750033"/>
                  </a:cubicBezTo>
                  <a:cubicBezTo>
                    <a:pt x="1158495" y="757821"/>
                    <a:pt x="1147933" y="762196"/>
                    <a:pt x="1136919" y="762196"/>
                  </a:cubicBezTo>
                  <a:lnTo>
                    <a:pt x="41526" y="762196"/>
                  </a:lnTo>
                  <a:cubicBezTo>
                    <a:pt x="30513" y="762196"/>
                    <a:pt x="19950" y="757821"/>
                    <a:pt x="12163" y="750033"/>
                  </a:cubicBezTo>
                  <a:cubicBezTo>
                    <a:pt x="4375" y="742246"/>
                    <a:pt x="0" y="731683"/>
                    <a:pt x="0" y="720670"/>
                  </a:cubicBezTo>
                  <a:lnTo>
                    <a:pt x="0" y="41526"/>
                  </a:lnTo>
                  <a:cubicBezTo>
                    <a:pt x="0" y="30513"/>
                    <a:pt x="4375" y="19950"/>
                    <a:pt x="12163" y="12163"/>
                  </a:cubicBezTo>
                  <a:cubicBezTo>
                    <a:pt x="19950" y="4375"/>
                    <a:pt x="30513" y="0"/>
                    <a:pt x="4152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EA4">
                    <a:alpha val="100000"/>
                  </a:srgbClr>
                </a:gs>
                <a:gs pos="100000">
                  <a:srgbClr val="9ECED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178446" cy="8193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928838" y="2024922"/>
            <a:ext cx="4474411" cy="2893963"/>
            <a:chOff x="0" y="0"/>
            <a:chExt cx="1178446" cy="7621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78446" cy="762196"/>
            </a:xfrm>
            <a:custGeom>
              <a:avLst/>
              <a:gdLst/>
              <a:ahLst/>
              <a:cxnLst/>
              <a:rect r="r" b="b" t="t" l="l"/>
              <a:pathLst>
                <a:path h="762196" w="1178446">
                  <a:moveTo>
                    <a:pt x="41526" y="0"/>
                  </a:moveTo>
                  <a:lnTo>
                    <a:pt x="1136919" y="0"/>
                  </a:lnTo>
                  <a:cubicBezTo>
                    <a:pt x="1147933" y="0"/>
                    <a:pt x="1158495" y="4375"/>
                    <a:pt x="1166283" y="12163"/>
                  </a:cubicBezTo>
                  <a:cubicBezTo>
                    <a:pt x="1174071" y="19950"/>
                    <a:pt x="1178446" y="30513"/>
                    <a:pt x="1178446" y="41526"/>
                  </a:cubicBezTo>
                  <a:lnTo>
                    <a:pt x="1178446" y="720670"/>
                  </a:lnTo>
                  <a:cubicBezTo>
                    <a:pt x="1178446" y="731683"/>
                    <a:pt x="1174071" y="742246"/>
                    <a:pt x="1166283" y="750033"/>
                  </a:cubicBezTo>
                  <a:cubicBezTo>
                    <a:pt x="1158495" y="757821"/>
                    <a:pt x="1147933" y="762196"/>
                    <a:pt x="1136919" y="762196"/>
                  </a:cubicBezTo>
                  <a:lnTo>
                    <a:pt x="41526" y="762196"/>
                  </a:lnTo>
                  <a:cubicBezTo>
                    <a:pt x="30513" y="762196"/>
                    <a:pt x="19950" y="757821"/>
                    <a:pt x="12163" y="750033"/>
                  </a:cubicBezTo>
                  <a:cubicBezTo>
                    <a:pt x="4375" y="742246"/>
                    <a:pt x="0" y="731683"/>
                    <a:pt x="0" y="720670"/>
                  </a:cubicBezTo>
                  <a:lnTo>
                    <a:pt x="0" y="41526"/>
                  </a:lnTo>
                  <a:cubicBezTo>
                    <a:pt x="0" y="30513"/>
                    <a:pt x="4375" y="19950"/>
                    <a:pt x="12163" y="12163"/>
                  </a:cubicBezTo>
                  <a:cubicBezTo>
                    <a:pt x="19950" y="4375"/>
                    <a:pt x="30513" y="0"/>
                    <a:pt x="4152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EA4">
                    <a:alpha val="100000"/>
                  </a:srgbClr>
                </a:gs>
                <a:gs pos="100000">
                  <a:srgbClr val="9ECED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178446" cy="8193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736625" y="2024922"/>
            <a:ext cx="4474411" cy="2893963"/>
            <a:chOff x="0" y="0"/>
            <a:chExt cx="1178446" cy="76219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78446" cy="762196"/>
            </a:xfrm>
            <a:custGeom>
              <a:avLst/>
              <a:gdLst/>
              <a:ahLst/>
              <a:cxnLst/>
              <a:rect r="r" b="b" t="t" l="l"/>
              <a:pathLst>
                <a:path h="762196" w="1178446">
                  <a:moveTo>
                    <a:pt x="41526" y="0"/>
                  </a:moveTo>
                  <a:lnTo>
                    <a:pt x="1136919" y="0"/>
                  </a:lnTo>
                  <a:cubicBezTo>
                    <a:pt x="1147933" y="0"/>
                    <a:pt x="1158495" y="4375"/>
                    <a:pt x="1166283" y="12163"/>
                  </a:cubicBezTo>
                  <a:cubicBezTo>
                    <a:pt x="1174071" y="19950"/>
                    <a:pt x="1178446" y="30513"/>
                    <a:pt x="1178446" y="41526"/>
                  </a:cubicBezTo>
                  <a:lnTo>
                    <a:pt x="1178446" y="720670"/>
                  </a:lnTo>
                  <a:cubicBezTo>
                    <a:pt x="1178446" y="731683"/>
                    <a:pt x="1174071" y="742246"/>
                    <a:pt x="1166283" y="750033"/>
                  </a:cubicBezTo>
                  <a:cubicBezTo>
                    <a:pt x="1158495" y="757821"/>
                    <a:pt x="1147933" y="762196"/>
                    <a:pt x="1136919" y="762196"/>
                  </a:cubicBezTo>
                  <a:lnTo>
                    <a:pt x="41526" y="762196"/>
                  </a:lnTo>
                  <a:cubicBezTo>
                    <a:pt x="30513" y="762196"/>
                    <a:pt x="19950" y="757821"/>
                    <a:pt x="12163" y="750033"/>
                  </a:cubicBezTo>
                  <a:cubicBezTo>
                    <a:pt x="4375" y="742246"/>
                    <a:pt x="0" y="731683"/>
                    <a:pt x="0" y="720670"/>
                  </a:cubicBezTo>
                  <a:lnTo>
                    <a:pt x="0" y="41526"/>
                  </a:lnTo>
                  <a:cubicBezTo>
                    <a:pt x="0" y="30513"/>
                    <a:pt x="4375" y="19950"/>
                    <a:pt x="12163" y="12163"/>
                  </a:cubicBezTo>
                  <a:cubicBezTo>
                    <a:pt x="19950" y="4375"/>
                    <a:pt x="30513" y="0"/>
                    <a:pt x="4152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EA4">
                    <a:alpha val="100000"/>
                  </a:srgbClr>
                </a:gs>
                <a:gs pos="100000">
                  <a:srgbClr val="9ECED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178446" cy="8193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365562" y="2921439"/>
            <a:ext cx="3915576" cy="680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2402" indent="-191201" lvl="1">
              <a:lnSpc>
                <a:spcPts val="2841"/>
              </a:lnSpc>
              <a:buFont typeface="Arial"/>
              <a:buChar char="•"/>
            </a:pPr>
            <a:r>
              <a:rPr lang="en-US" sz="1771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Notification</a:t>
            </a:r>
          </a:p>
          <a:p>
            <a:pPr algn="l" marL="382402" indent="-191201" lvl="1">
              <a:lnSpc>
                <a:spcPts val="2841"/>
              </a:lnSpc>
              <a:buFont typeface="Arial"/>
              <a:buChar char="•"/>
            </a:pPr>
            <a:r>
              <a:rPr lang="en-US" sz="1771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Live updates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16692" y="2225652"/>
            <a:ext cx="4474411" cy="381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8"/>
              </a:lnSpc>
            </a:pPr>
            <a:r>
              <a:rPr lang="en-US" b="true" sz="224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Live on Telegram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833430" y="952500"/>
            <a:ext cx="10959652" cy="666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5"/>
              </a:lnSpc>
            </a:pPr>
            <a:r>
              <a:rPr lang="en-US" b="true" sz="388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Alert and Logging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-2941137" y="-3819262"/>
            <a:ext cx="8202286" cy="9327211"/>
          </a:xfrm>
          <a:custGeom>
            <a:avLst/>
            <a:gdLst/>
            <a:ahLst/>
            <a:cxnLst/>
            <a:rect r="r" b="b" t="t" l="l"/>
            <a:pathLst>
              <a:path h="9327211" w="8202286">
                <a:moveTo>
                  <a:pt x="0" y="0"/>
                </a:moveTo>
                <a:lnTo>
                  <a:pt x="8202286" y="0"/>
                </a:lnTo>
                <a:lnTo>
                  <a:pt x="8202286" y="9327211"/>
                </a:lnTo>
                <a:lnTo>
                  <a:pt x="0" y="93272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46068" y="5204635"/>
            <a:ext cx="6255463" cy="4668139"/>
          </a:xfrm>
          <a:custGeom>
            <a:avLst/>
            <a:gdLst/>
            <a:ahLst/>
            <a:cxnLst/>
            <a:rect r="r" b="b" t="t" l="l"/>
            <a:pathLst>
              <a:path h="4668139" w="6255463">
                <a:moveTo>
                  <a:pt x="0" y="0"/>
                </a:moveTo>
                <a:lnTo>
                  <a:pt x="6255463" y="0"/>
                </a:lnTo>
                <a:lnTo>
                  <a:pt x="6255463" y="4668140"/>
                </a:lnTo>
                <a:lnTo>
                  <a:pt x="0" y="46681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172634" y="5204635"/>
            <a:ext cx="8807810" cy="4668139"/>
          </a:xfrm>
          <a:custGeom>
            <a:avLst/>
            <a:gdLst/>
            <a:ahLst/>
            <a:cxnLst/>
            <a:rect r="r" b="b" t="t" l="l"/>
            <a:pathLst>
              <a:path h="4668139" w="8807810">
                <a:moveTo>
                  <a:pt x="0" y="0"/>
                </a:moveTo>
                <a:lnTo>
                  <a:pt x="8807810" y="0"/>
                </a:lnTo>
                <a:lnTo>
                  <a:pt x="8807810" y="4668140"/>
                </a:lnTo>
                <a:lnTo>
                  <a:pt x="0" y="46681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7253972" y="2804428"/>
            <a:ext cx="3838244" cy="1548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8029" indent="-209014" lvl="1">
              <a:lnSpc>
                <a:spcPts val="3105"/>
              </a:lnSpc>
              <a:buFont typeface="Arial"/>
              <a:buChar char="•"/>
            </a:pPr>
            <a:r>
              <a:rPr lang="en-US" sz="1936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Detection data.</a:t>
            </a:r>
          </a:p>
          <a:p>
            <a:pPr algn="l" marL="418029" indent="-209014" lvl="1">
              <a:lnSpc>
                <a:spcPts val="3105"/>
              </a:lnSpc>
              <a:buFont typeface="Arial"/>
              <a:buChar char="•"/>
            </a:pPr>
            <a:r>
              <a:rPr lang="en-US" sz="1936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Timestamp</a:t>
            </a:r>
          </a:p>
          <a:p>
            <a:pPr algn="l" marL="418029" indent="-209014" lvl="1">
              <a:lnSpc>
                <a:spcPts val="3105"/>
              </a:lnSpc>
              <a:buFont typeface="Arial"/>
              <a:buChar char="•"/>
            </a:pPr>
            <a:r>
              <a:rPr lang="en-US" sz="1936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Handshake</a:t>
            </a:r>
          </a:p>
          <a:p>
            <a:pPr algn="l" marL="418029" indent="-209014" lvl="1">
              <a:lnSpc>
                <a:spcPts val="3105"/>
              </a:lnSpc>
              <a:buFont typeface="Arial"/>
              <a:buChar char="•"/>
            </a:pPr>
            <a:r>
              <a:rPr lang="en-US" sz="1936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Data protection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054708" y="2804428"/>
            <a:ext cx="3838244" cy="1157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8029" indent="-209014" lvl="1">
              <a:lnSpc>
                <a:spcPts val="3105"/>
              </a:lnSpc>
              <a:buFont typeface="Arial"/>
              <a:buChar char="•"/>
            </a:pPr>
            <a:r>
              <a:rPr lang="en-US" sz="1936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Save unsent data.</a:t>
            </a:r>
          </a:p>
          <a:p>
            <a:pPr algn="l" marL="418029" indent="-209014" lvl="1">
              <a:lnSpc>
                <a:spcPts val="3105"/>
              </a:lnSpc>
              <a:buFont typeface="Arial"/>
              <a:buChar char="•"/>
            </a:pPr>
            <a:r>
              <a:rPr lang="en-US" sz="1936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Error Logging</a:t>
            </a:r>
          </a:p>
          <a:p>
            <a:pPr algn="l" marL="418029" indent="-209014" lvl="1">
              <a:lnSpc>
                <a:spcPts val="3105"/>
              </a:lnSpc>
              <a:buFont typeface="Arial"/>
              <a:buChar char="•"/>
            </a:pPr>
            <a:r>
              <a:rPr lang="en-US" sz="1936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Ease debugging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928838" y="2225652"/>
            <a:ext cx="4474411" cy="381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8"/>
              </a:lnSpc>
            </a:pPr>
            <a:r>
              <a:rPr lang="en-US" b="true" sz="224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Access through Website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736625" y="2225652"/>
            <a:ext cx="4474411" cy="381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8"/>
              </a:lnSpc>
            </a:pPr>
            <a:r>
              <a:rPr lang="en-US" b="true" sz="224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Logging System Locally</a:t>
            </a:r>
          </a:p>
        </p:txBody>
      </p:sp>
    </p:spTree>
  </p:cSld>
  <p:clrMapOvr>
    <a:masterClrMapping/>
  </p:clrMapOvr>
  <p:transition spd="fast">
    <p:wipe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706387" y="6489031"/>
            <a:ext cx="8202286" cy="9327211"/>
          </a:xfrm>
          <a:custGeom>
            <a:avLst/>
            <a:gdLst/>
            <a:ahLst/>
            <a:cxnLst/>
            <a:rect r="r" b="b" t="t" l="l"/>
            <a:pathLst>
              <a:path h="9327211" w="8202286">
                <a:moveTo>
                  <a:pt x="0" y="0"/>
                </a:moveTo>
                <a:lnTo>
                  <a:pt x="8202286" y="0"/>
                </a:lnTo>
                <a:lnTo>
                  <a:pt x="8202286" y="9327211"/>
                </a:lnTo>
                <a:lnTo>
                  <a:pt x="0" y="93272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08295" y="4662653"/>
            <a:ext cx="4908481" cy="842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6"/>
              </a:lnSpc>
            </a:pPr>
            <a:r>
              <a:rPr lang="en-US" sz="1431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Deforestation, urbanization, and climate change are rapidly destroying natural habitats, putting many species at risk of extinction.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525244" y="4241237"/>
            <a:ext cx="11237512" cy="87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95"/>
              </a:lnSpc>
            </a:pPr>
            <a:r>
              <a:rPr lang="en-US" b="true" sz="521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System Performance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3348068" y="-4607409"/>
            <a:ext cx="8202286" cy="9327211"/>
          </a:xfrm>
          <a:custGeom>
            <a:avLst/>
            <a:gdLst/>
            <a:ahLst/>
            <a:cxnLst/>
            <a:rect r="r" b="b" t="t" l="l"/>
            <a:pathLst>
              <a:path h="9327211" w="8202286">
                <a:moveTo>
                  <a:pt x="0" y="0"/>
                </a:moveTo>
                <a:lnTo>
                  <a:pt x="8202285" y="0"/>
                </a:lnTo>
                <a:lnTo>
                  <a:pt x="8202285" y="9327212"/>
                </a:lnTo>
                <a:lnTo>
                  <a:pt x="0" y="9327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679946" y="5553660"/>
            <a:ext cx="2082810" cy="1870742"/>
          </a:xfrm>
          <a:custGeom>
            <a:avLst/>
            <a:gdLst/>
            <a:ahLst/>
            <a:cxnLst/>
            <a:rect r="r" b="b" t="t" l="l"/>
            <a:pathLst>
              <a:path h="1870742" w="2082810">
                <a:moveTo>
                  <a:pt x="0" y="0"/>
                </a:moveTo>
                <a:lnTo>
                  <a:pt x="2082810" y="0"/>
                </a:lnTo>
                <a:lnTo>
                  <a:pt x="2082810" y="1870742"/>
                </a:lnTo>
                <a:lnTo>
                  <a:pt x="0" y="18707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cover dir="d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4665" y="2542614"/>
            <a:ext cx="6669141" cy="1826119"/>
            <a:chOff x="0" y="0"/>
            <a:chExt cx="1782819" cy="4881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82819" cy="488165"/>
            </a:xfrm>
            <a:custGeom>
              <a:avLst/>
              <a:gdLst/>
              <a:ahLst/>
              <a:cxnLst/>
              <a:rect r="r" b="b" t="t" l="l"/>
              <a:pathLst>
                <a:path h="488165" w="1782819">
                  <a:moveTo>
                    <a:pt x="27861" y="0"/>
                  </a:moveTo>
                  <a:lnTo>
                    <a:pt x="1754959" y="0"/>
                  </a:lnTo>
                  <a:cubicBezTo>
                    <a:pt x="1762348" y="0"/>
                    <a:pt x="1769434" y="2935"/>
                    <a:pt x="1774659" y="8160"/>
                  </a:cubicBezTo>
                  <a:cubicBezTo>
                    <a:pt x="1779884" y="13385"/>
                    <a:pt x="1782819" y="20471"/>
                    <a:pt x="1782819" y="27861"/>
                  </a:cubicBezTo>
                  <a:lnTo>
                    <a:pt x="1782819" y="460304"/>
                  </a:lnTo>
                  <a:cubicBezTo>
                    <a:pt x="1782819" y="475691"/>
                    <a:pt x="1770346" y="488165"/>
                    <a:pt x="1754959" y="488165"/>
                  </a:cubicBezTo>
                  <a:lnTo>
                    <a:pt x="27861" y="488165"/>
                  </a:lnTo>
                  <a:cubicBezTo>
                    <a:pt x="12474" y="488165"/>
                    <a:pt x="0" y="475691"/>
                    <a:pt x="0" y="460304"/>
                  </a:cubicBezTo>
                  <a:lnTo>
                    <a:pt x="0" y="27861"/>
                  </a:lnTo>
                  <a:cubicBezTo>
                    <a:pt x="0" y="12474"/>
                    <a:pt x="12474" y="0"/>
                    <a:pt x="2786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EA4">
                    <a:alpha val="100000"/>
                  </a:srgbClr>
                </a:gs>
                <a:gs pos="100000">
                  <a:srgbClr val="9ECED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782819" cy="5453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09356" y="2800117"/>
            <a:ext cx="7236743" cy="2027405"/>
            <a:chOff x="0" y="0"/>
            <a:chExt cx="1782819" cy="4994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82819" cy="499465"/>
            </a:xfrm>
            <a:custGeom>
              <a:avLst/>
              <a:gdLst/>
              <a:ahLst/>
              <a:cxnLst/>
              <a:rect r="r" b="b" t="t" l="l"/>
              <a:pathLst>
                <a:path h="499465" w="1782819">
                  <a:moveTo>
                    <a:pt x="25675" y="0"/>
                  </a:moveTo>
                  <a:lnTo>
                    <a:pt x="1757144" y="0"/>
                  </a:lnTo>
                  <a:cubicBezTo>
                    <a:pt x="1763953" y="0"/>
                    <a:pt x="1770484" y="2705"/>
                    <a:pt x="1775299" y="7520"/>
                  </a:cubicBezTo>
                  <a:cubicBezTo>
                    <a:pt x="1780114" y="12335"/>
                    <a:pt x="1782819" y="18866"/>
                    <a:pt x="1782819" y="25675"/>
                  </a:cubicBezTo>
                  <a:lnTo>
                    <a:pt x="1782819" y="473789"/>
                  </a:lnTo>
                  <a:cubicBezTo>
                    <a:pt x="1782819" y="487969"/>
                    <a:pt x="1771324" y="499465"/>
                    <a:pt x="1757144" y="499465"/>
                  </a:cubicBezTo>
                  <a:lnTo>
                    <a:pt x="25675" y="499465"/>
                  </a:lnTo>
                  <a:cubicBezTo>
                    <a:pt x="11495" y="499465"/>
                    <a:pt x="0" y="487969"/>
                    <a:pt x="0" y="473789"/>
                  </a:cubicBezTo>
                  <a:lnTo>
                    <a:pt x="0" y="25675"/>
                  </a:lnTo>
                  <a:cubicBezTo>
                    <a:pt x="0" y="11495"/>
                    <a:pt x="11495" y="0"/>
                    <a:pt x="2567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EA4">
                    <a:alpha val="100000"/>
                  </a:srgbClr>
                </a:gs>
                <a:gs pos="100000">
                  <a:srgbClr val="9ECED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782819" cy="556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3283817" y="6338893"/>
            <a:ext cx="8202286" cy="9327211"/>
          </a:xfrm>
          <a:custGeom>
            <a:avLst/>
            <a:gdLst/>
            <a:ahLst/>
            <a:cxnLst/>
            <a:rect r="r" b="b" t="t" l="l"/>
            <a:pathLst>
              <a:path h="9327211" w="8202286">
                <a:moveTo>
                  <a:pt x="0" y="0"/>
                </a:moveTo>
                <a:lnTo>
                  <a:pt x="8202286" y="0"/>
                </a:lnTo>
                <a:lnTo>
                  <a:pt x="8202286" y="9327211"/>
                </a:lnTo>
                <a:lnTo>
                  <a:pt x="0" y="93272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2485662" y="7422251"/>
            <a:ext cx="6423694" cy="2273878"/>
            <a:chOff x="0" y="0"/>
            <a:chExt cx="1691837" cy="5988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91837" cy="598881"/>
            </a:xfrm>
            <a:custGeom>
              <a:avLst/>
              <a:gdLst/>
              <a:ahLst/>
              <a:cxnLst/>
              <a:rect r="r" b="b" t="t" l="l"/>
              <a:pathLst>
                <a:path h="598881" w="1691837">
                  <a:moveTo>
                    <a:pt x="28925" y="0"/>
                  </a:moveTo>
                  <a:lnTo>
                    <a:pt x="1662912" y="0"/>
                  </a:lnTo>
                  <a:cubicBezTo>
                    <a:pt x="1678887" y="0"/>
                    <a:pt x="1691837" y="12950"/>
                    <a:pt x="1691837" y="28925"/>
                  </a:cubicBezTo>
                  <a:lnTo>
                    <a:pt x="1691837" y="569956"/>
                  </a:lnTo>
                  <a:cubicBezTo>
                    <a:pt x="1691837" y="585931"/>
                    <a:pt x="1678887" y="598881"/>
                    <a:pt x="1662912" y="598881"/>
                  </a:cubicBezTo>
                  <a:lnTo>
                    <a:pt x="28925" y="598881"/>
                  </a:lnTo>
                  <a:cubicBezTo>
                    <a:pt x="12950" y="598881"/>
                    <a:pt x="0" y="585931"/>
                    <a:pt x="0" y="569956"/>
                  </a:cubicBezTo>
                  <a:lnTo>
                    <a:pt x="0" y="28925"/>
                  </a:lnTo>
                  <a:cubicBezTo>
                    <a:pt x="0" y="12950"/>
                    <a:pt x="12950" y="0"/>
                    <a:pt x="2892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EA4">
                    <a:alpha val="100000"/>
                  </a:srgbClr>
                </a:gs>
                <a:gs pos="100000">
                  <a:srgbClr val="9ECED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691837" cy="6560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948881" y="2800117"/>
            <a:ext cx="6000708" cy="653251"/>
            <a:chOff x="0" y="0"/>
            <a:chExt cx="1604132" cy="1746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04132" cy="174629"/>
            </a:xfrm>
            <a:custGeom>
              <a:avLst/>
              <a:gdLst/>
              <a:ahLst/>
              <a:cxnLst/>
              <a:rect r="r" b="b" t="t" l="l"/>
              <a:pathLst>
                <a:path h="174629" w="1604132">
                  <a:moveTo>
                    <a:pt x="24513" y="0"/>
                  </a:moveTo>
                  <a:lnTo>
                    <a:pt x="1579618" y="0"/>
                  </a:lnTo>
                  <a:cubicBezTo>
                    <a:pt x="1593157" y="0"/>
                    <a:pt x="1604132" y="10975"/>
                    <a:pt x="1604132" y="24513"/>
                  </a:cubicBezTo>
                  <a:lnTo>
                    <a:pt x="1604132" y="150116"/>
                  </a:lnTo>
                  <a:cubicBezTo>
                    <a:pt x="1604132" y="163654"/>
                    <a:pt x="1593157" y="174629"/>
                    <a:pt x="1579618" y="174629"/>
                  </a:cubicBezTo>
                  <a:lnTo>
                    <a:pt x="24513" y="174629"/>
                  </a:lnTo>
                  <a:cubicBezTo>
                    <a:pt x="10975" y="174629"/>
                    <a:pt x="0" y="163654"/>
                    <a:pt x="0" y="150116"/>
                  </a:cubicBezTo>
                  <a:lnTo>
                    <a:pt x="0" y="24513"/>
                  </a:lnTo>
                  <a:cubicBezTo>
                    <a:pt x="0" y="10975"/>
                    <a:pt x="10975" y="0"/>
                    <a:pt x="2451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604132" cy="231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272159" y="3000973"/>
            <a:ext cx="6511421" cy="708848"/>
            <a:chOff x="0" y="0"/>
            <a:chExt cx="1604132" cy="17462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04132" cy="174629"/>
            </a:xfrm>
            <a:custGeom>
              <a:avLst/>
              <a:gdLst/>
              <a:ahLst/>
              <a:cxnLst/>
              <a:rect r="r" b="b" t="t" l="l"/>
              <a:pathLst>
                <a:path h="174629" w="1604132">
                  <a:moveTo>
                    <a:pt x="22591" y="0"/>
                  </a:moveTo>
                  <a:lnTo>
                    <a:pt x="1581541" y="0"/>
                  </a:lnTo>
                  <a:cubicBezTo>
                    <a:pt x="1594017" y="0"/>
                    <a:pt x="1604132" y="10114"/>
                    <a:pt x="1604132" y="22591"/>
                  </a:cubicBezTo>
                  <a:lnTo>
                    <a:pt x="1604132" y="152039"/>
                  </a:lnTo>
                  <a:cubicBezTo>
                    <a:pt x="1604132" y="164515"/>
                    <a:pt x="1594017" y="174629"/>
                    <a:pt x="1581541" y="174629"/>
                  </a:cubicBezTo>
                  <a:lnTo>
                    <a:pt x="22591" y="174629"/>
                  </a:lnTo>
                  <a:cubicBezTo>
                    <a:pt x="10114" y="174629"/>
                    <a:pt x="0" y="164515"/>
                    <a:pt x="0" y="152039"/>
                  </a:cubicBezTo>
                  <a:lnTo>
                    <a:pt x="0" y="22591"/>
                  </a:lnTo>
                  <a:cubicBezTo>
                    <a:pt x="0" y="10114"/>
                    <a:pt x="10114" y="0"/>
                    <a:pt x="2259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604132" cy="231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824890" y="7683616"/>
            <a:ext cx="5762550" cy="663046"/>
            <a:chOff x="0" y="0"/>
            <a:chExt cx="1517709" cy="17462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17709" cy="174629"/>
            </a:xfrm>
            <a:custGeom>
              <a:avLst/>
              <a:gdLst/>
              <a:ahLst/>
              <a:cxnLst/>
              <a:rect r="r" b="b" t="t" l="l"/>
              <a:pathLst>
                <a:path h="174629" w="1517709">
                  <a:moveTo>
                    <a:pt x="25526" y="0"/>
                  </a:moveTo>
                  <a:lnTo>
                    <a:pt x="1492182" y="0"/>
                  </a:lnTo>
                  <a:cubicBezTo>
                    <a:pt x="1506280" y="0"/>
                    <a:pt x="1517709" y="11429"/>
                    <a:pt x="1517709" y="25526"/>
                  </a:cubicBezTo>
                  <a:lnTo>
                    <a:pt x="1517709" y="149103"/>
                  </a:lnTo>
                  <a:cubicBezTo>
                    <a:pt x="1517709" y="163201"/>
                    <a:pt x="1506280" y="174629"/>
                    <a:pt x="1492182" y="174629"/>
                  </a:cubicBezTo>
                  <a:lnTo>
                    <a:pt x="25526" y="174629"/>
                  </a:lnTo>
                  <a:cubicBezTo>
                    <a:pt x="11429" y="174629"/>
                    <a:pt x="0" y="163201"/>
                    <a:pt x="0" y="149103"/>
                  </a:cubicBezTo>
                  <a:lnTo>
                    <a:pt x="0" y="25526"/>
                  </a:lnTo>
                  <a:cubicBezTo>
                    <a:pt x="0" y="11429"/>
                    <a:pt x="11429" y="0"/>
                    <a:pt x="2552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517709" cy="231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530840" y="3894276"/>
            <a:ext cx="5993775" cy="685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4"/>
              </a:lnSpc>
            </a:pPr>
            <a:r>
              <a:rPr lang="en-US" sz="1748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Scored 92.33% of accuracy using a deep learning-based audio recognition system.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530840" y="3144049"/>
            <a:ext cx="6313838" cy="395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6"/>
              </a:lnSpc>
            </a:pPr>
            <a:r>
              <a:rPr lang="en-US" b="true" sz="2297">
                <a:solidFill>
                  <a:srgbClr val="60BC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Audio Detection Accuracy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664174" y="1289315"/>
            <a:ext cx="10959652" cy="719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95"/>
              </a:lnSpc>
            </a:pPr>
            <a:r>
              <a:rPr lang="en-US" b="true" sz="428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Detection Accuracy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3074580" y="-4005290"/>
            <a:ext cx="8202286" cy="9327211"/>
          </a:xfrm>
          <a:custGeom>
            <a:avLst/>
            <a:gdLst/>
            <a:ahLst/>
            <a:cxnLst/>
            <a:rect r="r" b="b" t="t" l="l"/>
            <a:pathLst>
              <a:path h="9327211" w="8202286">
                <a:moveTo>
                  <a:pt x="0" y="0"/>
                </a:moveTo>
                <a:lnTo>
                  <a:pt x="8202286" y="0"/>
                </a:lnTo>
                <a:lnTo>
                  <a:pt x="8202286" y="9327212"/>
                </a:lnTo>
                <a:lnTo>
                  <a:pt x="0" y="9327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0633202" y="5705324"/>
            <a:ext cx="3911232" cy="1624041"/>
          </a:xfrm>
          <a:custGeom>
            <a:avLst/>
            <a:gdLst/>
            <a:ahLst/>
            <a:cxnLst/>
            <a:rect r="r" b="b" t="t" l="l"/>
            <a:pathLst>
              <a:path h="1624041" w="3911232">
                <a:moveTo>
                  <a:pt x="0" y="0"/>
                </a:moveTo>
                <a:lnTo>
                  <a:pt x="3911232" y="0"/>
                </a:lnTo>
                <a:lnTo>
                  <a:pt x="3911232" y="1624041"/>
                </a:lnTo>
                <a:lnTo>
                  <a:pt x="0" y="16240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1318240" y="8018357"/>
            <a:ext cx="4298089" cy="1418225"/>
          </a:xfrm>
          <a:custGeom>
            <a:avLst/>
            <a:gdLst/>
            <a:ahLst/>
            <a:cxnLst/>
            <a:rect r="r" b="b" t="t" l="l"/>
            <a:pathLst>
              <a:path h="1418225" w="4298089">
                <a:moveTo>
                  <a:pt x="0" y="0"/>
                </a:moveTo>
                <a:lnTo>
                  <a:pt x="4298089" y="0"/>
                </a:lnTo>
                <a:lnTo>
                  <a:pt x="4298089" y="1418225"/>
                </a:lnTo>
                <a:lnTo>
                  <a:pt x="0" y="14182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2908419" y="4578283"/>
            <a:ext cx="4605443" cy="2596318"/>
          </a:xfrm>
          <a:custGeom>
            <a:avLst/>
            <a:gdLst/>
            <a:ahLst/>
            <a:cxnLst/>
            <a:rect r="r" b="b" t="t" l="l"/>
            <a:pathLst>
              <a:path h="2596318" w="4605443">
                <a:moveTo>
                  <a:pt x="0" y="0"/>
                </a:moveTo>
                <a:lnTo>
                  <a:pt x="4605442" y="0"/>
                </a:lnTo>
                <a:lnTo>
                  <a:pt x="4605442" y="2596318"/>
                </a:lnTo>
                <a:lnTo>
                  <a:pt x="0" y="25963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2187273" y="3495361"/>
            <a:ext cx="5557755" cy="643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1682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Achieved 95% accuracy in identifying elephants using a self trained </a:t>
            </a:r>
            <a:r>
              <a:rPr lang="en-US" sz="1682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model.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066857" y="8533325"/>
            <a:ext cx="5541963" cy="944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616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Effective integration of audio and image detection reduced false positives and provided robust early warnings.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187273" y="2928237"/>
            <a:ext cx="5818622" cy="411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b="true" sz="2428">
                <a:solidFill>
                  <a:srgbClr val="60BC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Image Detection Accuracy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066857" y="7814371"/>
            <a:ext cx="5905870" cy="381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8"/>
              </a:lnSpc>
            </a:pPr>
            <a:r>
              <a:rPr lang="en-US" b="true" sz="2249">
                <a:solidFill>
                  <a:srgbClr val="60BC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Combined Results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532832" y="5055243"/>
            <a:ext cx="4111972" cy="440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43"/>
              </a:lnSpc>
              <a:spcBef>
                <a:spcPct val="0"/>
              </a:spcBef>
            </a:pPr>
            <a:r>
              <a:rPr lang="en-US" sz="2531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Elephant sound detection result: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439724" y="7456424"/>
            <a:ext cx="4055120" cy="440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43"/>
              </a:lnSpc>
              <a:spcBef>
                <a:spcPct val="0"/>
              </a:spcBef>
            </a:pPr>
            <a:r>
              <a:rPr lang="en-US" sz="2531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Gunshot sound detection result:</a:t>
            </a:r>
          </a:p>
        </p:txBody>
      </p:sp>
    </p:spTree>
  </p:cSld>
  <p:clrMapOvr>
    <a:masterClrMapping/>
  </p:clrMapOvr>
  <p:transition spd="fast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965077" y="4887604"/>
            <a:ext cx="8202286" cy="9327211"/>
          </a:xfrm>
          <a:custGeom>
            <a:avLst/>
            <a:gdLst/>
            <a:ahLst/>
            <a:cxnLst/>
            <a:rect r="r" b="b" t="t" l="l"/>
            <a:pathLst>
              <a:path h="9327211" w="8202286">
                <a:moveTo>
                  <a:pt x="0" y="0"/>
                </a:moveTo>
                <a:lnTo>
                  <a:pt x="8202286" y="0"/>
                </a:lnTo>
                <a:lnTo>
                  <a:pt x="8202286" y="9327211"/>
                </a:lnTo>
                <a:lnTo>
                  <a:pt x="0" y="93272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295834" y="3004832"/>
            <a:ext cx="6270589" cy="3625781"/>
            <a:chOff x="0" y="0"/>
            <a:chExt cx="1613878" cy="93317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13878" cy="933177"/>
            </a:xfrm>
            <a:custGeom>
              <a:avLst/>
              <a:gdLst/>
              <a:ahLst/>
              <a:cxnLst/>
              <a:rect r="r" b="b" t="t" l="l"/>
              <a:pathLst>
                <a:path h="933177" w="1613878">
                  <a:moveTo>
                    <a:pt x="29631" y="0"/>
                  </a:moveTo>
                  <a:lnTo>
                    <a:pt x="1584247" y="0"/>
                  </a:lnTo>
                  <a:cubicBezTo>
                    <a:pt x="1592106" y="0"/>
                    <a:pt x="1599642" y="3122"/>
                    <a:pt x="1605199" y="8679"/>
                  </a:cubicBezTo>
                  <a:cubicBezTo>
                    <a:pt x="1610756" y="14236"/>
                    <a:pt x="1613878" y="21773"/>
                    <a:pt x="1613878" y="29631"/>
                  </a:cubicBezTo>
                  <a:lnTo>
                    <a:pt x="1613878" y="903546"/>
                  </a:lnTo>
                  <a:cubicBezTo>
                    <a:pt x="1613878" y="911404"/>
                    <a:pt x="1610756" y="918941"/>
                    <a:pt x="1605199" y="924498"/>
                  </a:cubicBezTo>
                  <a:cubicBezTo>
                    <a:pt x="1599642" y="930055"/>
                    <a:pt x="1592106" y="933177"/>
                    <a:pt x="1584247" y="933177"/>
                  </a:cubicBezTo>
                  <a:lnTo>
                    <a:pt x="29631" y="933177"/>
                  </a:lnTo>
                  <a:cubicBezTo>
                    <a:pt x="13266" y="933177"/>
                    <a:pt x="0" y="919911"/>
                    <a:pt x="0" y="903546"/>
                  </a:cubicBezTo>
                  <a:lnTo>
                    <a:pt x="0" y="29631"/>
                  </a:lnTo>
                  <a:cubicBezTo>
                    <a:pt x="0" y="21773"/>
                    <a:pt x="3122" y="14236"/>
                    <a:pt x="8679" y="8679"/>
                  </a:cubicBezTo>
                  <a:cubicBezTo>
                    <a:pt x="14236" y="3122"/>
                    <a:pt x="21773" y="0"/>
                    <a:pt x="2963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EA4">
                    <a:alpha val="100000"/>
                  </a:srgbClr>
                </a:gs>
                <a:gs pos="100000">
                  <a:srgbClr val="9ECED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613878" cy="9903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653329" y="3004832"/>
            <a:ext cx="5824217" cy="3773915"/>
            <a:chOff x="0" y="0"/>
            <a:chExt cx="1458239" cy="94489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58239" cy="944894"/>
            </a:xfrm>
            <a:custGeom>
              <a:avLst/>
              <a:gdLst/>
              <a:ahLst/>
              <a:cxnLst/>
              <a:rect r="r" b="b" t="t" l="l"/>
              <a:pathLst>
                <a:path h="944894" w="1458239">
                  <a:moveTo>
                    <a:pt x="31902" y="0"/>
                  </a:moveTo>
                  <a:lnTo>
                    <a:pt x="1426337" y="0"/>
                  </a:lnTo>
                  <a:cubicBezTo>
                    <a:pt x="1434798" y="0"/>
                    <a:pt x="1442912" y="3361"/>
                    <a:pt x="1448895" y="9344"/>
                  </a:cubicBezTo>
                  <a:cubicBezTo>
                    <a:pt x="1454878" y="15327"/>
                    <a:pt x="1458239" y="23441"/>
                    <a:pt x="1458239" y="31902"/>
                  </a:cubicBezTo>
                  <a:lnTo>
                    <a:pt x="1458239" y="912992"/>
                  </a:lnTo>
                  <a:cubicBezTo>
                    <a:pt x="1458239" y="921453"/>
                    <a:pt x="1454878" y="929568"/>
                    <a:pt x="1448895" y="935550"/>
                  </a:cubicBezTo>
                  <a:cubicBezTo>
                    <a:pt x="1442912" y="941533"/>
                    <a:pt x="1434798" y="944894"/>
                    <a:pt x="1426337" y="944894"/>
                  </a:cubicBezTo>
                  <a:lnTo>
                    <a:pt x="31902" y="944894"/>
                  </a:lnTo>
                  <a:cubicBezTo>
                    <a:pt x="23441" y="944894"/>
                    <a:pt x="15327" y="941533"/>
                    <a:pt x="9344" y="935550"/>
                  </a:cubicBezTo>
                  <a:cubicBezTo>
                    <a:pt x="3361" y="929568"/>
                    <a:pt x="0" y="921453"/>
                    <a:pt x="0" y="912992"/>
                  </a:cubicBezTo>
                  <a:lnTo>
                    <a:pt x="0" y="31902"/>
                  </a:lnTo>
                  <a:cubicBezTo>
                    <a:pt x="0" y="23441"/>
                    <a:pt x="3361" y="15327"/>
                    <a:pt x="9344" y="9344"/>
                  </a:cubicBezTo>
                  <a:cubicBezTo>
                    <a:pt x="15327" y="3361"/>
                    <a:pt x="23441" y="0"/>
                    <a:pt x="3190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EA4">
                    <a:alpha val="100000"/>
                  </a:srgbClr>
                </a:gs>
                <a:gs pos="100000">
                  <a:srgbClr val="9ECED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458239" cy="10020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868306" y="4135224"/>
            <a:ext cx="5241331" cy="2265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5068" indent="-202534" lvl="1">
              <a:lnSpc>
                <a:spcPts val="3009"/>
              </a:lnSpc>
              <a:buFont typeface="Arial"/>
              <a:buChar char="•"/>
            </a:pPr>
            <a:r>
              <a:rPr lang="en-US" sz="1876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Final Accuracy:  95% for elephants</a:t>
            </a:r>
          </a:p>
          <a:p>
            <a:pPr algn="l" marL="405068" indent="-202534" lvl="1">
              <a:lnSpc>
                <a:spcPts val="3009"/>
              </a:lnSpc>
              <a:buFont typeface="Arial"/>
              <a:buChar char="•"/>
            </a:pPr>
            <a:r>
              <a:rPr lang="en-US" sz="1876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Stabilized after 350 epochs</a:t>
            </a:r>
          </a:p>
          <a:p>
            <a:pPr algn="l" marL="405068" indent="-202534" lvl="1">
              <a:lnSpc>
                <a:spcPts val="3009"/>
              </a:lnSpc>
              <a:buFont typeface="Arial"/>
              <a:buChar char="•"/>
            </a:pPr>
            <a:r>
              <a:rPr lang="en-US" sz="1876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</a:t>
            </a:r>
            <a:r>
              <a:rPr lang="en-US" sz="1876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ome false positives</a:t>
            </a:r>
            <a:r>
              <a:rPr lang="en-US" sz="1876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detecting humans as elephants (0.75 confusion rate) based on Confusion Matrix</a:t>
            </a:r>
          </a:p>
          <a:p>
            <a:pPr algn="l">
              <a:lnSpc>
                <a:spcPts val="300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2295834" y="3525127"/>
            <a:ext cx="6003571" cy="372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21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Image Detection Model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666353" y="1546584"/>
            <a:ext cx="10959652" cy="637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95"/>
              </a:lnSpc>
            </a:pPr>
            <a:r>
              <a:rPr lang="en-US" b="true" sz="378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 Training Accuracy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-2941137" y="-3819262"/>
            <a:ext cx="8202286" cy="9327211"/>
          </a:xfrm>
          <a:custGeom>
            <a:avLst/>
            <a:gdLst/>
            <a:ahLst/>
            <a:cxnLst/>
            <a:rect r="r" b="b" t="t" l="l"/>
            <a:pathLst>
              <a:path h="9327211" w="8202286">
                <a:moveTo>
                  <a:pt x="0" y="0"/>
                </a:moveTo>
                <a:lnTo>
                  <a:pt x="8202286" y="0"/>
                </a:lnTo>
                <a:lnTo>
                  <a:pt x="8202286" y="9327211"/>
                </a:lnTo>
                <a:lnTo>
                  <a:pt x="0" y="93272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653329" y="6786025"/>
            <a:ext cx="3976512" cy="3202924"/>
          </a:xfrm>
          <a:custGeom>
            <a:avLst/>
            <a:gdLst/>
            <a:ahLst/>
            <a:cxnLst/>
            <a:rect r="r" b="b" t="t" l="l"/>
            <a:pathLst>
              <a:path h="3202924" w="3976512">
                <a:moveTo>
                  <a:pt x="0" y="0"/>
                </a:moveTo>
                <a:lnTo>
                  <a:pt x="3976512" y="0"/>
                </a:lnTo>
                <a:lnTo>
                  <a:pt x="3976512" y="3202924"/>
                </a:lnTo>
                <a:lnTo>
                  <a:pt x="0" y="32029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62076" y="6786025"/>
            <a:ext cx="4226896" cy="3165001"/>
          </a:xfrm>
          <a:custGeom>
            <a:avLst/>
            <a:gdLst/>
            <a:ahLst/>
            <a:cxnLst/>
            <a:rect r="r" b="b" t="t" l="l"/>
            <a:pathLst>
              <a:path h="3165001" w="4226896">
                <a:moveTo>
                  <a:pt x="0" y="0"/>
                </a:moveTo>
                <a:lnTo>
                  <a:pt x="4226896" y="0"/>
                </a:lnTo>
                <a:lnTo>
                  <a:pt x="4226896" y="3165001"/>
                </a:lnTo>
                <a:lnTo>
                  <a:pt x="0" y="31650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297620" y="6767063"/>
            <a:ext cx="4172360" cy="3127528"/>
          </a:xfrm>
          <a:custGeom>
            <a:avLst/>
            <a:gdLst/>
            <a:ahLst/>
            <a:cxnLst/>
            <a:rect r="r" b="b" t="t" l="l"/>
            <a:pathLst>
              <a:path h="3127528" w="4172360">
                <a:moveTo>
                  <a:pt x="0" y="0"/>
                </a:moveTo>
                <a:lnTo>
                  <a:pt x="4172360" y="0"/>
                </a:lnTo>
                <a:lnTo>
                  <a:pt x="4172360" y="3127529"/>
                </a:lnTo>
                <a:lnTo>
                  <a:pt x="0" y="31275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810816" y="6887029"/>
            <a:ext cx="3096598" cy="3000917"/>
          </a:xfrm>
          <a:custGeom>
            <a:avLst/>
            <a:gdLst/>
            <a:ahLst/>
            <a:cxnLst/>
            <a:rect r="r" b="b" t="t" l="l"/>
            <a:pathLst>
              <a:path h="3000917" w="3096598">
                <a:moveTo>
                  <a:pt x="0" y="0"/>
                </a:moveTo>
                <a:lnTo>
                  <a:pt x="3096598" y="0"/>
                </a:lnTo>
                <a:lnTo>
                  <a:pt x="3096598" y="3000917"/>
                </a:lnTo>
                <a:lnTo>
                  <a:pt x="0" y="300091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106758" y="4135224"/>
            <a:ext cx="4917358" cy="2210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58"/>
              </a:lnSpc>
            </a:pPr>
            <a:r>
              <a:rPr lang="en-US" sz="184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Best Setup: 100 epochs with augmented dataset</a:t>
            </a:r>
          </a:p>
          <a:p>
            <a:pPr algn="just" marL="398248" indent="-199124" lvl="1">
              <a:lnSpc>
                <a:spcPts val="2958"/>
              </a:lnSpc>
              <a:buFont typeface="Arial"/>
              <a:buChar char="•"/>
            </a:pPr>
            <a:r>
              <a:rPr lang="en-US" sz="184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95.56% Elephan</a:t>
            </a:r>
            <a:r>
              <a:rPr lang="en-US" sz="184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 Detection</a:t>
            </a:r>
          </a:p>
          <a:p>
            <a:pPr algn="just" marL="398248" indent="-199124" lvl="1">
              <a:lnSpc>
                <a:spcPts val="2958"/>
              </a:lnSpc>
              <a:buFont typeface="Arial"/>
              <a:buChar char="•"/>
            </a:pPr>
            <a:r>
              <a:rPr lang="en-US" sz="184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86.96% Noise Detection percentage</a:t>
            </a:r>
          </a:p>
          <a:p>
            <a:pPr algn="just">
              <a:lnSpc>
                <a:spcPts val="2958"/>
              </a:lnSpc>
            </a:pPr>
          </a:p>
          <a:p>
            <a:pPr algn="just">
              <a:lnSpc>
                <a:spcPts val="2958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0212077" y="3506907"/>
            <a:ext cx="4706721" cy="390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5"/>
              </a:lnSpc>
            </a:pPr>
            <a:r>
              <a:rPr lang="en-US" b="true" sz="226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Audio Recognition Model</a:t>
            </a:r>
          </a:p>
        </p:txBody>
      </p:sp>
    </p:spTree>
  </p:cSld>
  <p:clrMapOvr>
    <a:masterClrMapping/>
  </p:clrMapOvr>
  <p:transition spd="slow">
    <p:cover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5091" y="2107757"/>
            <a:ext cx="5840398" cy="2142214"/>
            <a:chOff x="0" y="0"/>
            <a:chExt cx="1782819" cy="6539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82819" cy="653925"/>
            </a:xfrm>
            <a:custGeom>
              <a:avLst/>
              <a:gdLst/>
              <a:ahLst/>
              <a:cxnLst/>
              <a:rect r="r" b="b" t="t" l="l"/>
              <a:pathLst>
                <a:path h="653925" w="1782819">
                  <a:moveTo>
                    <a:pt x="31814" y="0"/>
                  </a:moveTo>
                  <a:lnTo>
                    <a:pt x="1751005" y="0"/>
                  </a:lnTo>
                  <a:cubicBezTo>
                    <a:pt x="1759443" y="0"/>
                    <a:pt x="1767535" y="3352"/>
                    <a:pt x="1773501" y="9318"/>
                  </a:cubicBezTo>
                  <a:cubicBezTo>
                    <a:pt x="1779468" y="15284"/>
                    <a:pt x="1782819" y="23376"/>
                    <a:pt x="1782819" y="31814"/>
                  </a:cubicBezTo>
                  <a:lnTo>
                    <a:pt x="1782819" y="622111"/>
                  </a:lnTo>
                  <a:cubicBezTo>
                    <a:pt x="1782819" y="639681"/>
                    <a:pt x="1768576" y="653925"/>
                    <a:pt x="1751005" y="653925"/>
                  </a:cubicBezTo>
                  <a:lnTo>
                    <a:pt x="31814" y="653925"/>
                  </a:lnTo>
                  <a:cubicBezTo>
                    <a:pt x="23376" y="653925"/>
                    <a:pt x="15284" y="650573"/>
                    <a:pt x="9318" y="644607"/>
                  </a:cubicBezTo>
                  <a:cubicBezTo>
                    <a:pt x="3352" y="638640"/>
                    <a:pt x="0" y="630548"/>
                    <a:pt x="0" y="622111"/>
                  </a:cubicBezTo>
                  <a:lnTo>
                    <a:pt x="0" y="31814"/>
                  </a:lnTo>
                  <a:cubicBezTo>
                    <a:pt x="0" y="14244"/>
                    <a:pt x="14244" y="0"/>
                    <a:pt x="3181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EA4">
                    <a:alpha val="100000"/>
                  </a:srgbClr>
                </a:gs>
                <a:gs pos="100000">
                  <a:srgbClr val="9ECED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782819" cy="711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05091" y="7293580"/>
            <a:ext cx="5840398" cy="2142214"/>
            <a:chOff x="0" y="0"/>
            <a:chExt cx="1782819" cy="6539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82819" cy="653925"/>
            </a:xfrm>
            <a:custGeom>
              <a:avLst/>
              <a:gdLst/>
              <a:ahLst/>
              <a:cxnLst/>
              <a:rect r="r" b="b" t="t" l="l"/>
              <a:pathLst>
                <a:path h="653925" w="1782819">
                  <a:moveTo>
                    <a:pt x="31814" y="0"/>
                  </a:moveTo>
                  <a:lnTo>
                    <a:pt x="1751005" y="0"/>
                  </a:lnTo>
                  <a:cubicBezTo>
                    <a:pt x="1759443" y="0"/>
                    <a:pt x="1767535" y="3352"/>
                    <a:pt x="1773501" y="9318"/>
                  </a:cubicBezTo>
                  <a:cubicBezTo>
                    <a:pt x="1779468" y="15284"/>
                    <a:pt x="1782819" y="23376"/>
                    <a:pt x="1782819" y="31814"/>
                  </a:cubicBezTo>
                  <a:lnTo>
                    <a:pt x="1782819" y="622111"/>
                  </a:lnTo>
                  <a:cubicBezTo>
                    <a:pt x="1782819" y="639681"/>
                    <a:pt x="1768576" y="653925"/>
                    <a:pt x="1751005" y="653925"/>
                  </a:cubicBezTo>
                  <a:lnTo>
                    <a:pt x="31814" y="653925"/>
                  </a:lnTo>
                  <a:cubicBezTo>
                    <a:pt x="23376" y="653925"/>
                    <a:pt x="15284" y="650573"/>
                    <a:pt x="9318" y="644607"/>
                  </a:cubicBezTo>
                  <a:cubicBezTo>
                    <a:pt x="3352" y="638640"/>
                    <a:pt x="0" y="630548"/>
                    <a:pt x="0" y="622111"/>
                  </a:cubicBezTo>
                  <a:lnTo>
                    <a:pt x="0" y="31814"/>
                  </a:lnTo>
                  <a:cubicBezTo>
                    <a:pt x="0" y="14244"/>
                    <a:pt x="14244" y="0"/>
                    <a:pt x="3181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EA4">
                    <a:alpha val="100000"/>
                  </a:srgbClr>
                </a:gs>
                <a:gs pos="100000">
                  <a:srgbClr val="9ECED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782819" cy="711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3706387" y="6489031"/>
            <a:ext cx="8202286" cy="9327211"/>
          </a:xfrm>
          <a:custGeom>
            <a:avLst/>
            <a:gdLst/>
            <a:ahLst/>
            <a:cxnLst/>
            <a:rect r="r" b="b" t="t" l="l"/>
            <a:pathLst>
              <a:path h="9327211" w="8202286">
                <a:moveTo>
                  <a:pt x="0" y="0"/>
                </a:moveTo>
                <a:lnTo>
                  <a:pt x="8202286" y="0"/>
                </a:lnTo>
                <a:lnTo>
                  <a:pt x="8202286" y="9327211"/>
                </a:lnTo>
                <a:lnTo>
                  <a:pt x="0" y="93272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705091" y="4656420"/>
            <a:ext cx="5840398" cy="2142214"/>
            <a:chOff x="0" y="0"/>
            <a:chExt cx="1782819" cy="65392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82819" cy="653925"/>
            </a:xfrm>
            <a:custGeom>
              <a:avLst/>
              <a:gdLst/>
              <a:ahLst/>
              <a:cxnLst/>
              <a:rect r="r" b="b" t="t" l="l"/>
              <a:pathLst>
                <a:path h="653925" w="1782819">
                  <a:moveTo>
                    <a:pt x="31814" y="0"/>
                  </a:moveTo>
                  <a:lnTo>
                    <a:pt x="1751005" y="0"/>
                  </a:lnTo>
                  <a:cubicBezTo>
                    <a:pt x="1759443" y="0"/>
                    <a:pt x="1767535" y="3352"/>
                    <a:pt x="1773501" y="9318"/>
                  </a:cubicBezTo>
                  <a:cubicBezTo>
                    <a:pt x="1779468" y="15284"/>
                    <a:pt x="1782819" y="23376"/>
                    <a:pt x="1782819" y="31814"/>
                  </a:cubicBezTo>
                  <a:lnTo>
                    <a:pt x="1782819" y="622111"/>
                  </a:lnTo>
                  <a:cubicBezTo>
                    <a:pt x="1782819" y="639681"/>
                    <a:pt x="1768576" y="653925"/>
                    <a:pt x="1751005" y="653925"/>
                  </a:cubicBezTo>
                  <a:lnTo>
                    <a:pt x="31814" y="653925"/>
                  </a:lnTo>
                  <a:cubicBezTo>
                    <a:pt x="23376" y="653925"/>
                    <a:pt x="15284" y="650573"/>
                    <a:pt x="9318" y="644607"/>
                  </a:cubicBezTo>
                  <a:cubicBezTo>
                    <a:pt x="3352" y="638640"/>
                    <a:pt x="0" y="630548"/>
                    <a:pt x="0" y="622111"/>
                  </a:cubicBezTo>
                  <a:lnTo>
                    <a:pt x="0" y="31814"/>
                  </a:lnTo>
                  <a:cubicBezTo>
                    <a:pt x="0" y="14244"/>
                    <a:pt x="14244" y="0"/>
                    <a:pt x="3181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EA4">
                    <a:alpha val="100000"/>
                  </a:srgbClr>
                </a:gs>
                <a:gs pos="100000">
                  <a:srgbClr val="9ECED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782819" cy="711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997776" y="2333262"/>
            <a:ext cx="5255029" cy="572074"/>
            <a:chOff x="0" y="0"/>
            <a:chExt cx="1604132" cy="1746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04132" cy="174629"/>
            </a:xfrm>
            <a:custGeom>
              <a:avLst/>
              <a:gdLst/>
              <a:ahLst/>
              <a:cxnLst/>
              <a:rect r="r" b="b" t="t" l="l"/>
              <a:pathLst>
                <a:path h="174629" w="1604132">
                  <a:moveTo>
                    <a:pt x="27992" y="0"/>
                  </a:moveTo>
                  <a:lnTo>
                    <a:pt x="1576140" y="0"/>
                  </a:lnTo>
                  <a:cubicBezTo>
                    <a:pt x="1583564" y="0"/>
                    <a:pt x="1590684" y="2949"/>
                    <a:pt x="1595933" y="8199"/>
                  </a:cubicBezTo>
                  <a:cubicBezTo>
                    <a:pt x="1601182" y="13448"/>
                    <a:pt x="1604132" y="20568"/>
                    <a:pt x="1604132" y="27992"/>
                  </a:cubicBezTo>
                  <a:lnTo>
                    <a:pt x="1604132" y="146638"/>
                  </a:lnTo>
                  <a:cubicBezTo>
                    <a:pt x="1604132" y="154062"/>
                    <a:pt x="1601182" y="161181"/>
                    <a:pt x="1595933" y="166431"/>
                  </a:cubicBezTo>
                  <a:cubicBezTo>
                    <a:pt x="1590684" y="171680"/>
                    <a:pt x="1583564" y="174629"/>
                    <a:pt x="1576140" y="174629"/>
                  </a:cubicBezTo>
                  <a:lnTo>
                    <a:pt x="27992" y="174629"/>
                  </a:lnTo>
                  <a:cubicBezTo>
                    <a:pt x="20568" y="174629"/>
                    <a:pt x="13448" y="171680"/>
                    <a:pt x="8199" y="166431"/>
                  </a:cubicBezTo>
                  <a:cubicBezTo>
                    <a:pt x="2949" y="161181"/>
                    <a:pt x="0" y="154062"/>
                    <a:pt x="0" y="146638"/>
                  </a:cubicBezTo>
                  <a:lnTo>
                    <a:pt x="0" y="27992"/>
                  </a:lnTo>
                  <a:cubicBezTo>
                    <a:pt x="0" y="20568"/>
                    <a:pt x="2949" y="13448"/>
                    <a:pt x="8199" y="8199"/>
                  </a:cubicBezTo>
                  <a:cubicBezTo>
                    <a:pt x="13448" y="2949"/>
                    <a:pt x="20568" y="0"/>
                    <a:pt x="2799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604132" cy="231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997776" y="7519085"/>
            <a:ext cx="5255029" cy="572074"/>
            <a:chOff x="0" y="0"/>
            <a:chExt cx="1604132" cy="17462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04132" cy="174629"/>
            </a:xfrm>
            <a:custGeom>
              <a:avLst/>
              <a:gdLst/>
              <a:ahLst/>
              <a:cxnLst/>
              <a:rect r="r" b="b" t="t" l="l"/>
              <a:pathLst>
                <a:path h="174629" w="1604132">
                  <a:moveTo>
                    <a:pt x="27992" y="0"/>
                  </a:moveTo>
                  <a:lnTo>
                    <a:pt x="1576140" y="0"/>
                  </a:lnTo>
                  <a:cubicBezTo>
                    <a:pt x="1583564" y="0"/>
                    <a:pt x="1590684" y="2949"/>
                    <a:pt x="1595933" y="8199"/>
                  </a:cubicBezTo>
                  <a:cubicBezTo>
                    <a:pt x="1601182" y="13448"/>
                    <a:pt x="1604132" y="20568"/>
                    <a:pt x="1604132" y="27992"/>
                  </a:cubicBezTo>
                  <a:lnTo>
                    <a:pt x="1604132" y="146638"/>
                  </a:lnTo>
                  <a:cubicBezTo>
                    <a:pt x="1604132" y="154062"/>
                    <a:pt x="1601182" y="161181"/>
                    <a:pt x="1595933" y="166431"/>
                  </a:cubicBezTo>
                  <a:cubicBezTo>
                    <a:pt x="1590684" y="171680"/>
                    <a:pt x="1583564" y="174629"/>
                    <a:pt x="1576140" y="174629"/>
                  </a:cubicBezTo>
                  <a:lnTo>
                    <a:pt x="27992" y="174629"/>
                  </a:lnTo>
                  <a:cubicBezTo>
                    <a:pt x="20568" y="174629"/>
                    <a:pt x="13448" y="171680"/>
                    <a:pt x="8199" y="166431"/>
                  </a:cubicBezTo>
                  <a:cubicBezTo>
                    <a:pt x="2949" y="161181"/>
                    <a:pt x="0" y="154062"/>
                    <a:pt x="0" y="146638"/>
                  </a:cubicBezTo>
                  <a:lnTo>
                    <a:pt x="0" y="27992"/>
                  </a:lnTo>
                  <a:cubicBezTo>
                    <a:pt x="0" y="20568"/>
                    <a:pt x="2949" y="13448"/>
                    <a:pt x="8199" y="8199"/>
                  </a:cubicBezTo>
                  <a:cubicBezTo>
                    <a:pt x="13448" y="2949"/>
                    <a:pt x="20568" y="0"/>
                    <a:pt x="2799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604132" cy="231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997776" y="4881925"/>
            <a:ext cx="5255029" cy="572074"/>
            <a:chOff x="0" y="0"/>
            <a:chExt cx="1604132" cy="17462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04132" cy="174629"/>
            </a:xfrm>
            <a:custGeom>
              <a:avLst/>
              <a:gdLst/>
              <a:ahLst/>
              <a:cxnLst/>
              <a:rect r="r" b="b" t="t" l="l"/>
              <a:pathLst>
                <a:path h="174629" w="1604132">
                  <a:moveTo>
                    <a:pt x="27992" y="0"/>
                  </a:moveTo>
                  <a:lnTo>
                    <a:pt x="1576140" y="0"/>
                  </a:lnTo>
                  <a:cubicBezTo>
                    <a:pt x="1583564" y="0"/>
                    <a:pt x="1590684" y="2949"/>
                    <a:pt x="1595933" y="8199"/>
                  </a:cubicBezTo>
                  <a:cubicBezTo>
                    <a:pt x="1601182" y="13448"/>
                    <a:pt x="1604132" y="20568"/>
                    <a:pt x="1604132" y="27992"/>
                  </a:cubicBezTo>
                  <a:lnTo>
                    <a:pt x="1604132" y="146638"/>
                  </a:lnTo>
                  <a:cubicBezTo>
                    <a:pt x="1604132" y="154062"/>
                    <a:pt x="1601182" y="161181"/>
                    <a:pt x="1595933" y="166431"/>
                  </a:cubicBezTo>
                  <a:cubicBezTo>
                    <a:pt x="1590684" y="171680"/>
                    <a:pt x="1583564" y="174629"/>
                    <a:pt x="1576140" y="174629"/>
                  </a:cubicBezTo>
                  <a:lnTo>
                    <a:pt x="27992" y="174629"/>
                  </a:lnTo>
                  <a:cubicBezTo>
                    <a:pt x="20568" y="174629"/>
                    <a:pt x="13448" y="171680"/>
                    <a:pt x="8199" y="166431"/>
                  </a:cubicBezTo>
                  <a:cubicBezTo>
                    <a:pt x="2949" y="161181"/>
                    <a:pt x="0" y="154062"/>
                    <a:pt x="0" y="146638"/>
                  </a:cubicBezTo>
                  <a:lnTo>
                    <a:pt x="0" y="27992"/>
                  </a:lnTo>
                  <a:cubicBezTo>
                    <a:pt x="0" y="20568"/>
                    <a:pt x="2949" y="13448"/>
                    <a:pt x="8199" y="8199"/>
                  </a:cubicBezTo>
                  <a:cubicBezTo>
                    <a:pt x="13448" y="2949"/>
                    <a:pt x="20568" y="0"/>
                    <a:pt x="2799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604132" cy="231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3664174" y="784491"/>
            <a:ext cx="10959652" cy="666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5"/>
              </a:lnSpc>
            </a:pPr>
            <a:r>
              <a:rPr lang="en-US" b="true" sz="388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Power Uptime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3348068" y="-4607409"/>
            <a:ext cx="8202286" cy="9327211"/>
          </a:xfrm>
          <a:custGeom>
            <a:avLst/>
            <a:gdLst/>
            <a:ahLst/>
            <a:cxnLst/>
            <a:rect r="r" b="b" t="t" l="l"/>
            <a:pathLst>
              <a:path h="9327211" w="8202286">
                <a:moveTo>
                  <a:pt x="0" y="0"/>
                </a:moveTo>
                <a:lnTo>
                  <a:pt x="8202285" y="0"/>
                </a:lnTo>
                <a:lnTo>
                  <a:pt x="8202285" y="9327212"/>
                </a:lnTo>
                <a:lnTo>
                  <a:pt x="0" y="9327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9931608" y="7453049"/>
            <a:ext cx="6028850" cy="1424316"/>
          </a:xfrm>
          <a:custGeom>
            <a:avLst/>
            <a:gdLst/>
            <a:ahLst/>
            <a:cxnLst/>
            <a:rect r="r" b="b" t="t" l="l"/>
            <a:pathLst>
              <a:path h="1424316" w="6028850">
                <a:moveTo>
                  <a:pt x="0" y="0"/>
                </a:moveTo>
                <a:lnTo>
                  <a:pt x="6028850" y="0"/>
                </a:lnTo>
                <a:lnTo>
                  <a:pt x="6028850" y="1424315"/>
                </a:lnTo>
                <a:lnTo>
                  <a:pt x="0" y="14243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24" id="24"/>
          <p:cNvSpPr/>
          <p:nvPr/>
        </p:nvSpPr>
        <p:spPr>
          <a:xfrm flipV="true">
            <a:off x="8100551" y="8091159"/>
            <a:ext cx="127599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5" id="25"/>
          <p:cNvSpPr/>
          <p:nvPr/>
        </p:nvSpPr>
        <p:spPr>
          <a:xfrm flipV="true">
            <a:off x="8117282" y="3299637"/>
            <a:ext cx="127599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6" id="26"/>
          <p:cNvGrpSpPr/>
          <p:nvPr/>
        </p:nvGrpSpPr>
        <p:grpSpPr>
          <a:xfrm rot="0">
            <a:off x="9931608" y="4716898"/>
            <a:ext cx="5779165" cy="2142214"/>
            <a:chOff x="0" y="0"/>
            <a:chExt cx="1764128" cy="65392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764128" cy="653925"/>
            </a:xfrm>
            <a:custGeom>
              <a:avLst/>
              <a:gdLst/>
              <a:ahLst/>
              <a:cxnLst/>
              <a:rect r="r" b="b" t="t" l="l"/>
              <a:pathLst>
                <a:path h="653925" w="1764128">
                  <a:moveTo>
                    <a:pt x="32151" y="0"/>
                  </a:moveTo>
                  <a:lnTo>
                    <a:pt x="1731977" y="0"/>
                  </a:lnTo>
                  <a:cubicBezTo>
                    <a:pt x="1740504" y="0"/>
                    <a:pt x="1748681" y="3387"/>
                    <a:pt x="1754711" y="9417"/>
                  </a:cubicBezTo>
                  <a:cubicBezTo>
                    <a:pt x="1760740" y="15446"/>
                    <a:pt x="1764128" y="23624"/>
                    <a:pt x="1764128" y="32151"/>
                  </a:cubicBezTo>
                  <a:lnTo>
                    <a:pt x="1764128" y="621774"/>
                  </a:lnTo>
                  <a:cubicBezTo>
                    <a:pt x="1764128" y="630301"/>
                    <a:pt x="1760740" y="638478"/>
                    <a:pt x="1754711" y="644508"/>
                  </a:cubicBezTo>
                  <a:cubicBezTo>
                    <a:pt x="1748681" y="650537"/>
                    <a:pt x="1740504" y="653925"/>
                    <a:pt x="1731977" y="653925"/>
                  </a:cubicBezTo>
                  <a:lnTo>
                    <a:pt x="32151" y="653925"/>
                  </a:lnTo>
                  <a:cubicBezTo>
                    <a:pt x="23624" y="653925"/>
                    <a:pt x="15446" y="650537"/>
                    <a:pt x="9417" y="644508"/>
                  </a:cubicBezTo>
                  <a:cubicBezTo>
                    <a:pt x="3387" y="638478"/>
                    <a:pt x="0" y="630301"/>
                    <a:pt x="0" y="621774"/>
                  </a:cubicBezTo>
                  <a:lnTo>
                    <a:pt x="0" y="32151"/>
                  </a:lnTo>
                  <a:cubicBezTo>
                    <a:pt x="0" y="23624"/>
                    <a:pt x="3387" y="15446"/>
                    <a:pt x="9417" y="9417"/>
                  </a:cubicBezTo>
                  <a:cubicBezTo>
                    <a:pt x="15446" y="3387"/>
                    <a:pt x="23624" y="0"/>
                    <a:pt x="3215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EA4">
                    <a:alpha val="100000"/>
                  </a:srgbClr>
                </a:gs>
                <a:gs pos="100000">
                  <a:srgbClr val="9ECED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1764128" cy="711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221224" y="4942403"/>
            <a:ext cx="5199933" cy="572074"/>
            <a:chOff x="0" y="0"/>
            <a:chExt cx="1587313" cy="17462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87313" cy="174629"/>
            </a:xfrm>
            <a:custGeom>
              <a:avLst/>
              <a:gdLst/>
              <a:ahLst/>
              <a:cxnLst/>
              <a:rect r="r" b="b" t="t" l="l"/>
              <a:pathLst>
                <a:path h="174629" w="1587313">
                  <a:moveTo>
                    <a:pt x="28288" y="0"/>
                  </a:moveTo>
                  <a:lnTo>
                    <a:pt x="1559025" y="0"/>
                  </a:lnTo>
                  <a:cubicBezTo>
                    <a:pt x="1574648" y="0"/>
                    <a:pt x="1587313" y="12665"/>
                    <a:pt x="1587313" y="28288"/>
                  </a:cubicBezTo>
                  <a:lnTo>
                    <a:pt x="1587313" y="146341"/>
                  </a:lnTo>
                  <a:cubicBezTo>
                    <a:pt x="1587313" y="161964"/>
                    <a:pt x="1574648" y="174629"/>
                    <a:pt x="1559025" y="174629"/>
                  </a:cubicBezTo>
                  <a:lnTo>
                    <a:pt x="28288" y="174629"/>
                  </a:lnTo>
                  <a:cubicBezTo>
                    <a:pt x="12665" y="174629"/>
                    <a:pt x="0" y="161964"/>
                    <a:pt x="0" y="146341"/>
                  </a:cubicBezTo>
                  <a:lnTo>
                    <a:pt x="0" y="28288"/>
                  </a:lnTo>
                  <a:cubicBezTo>
                    <a:pt x="0" y="12665"/>
                    <a:pt x="12665" y="0"/>
                    <a:pt x="2828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1587313" cy="231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11128493" y="2017500"/>
            <a:ext cx="2728084" cy="2366023"/>
          </a:xfrm>
          <a:custGeom>
            <a:avLst/>
            <a:gdLst/>
            <a:ahLst/>
            <a:cxnLst/>
            <a:rect r="r" b="b" t="t" l="l"/>
            <a:pathLst>
              <a:path h="2366023" w="2728084">
                <a:moveTo>
                  <a:pt x="0" y="0"/>
                </a:moveTo>
                <a:lnTo>
                  <a:pt x="2728084" y="0"/>
                </a:lnTo>
                <a:lnTo>
                  <a:pt x="2728084" y="2366023"/>
                </a:lnTo>
                <a:lnTo>
                  <a:pt x="0" y="23660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4098" r="0" b="-19943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2126814" y="8144424"/>
            <a:ext cx="5046260" cy="1091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1371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The system achieves 16-18 hours of runtime, combining solar input and battery storage. This is sufficient for continuous operation until midnight. The API Handshake log is observed for a week to justify this.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206544" y="7634891"/>
            <a:ext cx="5095569" cy="31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6"/>
              </a:lnSpc>
            </a:pPr>
            <a:r>
              <a:rPr lang="en-US" b="true" sz="1854">
                <a:solidFill>
                  <a:srgbClr val="60BC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Battery Uptime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077506" y="3058548"/>
            <a:ext cx="5095569" cy="872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4"/>
              </a:lnSpc>
            </a:pPr>
            <a:r>
              <a:rPr lang="en-US" sz="1486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Two 50W solar panels generate approximately 600 Wh/day under peak conditions, contributing to recharging the battery for the next cycle.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072139" y="5585635"/>
            <a:ext cx="4847519" cy="903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8"/>
              </a:lnSpc>
            </a:pPr>
            <a:r>
              <a:rPr lang="en-US" sz="1513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The battery would take approximately 4 to 5 hours to charge under peak sunlight, accounting for panel efficiency. 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206544" y="2449068"/>
            <a:ext cx="5095569" cy="31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6"/>
              </a:lnSpc>
            </a:pPr>
            <a:r>
              <a:rPr lang="en-US" b="true" sz="1854">
                <a:solidFill>
                  <a:srgbClr val="60BC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Solar-Powered System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206544" y="4997731"/>
            <a:ext cx="5095569" cy="31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6"/>
              </a:lnSpc>
            </a:pPr>
            <a:r>
              <a:rPr lang="en-US" b="true" sz="1854">
                <a:solidFill>
                  <a:srgbClr val="60BC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Charging Duration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931608" y="6939298"/>
            <a:ext cx="6028850" cy="440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43"/>
              </a:lnSpc>
              <a:spcBef>
                <a:spcPct val="0"/>
              </a:spcBef>
            </a:pPr>
            <a:r>
              <a:rPr lang="en-US" sz="2531">
                <a:solidFill>
                  <a:srgbClr val="000000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API Handshake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931608" y="8955510"/>
            <a:ext cx="6049680" cy="648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3"/>
              </a:lnSpc>
              <a:spcBef>
                <a:spcPct val="0"/>
              </a:spcBef>
            </a:pPr>
            <a:r>
              <a:rPr lang="en-US" sz="1831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The API handshake logs demonstrate consistent operation throughout the runtime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294808" y="5646113"/>
            <a:ext cx="4796696" cy="903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8"/>
              </a:lnSpc>
            </a:pPr>
            <a:r>
              <a:rPr lang="en-US" sz="1513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The solar panels generate enough power during peak sunlight to recharge 80% of the battery by evening.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433061" y="5058209"/>
            <a:ext cx="5095569" cy="31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6"/>
              </a:lnSpc>
            </a:pPr>
            <a:r>
              <a:rPr lang="en-US" b="true" sz="1854">
                <a:solidFill>
                  <a:srgbClr val="60BC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Charging Power </a:t>
            </a:r>
          </a:p>
        </p:txBody>
      </p:sp>
      <p:sp>
        <p:nvSpPr>
          <p:cNvPr name="AutoShape 43" id="43"/>
          <p:cNvSpPr/>
          <p:nvPr/>
        </p:nvSpPr>
        <p:spPr>
          <a:xfrm flipV="true">
            <a:off x="8094797" y="5642785"/>
            <a:ext cx="1287504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arrow" len="sm" w="med"/>
            <a:tailEnd type="arrow" len="sm" w="med"/>
          </a:ln>
        </p:spPr>
      </p:sp>
    </p:spTree>
  </p:cSld>
  <p:clrMapOvr>
    <a:masterClrMapping/>
  </p:clrMapOvr>
  <p:transition spd="fast">
    <p:wipe dir="l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31210" y="4918885"/>
            <a:ext cx="8202286" cy="9327211"/>
          </a:xfrm>
          <a:custGeom>
            <a:avLst/>
            <a:gdLst/>
            <a:ahLst/>
            <a:cxnLst/>
            <a:rect r="r" b="b" t="t" l="l"/>
            <a:pathLst>
              <a:path h="9327211" w="8202286">
                <a:moveTo>
                  <a:pt x="0" y="0"/>
                </a:moveTo>
                <a:lnTo>
                  <a:pt x="8202286" y="0"/>
                </a:lnTo>
                <a:lnTo>
                  <a:pt x="8202286" y="9327212"/>
                </a:lnTo>
                <a:lnTo>
                  <a:pt x="0" y="9327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096828" y="4180308"/>
            <a:ext cx="4474411" cy="2655282"/>
            <a:chOff x="0" y="0"/>
            <a:chExt cx="1178446" cy="69933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78446" cy="699334"/>
            </a:xfrm>
            <a:custGeom>
              <a:avLst/>
              <a:gdLst/>
              <a:ahLst/>
              <a:cxnLst/>
              <a:rect r="r" b="b" t="t" l="l"/>
              <a:pathLst>
                <a:path h="699334" w="1178446">
                  <a:moveTo>
                    <a:pt x="41526" y="0"/>
                  </a:moveTo>
                  <a:lnTo>
                    <a:pt x="1136919" y="0"/>
                  </a:lnTo>
                  <a:cubicBezTo>
                    <a:pt x="1147933" y="0"/>
                    <a:pt x="1158495" y="4375"/>
                    <a:pt x="1166283" y="12163"/>
                  </a:cubicBezTo>
                  <a:cubicBezTo>
                    <a:pt x="1174071" y="19950"/>
                    <a:pt x="1178446" y="30513"/>
                    <a:pt x="1178446" y="41526"/>
                  </a:cubicBezTo>
                  <a:lnTo>
                    <a:pt x="1178446" y="657807"/>
                  </a:lnTo>
                  <a:cubicBezTo>
                    <a:pt x="1178446" y="668821"/>
                    <a:pt x="1174071" y="679383"/>
                    <a:pt x="1166283" y="687171"/>
                  </a:cubicBezTo>
                  <a:cubicBezTo>
                    <a:pt x="1158495" y="694959"/>
                    <a:pt x="1147933" y="699334"/>
                    <a:pt x="1136919" y="699334"/>
                  </a:cubicBezTo>
                  <a:lnTo>
                    <a:pt x="41526" y="699334"/>
                  </a:lnTo>
                  <a:cubicBezTo>
                    <a:pt x="30513" y="699334"/>
                    <a:pt x="19950" y="694959"/>
                    <a:pt x="12163" y="687171"/>
                  </a:cubicBezTo>
                  <a:cubicBezTo>
                    <a:pt x="4375" y="679383"/>
                    <a:pt x="0" y="668821"/>
                    <a:pt x="0" y="657807"/>
                  </a:cubicBezTo>
                  <a:lnTo>
                    <a:pt x="0" y="41526"/>
                  </a:lnTo>
                  <a:cubicBezTo>
                    <a:pt x="0" y="30513"/>
                    <a:pt x="4375" y="19950"/>
                    <a:pt x="12163" y="12163"/>
                  </a:cubicBezTo>
                  <a:cubicBezTo>
                    <a:pt x="19950" y="4375"/>
                    <a:pt x="30513" y="0"/>
                    <a:pt x="4152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EA4">
                    <a:alpha val="100000"/>
                  </a:srgbClr>
                </a:gs>
                <a:gs pos="100000">
                  <a:srgbClr val="9ECED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178446" cy="7564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908974" y="4180308"/>
            <a:ext cx="4474411" cy="2655282"/>
            <a:chOff x="0" y="0"/>
            <a:chExt cx="1178446" cy="6993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78446" cy="699334"/>
            </a:xfrm>
            <a:custGeom>
              <a:avLst/>
              <a:gdLst/>
              <a:ahLst/>
              <a:cxnLst/>
              <a:rect r="r" b="b" t="t" l="l"/>
              <a:pathLst>
                <a:path h="699334" w="1178446">
                  <a:moveTo>
                    <a:pt x="41526" y="0"/>
                  </a:moveTo>
                  <a:lnTo>
                    <a:pt x="1136919" y="0"/>
                  </a:lnTo>
                  <a:cubicBezTo>
                    <a:pt x="1147933" y="0"/>
                    <a:pt x="1158495" y="4375"/>
                    <a:pt x="1166283" y="12163"/>
                  </a:cubicBezTo>
                  <a:cubicBezTo>
                    <a:pt x="1174071" y="19950"/>
                    <a:pt x="1178446" y="30513"/>
                    <a:pt x="1178446" y="41526"/>
                  </a:cubicBezTo>
                  <a:lnTo>
                    <a:pt x="1178446" y="657807"/>
                  </a:lnTo>
                  <a:cubicBezTo>
                    <a:pt x="1178446" y="668821"/>
                    <a:pt x="1174071" y="679383"/>
                    <a:pt x="1166283" y="687171"/>
                  </a:cubicBezTo>
                  <a:cubicBezTo>
                    <a:pt x="1158495" y="694959"/>
                    <a:pt x="1147933" y="699334"/>
                    <a:pt x="1136919" y="699334"/>
                  </a:cubicBezTo>
                  <a:lnTo>
                    <a:pt x="41526" y="699334"/>
                  </a:lnTo>
                  <a:cubicBezTo>
                    <a:pt x="30513" y="699334"/>
                    <a:pt x="19950" y="694959"/>
                    <a:pt x="12163" y="687171"/>
                  </a:cubicBezTo>
                  <a:cubicBezTo>
                    <a:pt x="4375" y="679383"/>
                    <a:pt x="0" y="668821"/>
                    <a:pt x="0" y="657807"/>
                  </a:cubicBezTo>
                  <a:lnTo>
                    <a:pt x="0" y="41526"/>
                  </a:lnTo>
                  <a:cubicBezTo>
                    <a:pt x="0" y="30513"/>
                    <a:pt x="4375" y="19950"/>
                    <a:pt x="12163" y="12163"/>
                  </a:cubicBezTo>
                  <a:cubicBezTo>
                    <a:pt x="19950" y="4375"/>
                    <a:pt x="30513" y="0"/>
                    <a:pt x="4152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EA4">
                    <a:alpha val="100000"/>
                  </a:srgbClr>
                </a:gs>
                <a:gs pos="100000">
                  <a:srgbClr val="9ECED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178446" cy="7564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716760" y="4180308"/>
            <a:ext cx="4474411" cy="2655282"/>
            <a:chOff x="0" y="0"/>
            <a:chExt cx="1178446" cy="69933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78446" cy="699334"/>
            </a:xfrm>
            <a:custGeom>
              <a:avLst/>
              <a:gdLst/>
              <a:ahLst/>
              <a:cxnLst/>
              <a:rect r="r" b="b" t="t" l="l"/>
              <a:pathLst>
                <a:path h="699334" w="1178446">
                  <a:moveTo>
                    <a:pt x="41526" y="0"/>
                  </a:moveTo>
                  <a:lnTo>
                    <a:pt x="1136919" y="0"/>
                  </a:lnTo>
                  <a:cubicBezTo>
                    <a:pt x="1147933" y="0"/>
                    <a:pt x="1158495" y="4375"/>
                    <a:pt x="1166283" y="12163"/>
                  </a:cubicBezTo>
                  <a:cubicBezTo>
                    <a:pt x="1174071" y="19950"/>
                    <a:pt x="1178446" y="30513"/>
                    <a:pt x="1178446" y="41526"/>
                  </a:cubicBezTo>
                  <a:lnTo>
                    <a:pt x="1178446" y="657807"/>
                  </a:lnTo>
                  <a:cubicBezTo>
                    <a:pt x="1178446" y="668821"/>
                    <a:pt x="1174071" y="679383"/>
                    <a:pt x="1166283" y="687171"/>
                  </a:cubicBezTo>
                  <a:cubicBezTo>
                    <a:pt x="1158495" y="694959"/>
                    <a:pt x="1147933" y="699334"/>
                    <a:pt x="1136919" y="699334"/>
                  </a:cubicBezTo>
                  <a:lnTo>
                    <a:pt x="41526" y="699334"/>
                  </a:lnTo>
                  <a:cubicBezTo>
                    <a:pt x="30513" y="699334"/>
                    <a:pt x="19950" y="694959"/>
                    <a:pt x="12163" y="687171"/>
                  </a:cubicBezTo>
                  <a:cubicBezTo>
                    <a:pt x="4375" y="679383"/>
                    <a:pt x="0" y="668821"/>
                    <a:pt x="0" y="657807"/>
                  </a:cubicBezTo>
                  <a:lnTo>
                    <a:pt x="0" y="41526"/>
                  </a:lnTo>
                  <a:cubicBezTo>
                    <a:pt x="0" y="30513"/>
                    <a:pt x="4375" y="19950"/>
                    <a:pt x="12163" y="12163"/>
                  </a:cubicBezTo>
                  <a:cubicBezTo>
                    <a:pt x="19950" y="4375"/>
                    <a:pt x="30513" y="0"/>
                    <a:pt x="4152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EA4">
                    <a:alpha val="100000"/>
                  </a:srgbClr>
                </a:gs>
                <a:gs pos="100000">
                  <a:srgbClr val="9ECED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178446" cy="7564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523487" y="5292729"/>
            <a:ext cx="3621094" cy="963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7"/>
              </a:lnSpc>
            </a:pPr>
            <a:r>
              <a:rPr lang="en-US" sz="1637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Enabled real-time data transmission via cellular networks, ens</a:t>
            </a:r>
            <a:r>
              <a:rPr lang="en-US" sz="1637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uring prompt alerts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96828" y="4707447"/>
            <a:ext cx="4474411" cy="374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8"/>
              </a:lnSpc>
            </a:pPr>
            <a:r>
              <a:rPr lang="en-US" b="true" sz="214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4G LTE Module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664174" y="1322744"/>
            <a:ext cx="10959652" cy="666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5"/>
              </a:lnSpc>
            </a:pPr>
            <a:r>
              <a:rPr lang="en-US" b="true" sz="388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Connectivity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-2941137" y="-3819262"/>
            <a:ext cx="8202286" cy="9327211"/>
          </a:xfrm>
          <a:custGeom>
            <a:avLst/>
            <a:gdLst/>
            <a:ahLst/>
            <a:cxnLst/>
            <a:rect r="r" b="b" t="t" l="l"/>
            <a:pathLst>
              <a:path h="9327211" w="8202286">
                <a:moveTo>
                  <a:pt x="0" y="0"/>
                </a:moveTo>
                <a:lnTo>
                  <a:pt x="8202286" y="0"/>
                </a:lnTo>
                <a:lnTo>
                  <a:pt x="8202286" y="9327211"/>
                </a:lnTo>
                <a:lnTo>
                  <a:pt x="0" y="93272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828256" y="1398944"/>
            <a:ext cx="686861" cy="589842"/>
          </a:xfrm>
          <a:custGeom>
            <a:avLst/>
            <a:gdLst/>
            <a:ahLst/>
            <a:cxnLst/>
            <a:rect r="r" b="b" t="t" l="l"/>
            <a:pathLst>
              <a:path h="589842" w="686861">
                <a:moveTo>
                  <a:pt x="0" y="0"/>
                </a:moveTo>
                <a:lnTo>
                  <a:pt x="686860" y="0"/>
                </a:lnTo>
                <a:lnTo>
                  <a:pt x="686860" y="589842"/>
                </a:lnTo>
                <a:lnTo>
                  <a:pt x="0" y="5898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852023" y="1398944"/>
            <a:ext cx="748036" cy="544949"/>
          </a:xfrm>
          <a:custGeom>
            <a:avLst/>
            <a:gdLst/>
            <a:ahLst/>
            <a:cxnLst/>
            <a:rect r="r" b="b" t="t" l="l"/>
            <a:pathLst>
              <a:path h="544949" w="748036">
                <a:moveTo>
                  <a:pt x="0" y="0"/>
                </a:moveTo>
                <a:lnTo>
                  <a:pt x="748036" y="0"/>
                </a:lnTo>
                <a:lnTo>
                  <a:pt x="748036" y="544949"/>
                </a:lnTo>
                <a:lnTo>
                  <a:pt x="0" y="5449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7310918" y="5215831"/>
            <a:ext cx="3670523" cy="1217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0"/>
              </a:lnSpc>
            </a:pPr>
            <a:r>
              <a:rPr lang="en-US" sz="1552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Seamless connection with a centralized monitoring system, accessible from anywhere</a:t>
            </a:r>
            <a:r>
              <a:rPr lang="en-US" sz="1552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with internet connectivity.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887251" y="5196681"/>
            <a:ext cx="4133431" cy="1638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658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Overcame signal interference by optimizing the 4G dongle’s placement within the casing.</a:t>
            </a:r>
          </a:p>
          <a:p>
            <a:pPr algn="ctr">
              <a:lnSpc>
                <a:spcPts val="2660"/>
              </a:lnSpc>
            </a:pPr>
          </a:p>
          <a:p>
            <a:pPr algn="ctr">
              <a:lnSpc>
                <a:spcPts val="2660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6908974" y="4707447"/>
            <a:ext cx="4474411" cy="374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8"/>
              </a:lnSpc>
            </a:pPr>
            <a:r>
              <a:rPr lang="en-US" b="true" sz="214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API Integration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716760" y="4707447"/>
            <a:ext cx="4474411" cy="374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8"/>
              </a:lnSpc>
            </a:pPr>
            <a:r>
              <a:rPr lang="en-US" b="true" sz="214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Challenges and Solutions</a:t>
            </a:r>
          </a:p>
        </p:txBody>
      </p:sp>
    </p:spTree>
  </p:cSld>
  <p:clrMapOvr>
    <a:masterClrMapping/>
  </p:clrMapOvr>
  <p:transition spd="slow">
    <p:cover dir="l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31210" y="4918885"/>
            <a:ext cx="8202286" cy="9327211"/>
          </a:xfrm>
          <a:custGeom>
            <a:avLst/>
            <a:gdLst/>
            <a:ahLst/>
            <a:cxnLst/>
            <a:rect r="r" b="b" t="t" l="l"/>
            <a:pathLst>
              <a:path h="9327211" w="8202286">
                <a:moveTo>
                  <a:pt x="0" y="0"/>
                </a:moveTo>
                <a:lnTo>
                  <a:pt x="8202286" y="0"/>
                </a:lnTo>
                <a:lnTo>
                  <a:pt x="8202286" y="9327212"/>
                </a:lnTo>
                <a:lnTo>
                  <a:pt x="0" y="9327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41758" y="3894975"/>
            <a:ext cx="4474411" cy="2655282"/>
            <a:chOff x="0" y="0"/>
            <a:chExt cx="1178446" cy="69933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78446" cy="699334"/>
            </a:xfrm>
            <a:custGeom>
              <a:avLst/>
              <a:gdLst/>
              <a:ahLst/>
              <a:cxnLst/>
              <a:rect r="r" b="b" t="t" l="l"/>
              <a:pathLst>
                <a:path h="699334" w="1178446">
                  <a:moveTo>
                    <a:pt x="41526" y="0"/>
                  </a:moveTo>
                  <a:lnTo>
                    <a:pt x="1136919" y="0"/>
                  </a:lnTo>
                  <a:cubicBezTo>
                    <a:pt x="1147933" y="0"/>
                    <a:pt x="1158495" y="4375"/>
                    <a:pt x="1166283" y="12163"/>
                  </a:cubicBezTo>
                  <a:cubicBezTo>
                    <a:pt x="1174071" y="19950"/>
                    <a:pt x="1178446" y="30513"/>
                    <a:pt x="1178446" y="41526"/>
                  </a:cubicBezTo>
                  <a:lnTo>
                    <a:pt x="1178446" y="657807"/>
                  </a:lnTo>
                  <a:cubicBezTo>
                    <a:pt x="1178446" y="668821"/>
                    <a:pt x="1174071" y="679383"/>
                    <a:pt x="1166283" y="687171"/>
                  </a:cubicBezTo>
                  <a:cubicBezTo>
                    <a:pt x="1158495" y="694959"/>
                    <a:pt x="1147933" y="699334"/>
                    <a:pt x="1136919" y="699334"/>
                  </a:cubicBezTo>
                  <a:lnTo>
                    <a:pt x="41526" y="699334"/>
                  </a:lnTo>
                  <a:cubicBezTo>
                    <a:pt x="30513" y="699334"/>
                    <a:pt x="19950" y="694959"/>
                    <a:pt x="12163" y="687171"/>
                  </a:cubicBezTo>
                  <a:cubicBezTo>
                    <a:pt x="4375" y="679383"/>
                    <a:pt x="0" y="668821"/>
                    <a:pt x="0" y="657807"/>
                  </a:cubicBezTo>
                  <a:lnTo>
                    <a:pt x="0" y="41526"/>
                  </a:lnTo>
                  <a:cubicBezTo>
                    <a:pt x="0" y="30513"/>
                    <a:pt x="4375" y="19950"/>
                    <a:pt x="12163" y="12163"/>
                  </a:cubicBezTo>
                  <a:cubicBezTo>
                    <a:pt x="19950" y="4375"/>
                    <a:pt x="30513" y="0"/>
                    <a:pt x="4152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EA4">
                    <a:alpha val="100000"/>
                  </a:srgbClr>
                </a:gs>
                <a:gs pos="100000">
                  <a:srgbClr val="9ECED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178446" cy="7564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906794" y="3894975"/>
            <a:ext cx="4474411" cy="2655282"/>
            <a:chOff x="0" y="0"/>
            <a:chExt cx="1178446" cy="6993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78446" cy="699334"/>
            </a:xfrm>
            <a:custGeom>
              <a:avLst/>
              <a:gdLst/>
              <a:ahLst/>
              <a:cxnLst/>
              <a:rect r="r" b="b" t="t" l="l"/>
              <a:pathLst>
                <a:path h="699334" w="1178446">
                  <a:moveTo>
                    <a:pt x="41526" y="0"/>
                  </a:moveTo>
                  <a:lnTo>
                    <a:pt x="1136919" y="0"/>
                  </a:lnTo>
                  <a:cubicBezTo>
                    <a:pt x="1147933" y="0"/>
                    <a:pt x="1158495" y="4375"/>
                    <a:pt x="1166283" y="12163"/>
                  </a:cubicBezTo>
                  <a:cubicBezTo>
                    <a:pt x="1174071" y="19950"/>
                    <a:pt x="1178446" y="30513"/>
                    <a:pt x="1178446" y="41526"/>
                  </a:cubicBezTo>
                  <a:lnTo>
                    <a:pt x="1178446" y="657807"/>
                  </a:lnTo>
                  <a:cubicBezTo>
                    <a:pt x="1178446" y="668821"/>
                    <a:pt x="1174071" y="679383"/>
                    <a:pt x="1166283" y="687171"/>
                  </a:cubicBezTo>
                  <a:cubicBezTo>
                    <a:pt x="1158495" y="694959"/>
                    <a:pt x="1147933" y="699334"/>
                    <a:pt x="1136919" y="699334"/>
                  </a:cubicBezTo>
                  <a:lnTo>
                    <a:pt x="41526" y="699334"/>
                  </a:lnTo>
                  <a:cubicBezTo>
                    <a:pt x="30513" y="699334"/>
                    <a:pt x="19950" y="694959"/>
                    <a:pt x="12163" y="687171"/>
                  </a:cubicBezTo>
                  <a:cubicBezTo>
                    <a:pt x="4375" y="679383"/>
                    <a:pt x="0" y="668821"/>
                    <a:pt x="0" y="657807"/>
                  </a:cubicBezTo>
                  <a:lnTo>
                    <a:pt x="0" y="41526"/>
                  </a:lnTo>
                  <a:cubicBezTo>
                    <a:pt x="0" y="30513"/>
                    <a:pt x="4375" y="19950"/>
                    <a:pt x="12163" y="12163"/>
                  </a:cubicBezTo>
                  <a:cubicBezTo>
                    <a:pt x="19950" y="4375"/>
                    <a:pt x="30513" y="0"/>
                    <a:pt x="4152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EA4">
                    <a:alpha val="100000"/>
                  </a:srgbClr>
                </a:gs>
                <a:gs pos="100000">
                  <a:srgbClr val="9ECED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178446" cy="7564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571831" y="3894975"/>
            <a:ext cx="4474411" cy="2655282"/>
            <a:chOff x="0" y="0"/>
            <a:chExt cx="1178446" cy="69933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78446" cy="699334"/>
            </a:xfrm>
            <a:custGeom>
              <a:avLst/>
              <a:gdLst/>
              <a:ahLst/>
              <a:cxnLst/>
              <a:rect r="r" b="b" t="t" l="l"/>
              <a:pathLst>
                <a:path h="699334" w="1178446">
                  <a:moveTo>
                    <a:pt x="41526" y="0"/>
                  </a:moveTo>
                  <a:lnTo>
                    <a:pt x="1136919" y="0"/>
                  </a:lnTo>
                  <a:cubicBezTo>
                    <a:pt x="1147933" y="0"/>
                    <a:pt x="1158495" y="4375"/>
                    <a:pt x="1166283" y="12163"/>
                  </a:cubicBezTo>
                  <a:cubicBezTo>
                    <a:pt x="1174071" y="19950"/>
                    <a:pt x="1178446" y="30513"/>
                    <a:pt x="1178446" y="41526"/>
                  </a:cubicBezTo>
                  <a:lnTo>
                    <a:pt x="1178446" y="657807"/>
                  </a:lnTo>
                  <a:cubicBezTo>
                    <a:pt x="1178446" y="668821"/>
                    <a:pt x="1174071" y="679383"/>
                    <a:pt x="1166283" y="687171"/>
                  </a:cubicBezTo>
                  <a:cubicBezTo>
                    <a:pt x="1158495" y="694959"/>
                    <a:pt x="1147933" y="699334"/>
                    <a:pt x="1136919" y="699334"/>
                  </a:cubicBezTo>
                  <a:lnTo>
                    <a:pt x="41526" y="699334"/>
                  </a:lnTo>
                  <a:cubicBezTo>
                    <a:pt x="30513" y="699334"/>
                    <a:pt x="19950" y="694959"/>
                    <a:pt x="12163" y="687171"/>
                  </a:cubicBezTo>
                  <a:cubicBezTo>
                    <a:pt x="4375" y="679383"/>
                    <a:pt x="0" y="668821"/>
                    <a:pt x="0" y="657807"/>
                  </a:cubicBezTo>
                  <a:lnTo>
                    <a:pt x="0" y="41526"/>
                  </a:lnTo>
                  <a:cubicBezTo>
                    <a:pt x="0" y="30513"/>
                    <a:pt x="4375" y="19950"/>
                    <a:pt x="12163" y="12163"/>
                  </a:cubicBezTo>
                  <a:cubicBezTo>
                    <a:pt x="19950" y="4375"/>
                    <a:pt x="30513" y="0"/>
                    <a:pt x="4152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EA4">
                    <a:alpha val="100000"/>
                  </a:srgbClr>
                </a:gs>
                <a:gs pos="100000">
                  <a:srgbClr val="9ECED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178446" cy="7564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719583" y="4920973"/>
            <a:ext cx="3518761" cy="1422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3"/>
              </a:lnSpc>
            </a:pPr>
            <a:r>
              <a:rPr lang="en-US" sz="1791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Weatherproof aluminium casing (6061-O alloy) combined with PETG 3D-printed inner holders.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41758" y="4422114"/>
            <a:ext cx="4474411" cy="374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8"/>
              </a:lnSpc>
            </a:pPr>
            <a:r>
              <a:rPr lang="en-US" b="true" sz="214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Material Selection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664174" y="1322744"/>
            <a:ext cx="10959652" cy="666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5"/>
              </a:lnSpc>
            </a:pPr>
            <a:r>
              <a:rPr lang="en-US" b="true" sz="388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Casing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-2941137" y="-3819262"/>
            <a:ext cx="8202286" cy="9327211"/>
          </a:xfrm>
          <a:custGeom>
            <a:avLst/>
            <a:gdLst/>
            <a:ahLst/>
            <a:cxnLst/>
            <a:rect r="r" b="b" t="t" l="l"/>
            <a:pathLst>
              <a:path h="9327211" w="8202286">
                <a:moveTo>
                  <a:pt x="0" y="0"/>
                </a:moveTo>
                <a:lnTo>
                  <a:pt x="8202286" y="0"/>
                </a:lnTo>
                <a:lnTo>
                  <a:pt x="8202286" y="9327211"/>
                </a:lnTo>
                <a:lnTo>
                  <a:pt x="0" y="93272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632297" y="5771438"/>
            <a:ext cx="551071" cy="669071"/>
          </a:xfrm>
          <a:custGeom>
            <a:avLst/>
            <a:gdLst/>
            <a:ahLst/>
            <a:cxnLst/>
            <a:rect r="r" b="b" t="t" l="l"/>
            <a:pathLst>
              <a:path h="669071" w="551071">
                <a:moveTo>
                  <a:pt x="0" y="0"/>
                </a:moveTo>
                <a:lnTo>
                  <a:pt x="551072" y="0"/>
                </a:lnTo>
                <a:lnTo>
                  <a:pt x="551072" y="669071"/>
                </a:lnTo>
                <a:lnTo>
                  <a:pt x="0" y="6690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391616" y="5771438"/>
            <a:ext cx="458148" cy="561206"/>
          </a:xfrm>
          <a:custGeom>
            <a:avLst/>
            <a:gdLst/>
            <a:ahLst/>
            <a:cxnLst/>
            <a:rect r="r" b="b" t="t" l="l"/>
            <a:pathLst>
              <a:path h="561206" w="458148">
                <a:moveTo>
                  <a:pt x="0" y="0"/>
                </a:moveTo>
                <a:lnTo>
                  <a:pt x="458148" y="0"/>
                </a:lnTo>
                <a:lnTo>
                  <a:pt x="458148" y="561206"/>
                </a:lnTo>
                <a:lnTo>
                  <a:pt x="0" y="5612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807089" y="7433756"/>
            <a:ext cx="3243666" cy="2563756"/>
          </a:xfrm>
          <a:custGeom>
            <a:avLst/>
            <a:gdLst/>
            <a:ahLst/>
            <a:cxnLst/>
            <a:rect r="r" b="b" t="t" l="l"/>
            <a:pathLst>
              <a:path h="2563756" w="3243666">
                <a:moveTo>
                  <a:pt x="0" y="0"/>
                </a:moveTo>
                <a:lnTo>
                  <a:pt x="3243666" y="0"/>
                </a:lnTo>
                <a:lnTo>
                  <a:pt x="3243666" y="2563756"/>
                </a:lnTo>
                <a:lnTo>
                  <a:pt x="0" y="256375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7449" t="-61851" r="-116764" b="-50905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946900" y="5138193"/>
            <a:ext cx="622173" cy="622173"/>
          </a:xfrm>
          <a:custGeom>
            <a:avLst/>
            <a:gdLst/>
            <a:ahLst/>
            <a:cxnLst/>
            <a:rect r="r" b="b" t="t" l="l"/>
            <a:pathLst>
              <a:path h="622173" w="622173">
                <a:moveTo>
                  <a:pt x="0" y="0"/>
                </a:moveTo>
                <a:lnTo>
                  <a:pt x="622173" y="0"/>
                </a:lnTo>
                <a:lnTo>
                  <a:pt x="622173" y="622173"/>
                </a:lnTo>
                <a:lnTo>
                  <a:pt x="0" y="62217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1678067" y="5117768"/>
            <a:ext cx="596903" cy="596903"/>
          </a:xfrm>
          <a:custGeom>
            <a:avLst/>
            <a:gdLst/>
            <a:ahLst/>
            <a:cxnLst/>
            <a:rect r="r" b="b" t="t" l="l"/>
            <a:pathLst>
              <a:path h="596903" w="596903">
                <a:moveTo>
                  <a:pt x="0" y="0"/>
                </a:moveTo>
                <a:lnTo>
                  <a:pt x="596903" y="0"/>
                </a:lnTo>
                <a:lnTo>
                  <a:pt x="596903" y="596902"/>
                </a:lnTo>
                <a:lnTo>
                  <a:pt x="0" y="59690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679531" y="7433756"/>
            <a:ext cx="3127558" cy="2541795"/>
          </a:xfrm>
          <a:custGeom>
            <a:avLst/>
            <a:gdLst/>
            <a:ahLst/>
            <a:cxnLst/>
            <a:rect r="r" b="b" t="t" l="l"/>
            <a:pathLst>
              <a:path h="2541795" w="3127558">
                <a:moveTo>
                  <a:pt x="0" y="0"/>
                </a:moveTo>
                <a:lnTo>
                  <a:pt x="3127558" y="0"/>
                </a:lnTo>
                <a:lnTo>
                  <a:pt x="3127558" y="2541795"/>
                </a:lnTo>
                <a:lnTo>
                  <a:pt x="0" y="254179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6879477" y="8524728"/>
            <a:ext cx="1314523" cy="359851"/>
          </a:xfrm>
          <a:custGeom>
            <a:avLst/>
            <a:gdLst/>
            <a:ahLst/>
            <a:cxnLst/>
            <a:rect r="r" b="b" t="t" l="l"/>
            <a:pathLst>
              <a:path h="359851" w="1314523">
                <a:moveTo>
                  <a:pt x="0" y="0"/>
                </a:moveTo>
                <a:lnTo>
                  <a:pt x="1314523" y="0"/>
                </a:lnTo>
                <a:lnTo>
                  <a:pt x="1314523" y="359851"/>
                </a:lnTo>
                <a:lnTo>
                  <a:pt x="0" y="35985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7277629" y="4920973"/>
            <a:ext cx="3728383" cy="989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5"/>
              </a:lnSpc>
            </a:pPr>
            <a:r>
              <a:rPr lang="en-US" sz="1686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Waterproof and impact-resistant design tested under simulated field conditions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226457" y="4986057"/>
            <a:ext cx="3165158" cy="902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6"/>
              </a:lnSpc>
            </a:pPr>
            <a:r>
              <a:rPr lang="en-US" sz="1531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Ventilated design and cooling system to prevent overheating, ensuring component longevity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906794" y="4422114"/>
            <a:ext cx="4474411" cy="374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8"/>
              </a:lnSpc>
            </a:pPr>
            <a:r>
              <a:rPr lang="en-US" b="true" sz="214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Durability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571831" y="4422114"/>
            <a:ext cx="4474411" cy="374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8"/>
              </a:lnSpc>
            </a:pPr>
            <a:r>
              <a:rPr lang="en-US" b="true" sz="214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Thermal Management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730053" y="2219472"/>
            <a:ext cx="6832253" cy="355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3"/>
              </a:lnSpc>
              <a:spcBef>
                <a:spcPct val="0"/>
              </a:spcBef>
            </a:pPr>
            <a:r>
              <a:rPr lang="en-US" sz="2131">
                <a:solidFill>
                  <a:srgbClr val="000000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for </a:t>
            </a:r>
            <a:r>
              <a:rPr lang="en-US" sz="2131">
                <a:solidFill>
                  <a:srgbClr val="000000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supporting long-term field deployment in outdoors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542722" y="8399298"/>
            <a:ext cx="3851225" cy="497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03"/>
              </a:lnSpc>
              <a:spcBef>
                <a:spcPct val="0"/>
              </a:spcBef>
            </a:pPr>
            <a:r>
              <a:rPr lang="en-US" sz="2931">
                <a:solidFill>
                  <a:srgbClr val="000000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Final Casing Assembly</a:t>
            </a:r>
          </a:p>
        </p:txBody>
      </p:sp>
    </p:spTree>
  </p:cSld>
  <p:clrMapOvr>
    <a:masterClrMapping/>
  </p:clrMapOvr>
  <p:transition spd="fast">
    <p:wipe dir="l"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706387" y="6489031"/>
            <a:ext cx="8202286" cy="9327211"/>
          </a:xfrm>
          <a:custGeom>
            <a:avLst/>
            <a:gdLst/>
            <a:ahLst/>
            <a:cxnLst/>
            <a:rect r="r" b="b" t="t" l="l"/>
            <a:pathLst>
              <a:path h="9327211" w="8202286">
                <a:moveTo>
                  <a:pt x="0" y="0"/>
                </a:moveTo>
                <a:lnTo>
                  <a:pt x="8202286" y="0"/>
                </a:lnTo>
                <a:lnTo>
                  <a:pt x="8202286" y="9327211"/>
                </a:lnTo>
                <a:lnTo>
                  <a:pt x="0" y="93272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08295" y="4662653"/>
            <a:ext cx="4908481" cy="842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6"/>
              </a:lnSpc>
            </a:pPr>
            <a:r>
              <a:rPr lang="en-US" sz="1431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Deforestation, urbanization, and climate change are rapidly destroying natural habitats, putting many species at risk of extinction.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525244" y="4241237"/>
            <a:ext cx="11237512" cy="87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95"/>
              </a:lnSpc>
            </a:pPr>
            <a:r>
              <a:rPr lang="en-US" b="true" sz="521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Challenges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3348068" y="-4607409"/>
            <a:ext cx="8202286" cy="9327211"/>
          </a:xfrm>
          <a:custGeom>
            <a:avLst/>
            <a:gdLst/>
            <a:ahLst/>
            <a:cxnLst/>
            <a:rect r="r" b="b" t="t" l="l"/>
            <a:pathLst>
              <a:path h="9327211" w="8202286">
                <a:moveTo>
                  <a:pt x="0" y="0"/>
                </a:moveTo>
                <a:lnTo>
                  <a:pt x="8202285" y="0"/>
                </a:lnTo>
                <a:lnTo>
                  <a:pt x="8202285" y="9327212"/>
                </a:lnTo>
                <a:lnTo>
                  <a:pt x="0" y="9327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cover dir="d"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39443" y="2901348"/>
            <a:ext cx="7340882" cy="3271337"/>
            <a:chOff x="0" y="0"/>
            <a:chExt cx="1933401" cy="8615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33401" cy="861587"/>
            </a:xfrm>
            <a:custGeom>
              <a:avLst/>
              <a:gdLst/>
              <a:ahLst/>
              <a:cxnLst/>
              <a:rect r="r" b="b" t="t" l="l"/>
              <a:pathLst>
                <a:path h="861587" w="1933401">
                  <a:moveTo>
                    <a:pt x="25311" y="0"/>
                  </a:moveTo>
                  <a:lnTo>
                    <a:pt x="1908090" y="0"/>
                  </a:lnTo>
                  <a:cubicBezTo>
                    <a:pt x="1914803" y="0"/>
                    <a:pt x="1921241" y="2667"/>
                    <a:pt x="1925987" y="7413"/>
                  </a:cubicBezTo>
                  <a:cubicBezTo>
                    <a:pt x="1930734" y="12160"/>
                    <a:pt x="1933401" y="18598"/>
                    <a:pt x="1933401" y="25311"/>
                  </a:cubicBezTo>
                  <a:lnTo>
                    <a:pt x="1933401" y="836275"/>
                  </a:lnTo>
                  <a:cubicBezTo>
                    <a:pt x="1933401" y="842988"/>
                    <a:pt x="1930734" y="849426"/>
                    <a:pt x="1925987" y="854173"/>
                  </a:cubicBezTo>
                  <a:cubicBezTo>
                    <a:pt x="1921241" y="858920"/>
                    <a:pt x="1914803" y="861587"/>
                    <a:pt x="1908090" y="861587"/>
                  </a:cubicBezTo>
                  <a:lnTo>
                    <a:pt x="25311" y="861587"/>
                  </a:lnTo>
                  <a:cubicBezTo>
                    <a:pt x="18598" y="861587"/>
                    <a:pt x="12160" y="858920"/>
                    <a:pt x="7413" y="854173"/>
                  </a:cubicBezTo>
                  <a:cubicBezTo>
                    <a:pt x="2667" y="849426"/>
                    <a:pt x="0" y="842988"/>
                    <a:pt x="0" y="836275"/>
                  </a:cubicBezTo>
                  <a:lnTo>
                    <a:pt x="0" y="25311"/>
                  </a:lnTo>
                  <a:cubicBezTo>
                    <a:pt x="0" y="18598"/>
                    <a:pt x="2667" y="12160"/>
                    <a:pt x="7413" y="7413"/>
                  </a:cubicBezTo>
                  <a:cubicBezTo>
                    <a:pt x="12160" y="2667"/>
                    <a:pt x="18598" y="0"/>
                    <a:pt x="2531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EA4">
                    <a:alpha val="100000"/>
                  </a:srgbClr>
                </a:gs>
                <a:gs pos="100000">
                  <a:srgbClr val="9ECED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933401" cy="9092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8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39443" y="6591785"/>
            <a:ext cx="7340882" cy="3604574"/>
            <a:chOff x="0" y="0"/>
            <a:chExt cx="1933401" cy="94935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33401" cy="949353"/>
            </a:xfrm>
            <a:custGeom>
              <a:avLst/>
              <a:gdLst/>
              <a:ahLst/>
              <a:cxnLst/>
              <a:rect r="r" b="b" t="t" l="l"/>
              <a:pathLst>
                <a:path h="949353" w="1933401">
                  <a:moveTo>
                    <a:pt x="25311" y="0"/>
                  </a:moveTo>
                  <a:lnTo>
                    <a:pt x="1908090" y="0"/>
                  </a:lnTo>
                  <a:cubicBezTo>
                    <a:pt x="1914803" y="0"/>
                    <a:pt x="1921241" y="2667"/>
                    <a:pt x="1925987" y="7413"/>
                  </a:cubicBezTo>
                  <a:cubicBezTo>
                    <a:pt x="1930734" y="12160"/>
                    <a:pt x="1933401" y="18598"/>
                    <a:pt x="1933401" y="25311"/>
                  </a:cubicBezTo>
                  <a:lnTo>
                    <a:pt x="1933401" y="924042"/>
                  </a:lnTo>
                  <a:cubicBezTo>
                    <a:pt x="1933401" y="930755"/>
                    <a:pt x="1930734" y="937193"/>
                    <a:pt x="1925987" y="941939"/>
                  </a:cubicBezTo>
                  <a:cubicBezTo>
                    <a:pt x="1921241" y="946686"/>
                    <a:pt x="1914803" y="949353"/>
                    <a:pt x="1908090" y="949353"/>
                  </a:cubicBezTo>
                  <a:lnTo>
                    <a:pt x="25311" y="949353"/>
                  </a:lnTo>
                  <a:cubicBezTo>
                    <a:pt x="18598" y="949353"/>
                    <a:pt x="12160" y="946686"/>
                    <a:pt x="7413" y="941939"/>
                  </a:cubicBezTo>
                  <a:cubicBezTo>
                    <a:pt x="2667" y="937193"/>
                    <a:pt x="0" y="930755"/>
                    <a:pt x="0" y="924042"/>
                  </a:cubicBezTo>
                  <a:lnTo>
                    <a:pt x="0" y="25311"/>
                  </a:lnTo>
                  <a:cubicBezTo>
                    <a:pt x="0" y="18598"/>
                    <a:pt x="2667" y="12160"/>
                    <a:pt x="7413" y="7413"/>
                  </a:cubicBezTo>
                  <a:cubicBezTo>
                    <a:pt x="12160" y="2667"/>
                    <a:pt x="18598" y="0"/>
                    <a:pt x="2531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EA4">
                    <a:alpha val="100000"/>
                  </a:srgbClr>
                </a:gs>
                <a:gs pos="100000">
                  <a:srgbClr val="9ECED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933401" cy="1006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3706387" y="6489031"/>
            <a:ext cx="8202286" cy="9327211"/>
          </a:xfrm>
          <a:custGeom>
            <a:avLst/>
            <a:gdLst/>
            <a:ahLst/>
            <a:cxnLst/>
            <a:rect r="r" b="b" t="t" l="l"/>
            <a:pathLst>
              <a:path h="9327211" w="8202286">
                <a:moveTo>
                  <a:pt x="0" y="0"/>
                </a:moveTo>
                <a:lnTo>
                  <a:pt x="8202286" y="0"/>
                </a:lnTo>
                <a:lnTo>
                  <a:pt x="8202286" y="9327211"/>
                </a:lnTo>
                <a:lnTo>
                  <a:pt x="0" y="93272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7178670" y="3162713"/>
            <a:ext cx="6090687" cy="663046"/>
            <a:chOff x="0" y="0"/>
            <a:chExt cx="1604132" cy="17462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04132" cy="174629"/>
            </a:xfrm>
            <a:custGeom>
              <a:avLst/>
              <a:gdLst/>
              <a:ahLst/>
              <a:cxnLst/>
              <a:rect r="r" b="b" t="t" l="l"/>
              <a:pathLst>
                <a:path h="174629" w="1604132">
                  <a:moveTo>
                    <a:pt x="24151" y="0"/>
                  </a:moveTo>
                  <a:lnTo>
                    <a:pt x="1579980" y="0"/>
                  </a:lnTo>
                  <a:cubicBezTo>
                    <a:pt x="1593319" y="0"/>
                    <a:pt x="1604132" y="10813"/>
                    <a:pt x="1604132" y="24151"/>
                  </a:cubicBezTo>
                  <a:lnTo>
                    <a:pt x="1604132" y="150478"/>
                  </a:lnTo>
                  <a:cubicBezTo>
                    <a:pt x="1604132" y="163817"/>
                    <a:pt x="1593319" y="174629"/>
                    <a:pt x="1579980" y="174629"/>
                  </a:cubicBezTo>
                  <a:lnTo>
                    <a:pt x="24151" y="174629"/>
                  </a:lnTo>
                  <a:cubicBezTo>
                    <a:pt x="10813" y="174629"/>
                    <a:pt x="0" y="163817"/>
                    <a:pt x="0" y="150478"/>
                  </a:cubicBezTo>
                  <a:lnTo>
                    <a:pt x="0" y="24151"/>
                  </a:lnTo>
                  <a:cubicBezTo>
                    <a:pt x="0" y="10813"/>
                    <a:pt x="10813" y="0"/>
                    <a:pt x="2415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604132" cy="2222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83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178670" y="6818432"/>
            <a:ext cx="6090687" cy="663046"/>
            <a:chOff x="0" y="0"/>
            <a:chExt cx="1604132" cy="1746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04132" cy="174629"/>
            </a:xfrm>
            <a:custGeom>
              <a:avLst/>
              <a:gdLst/>
              <a:ahLst/>
              <a:cxnLst/>
              <a:rect r="r" b="b" t="t" l="l"/>
              <a:pathLst>
                <a:path h="174629" w="1604132">
                  <a:moveTo>
                    <a:pt x="24151" y="0"/>
                  </a:moveTo>
                  <a:lnTo>
                    <a:pt x="1579980" y="0"/>
                  </a:lnTo>
                  <a:cubicBezTo>
                    <a:pt x="1593319" y="0"/>
                    <a:pt x="1604132" y="10813"/>
                    <a:pt x="1604132" y="24151"/>
                  </a:cubicBezTo>
                  <a:lnTo>
                    <a:pt x="1604132" y="150478"/>
                  </a:lnTo>
                  <a:cubicBezTo>
                    <a:pt x="1604132" y="163817"/>
                    <a:pt x="1593319" y="174629"/>
                    <a:pt x="1579980" y="174629"/>
                  </a:cubicBezTo>
                  <a:lnTo>
                    <a:pt x="24151" y="174629"/>
                  </a:lnTo>
                  <a:cubicBezTo>
                    <a:pt x="10813" y="174629"/>
                    <a:pt x="0" y="163817"/>
                    <a:pt x="0" y="150478"/>
                  </a:cubicBezTo>
                  <a:lnTo>
                    <a:pt x="0" y="24151"/>
                  </a:lnTo>
                  <a:cubicBezTo>
                    <a:pt x="0" y="10813"/>
                    <a:pt x="10813" y="0"/>
                    <a:pt x="2415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604132" cy="231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804176" y="1178668"/>
            <a:ext cx="10959652" cy="666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5"/>
              </a:lnSpc>
            </a:pPr>
            <a:r>
              <a:rPr lang="en-US" b="true" sz="388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Detection Error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804176" y="1880382"/>
            <a:ext cx="10959652" cy="666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5"/>
              </a:lnSpc>
            </a:pPr>
            <a:r>
              <a:rPr lang="en-US" b="true" sz="3882">
                <a:solidFill>
                  <a:srgbClr val="60BC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Protecting our Planet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2986648" y="-2177256"/>
            <a:ext cx="8202286" cy="9327211"/>
          </a:xfrm>
          <a:custGeom>
            <a:avLst/>
            <a:gdLst/>
            <a:ahLst/>
            <a:cxnLst/>
            <a:rect r="r" b="b" t="t" l="l"/>
            <a:pathLst>
              <a:path h="9327211" w="8202286">
                <a:moveTo>
                  <a:pt x="0" y="0"/>
                </a:moveTo>
                <a:lnTo>
                  <a:pt x="8202285" y="0"/>
                </a:lnTo>
                <a:lnTo>
                  <a:pt x="8202285" y="9327211"/>
                </a:lnTo>
                <a:lnTo>
                  <a:pt x="0" y="93272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394756" y="4537017"/>
            <a:ext cx="5725531" cy="3217096"/>
          </a:xfrm>
          <a:custGeom>
            <a:avLst/>
            <a:gdLst/>
            <a:ahLst/>
            <a:cxnLst/>
            <a:rect r="r" b="b" t="t" l="l"/>
            <a:pathLst>
              <a:path h="3217096" w="5725531">
                <a:moveTo>
                  <a:pt x="0" y="0"/>
                </a:moveTo>
                <a:lnTo>
                  <a:pt x="5725531" y="0"/>
                </a:lnTo>
                <a:lnTo>
                  <a:pt x="5725531" y="3217096"/>
                </a:lnTo>
                <a:lnTo>
                  <a:pt x="0" y="32170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7179396" y="7510053"/>
            <a:ext cx="6519778" cy="3050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7886" indent="-233943" lvl="1">
              <a:lnSpc>
                <a:spcPts val="3476"/>
              </a:lnSpc>
              <a:buFont typeface="Arial"/>
              <a:buChar char="•"/>
            </a:pPr>
            <a:r>
              <a:rPr lang="en-US" sz="2167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Shotgun microphone struggles to pick up distant or off-axis elephant calls</a:t>
            </a:r>
          </a:p>
          <a:p>
            <a:pPr algn="l" marL="467886" indent="-233943" lvl="1">
              <a:lnSpc>
                <a:spcPts val="3476"/>
              </a:lnSpc>
              <a:buFont typeface="Arial"/>
              <a:buChar char="•"/>
            </a:pPr>
            <a:r>
              <a:rPr lang="en-US" sz="2167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Elephants rarely vocalize; detection window is small</a:t>
            </a:r>
          </a:p>
          <a:p>
            <a:pPr algn="l" marL="467886" indent="-233943" lvl="1">
              <a:lnSpc>
                <a:spcPts val="3476"/>
              </a:lnSpc>
              <a:buFont typeface="Arial"/>
              <a:buChar char="•"/>
            </a:pPr>
            <a:r>
              <a:rPr lang="en-US" sz="2167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Detection success depends heavily on mic placement and environmental noise</a:t>
            </a:r>
          </a:p>
          <a:p>
            <a:pPr algn="l" marL="467886" indent="-233943" lvl="1">
              <a:lnSpc>
                <a:spcPts val="3476"/>
              </a:lnSpc>
              <a:buFont typeface="Arial"/>
              <a:buChar char="•"/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7420637" y="6949187"/>
            <a:ext cx="5905870" cy="372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8"/>
              </a:lnSpc>
            </a:pPr>
            <a:r>
              <a:rPr lang="en-US" b="true" sz="2149">
                <a:solidFill>
                  <a:srgbClr val="60BC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Audio detection challenges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420637" y="3993373"/>
            <a:ext cx="5324770" cy="1663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2433" indent="-226217" lvl="1">
              <a:lnSpc>
                <a:spcPts val="3361"/>
              </a:lnSpc>
              <a:buFont typeface="Arial"/>
              <a:buChar char="•"/>
            </a:pPr>
            <a:r>
              <a:rPr lang="en-US" sz="2095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Human detected as elephant </a:t>
            </a:r>
          </a:p>
          <a:p>
            <a:pPr algn="l" marL="452433" indent="-226217" lvl="1">
              <a:lnSpc>
                <a:spcPts val="3361"/>
              </a:lnSpc>
              <a:buFont typeface="Arial"/>
              <a:buChar char="•"/>
            </a:pPr>
            <a:r>
              <a:rPr lang="en-US" sz="2095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Posture resembling elephant shapes</a:t>
            </a:r>
          </a:p>
          <a:p>
            <a:pPr algn="l" marL="452433" indent="-226217" lvl="1">
              <a:lnSpc>
                <a:spcPts val="3361"/>
              </a:lnSpc>
              <a:buFont typeface="Arial"/>
              <a:buChar char="•"/>
            </a:pPr>
            <a:r>
              <a:rPr lang="en-US" sz="2095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Large Size or backpacks</a:t>
            </a:r>
          </a:p>
          <a:p>
            <a:pPr algn="l" marL="452433" indent="-226217" lvl="1">
              <a:lnSpc>
                <a:spcPts val="3361"/>
              </a:lnSpc>
              <a:buFont typeface="Arial"/>
              <a:buChar char="•"/>
            </a:pPr>
            <a:r>
              <a:rPr lang="en-US" sz="2095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Dark Clothing confuse the model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271079" y="3282575"/>
            <a:ext cx="5905870" cy="381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8"/>
              </a:lnSpc>
            </a:pPr>
            <a:r>
              <a:rPr lang="en-US" b="true" sz="2249">
                <a:solidFill>
                  <a:srgbClr val="60BC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False positives in image detection </a:t>
            </a:r>
          </a:p>
        </p:txBody>
      </p:sp>
    </p:spTree>
  </p:cSld>
  <p:clrMapOvr>
    <a:masterClrMapping/>
  </p:clrMapOvr>
  <p:transition spd="fast">
    <p:fade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04315" y="-1564992"/>
            <a:ext cx="8202286" cy="9327211"/>
          </a:xfrm>
          <a:custGeom>
            <a:avLst/>
            <a:gdLst/>
            <a:ahLst/>
            <a:cxnLst/>
            <a:rect r="r" b="b" t="t" l="l"/>
            <a:pathLst>
              <a:path h="9327211" w="8202286">
                <a:moveTo>
                  <a:pt x="0" y="0"/>
                </a:moveTo>
                <a:lnTo>
                  <a:pt x="8202286" y="0"/>
                </a:lnTo>
                <a:lnTo>
                  <a:pt x="8202286" y="9327212"/>
                </a:lnTo>
                <a:lnTo>
                  <a:pt x="0" y="9327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42954" y="4007897"/>
            <a:ext cx="4474411" cy="374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8"/>
              </a:lnSpc>
            </a:pPr>
            <a:r>
              <a:rPr lang="en-US" b="true" sz="214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Satellite Monitoring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88956" y="2176534"/>
            <a:ext cx="7340882" cy="3562115"/>
            <a:chOff x="0" y="0"/>
            <a:chExt cx="1933401" cy="9381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33401" cy="938170"/>
            </a:xfrm>
            <a:custGeom>
              <a:avLst/>
              <a:gdLst/>
              <a:ahLst/>
              <a:cxnLst/>
              <a:rect r="r" b="b" t="t" l="l"/>
              <a:pathLst>
                <a:path h="938170" w="1933401">
                  <a:moveTo>
                    <a:pt x="25311" y="0"/>
                  </a:moveTo>
                  <a:lnTo>
                    <a:pt x="1908090" y="0"/>
                  </a:lnTo>
                  <a:cubicBezTo>
                    <a:pt x="1914803" y="0"/>
                    <a:pt x="1921241" y="2667"/>
                    <a:pt x="1925987" y="7413"/>
                  </a:cubicBezTo>
                  <a:cubicBezTo>
                    <a:pt x="1930734" y="12160"/>
                    <a:pt x="1933401" y="18598"/>
                    <a:pt x="1933401" y="25311"/>
                  </a:cubicBezTo>
                  <a:lnTo>
                    <a:pt x="1933401" y="912859"/>
                  </a:lnTo>
                  <a:cubicBezTo>
                    <a:pt x="1933401" y="919572"/>
                    <a:pt x="1930734" y="926010"/>
                    <a:pt x="1925987" y="930757"/>
                  </a:cubicBezTo>
                  <a:cubicBezTo>
                    <a:pt x="1921241" y="935503"/>
                    <a:pt x="1914803" y="938170"/>
                    <a:pt x="1908090" y="938170"/>
                  </a:cubicBezTo>
                  <a:lnTo>
                    <a:pt x="25311" y="938170"/>
                  </a:lnTo>
                  <a:cubicBezTo>
                    <a:pt x="18598" y="938170"/>
                    <a:pt x="12160" y="935503"/>
                    <a:pt x="7413" y="930757"/>
                  </a:cubicBezTo>
                  <a:cubicBezTo>
                    <a:pt x="2667" y="926010"/>
                    <a:pt x="0" y="919572"/>
                    <a:pt x="0" y="912859"/>
                  </a:cubicBezTo>
                  <a:lnTo>
                    <a:pt x="0" y="25311"/>
                  </a:lnTo>
                  <a:cubicBezTo>
                    <a:pt x="0" y="18598"/>
                    <a:pt x="2667" y="12160"/>
                    <a:pt x="7413" y="7413"/>
                  </a:cubicBezTo>
                  <a:cubicBezTo>
                    <a:pt x="12160" y="2667"/>
                    <a:pt x="18598" y="0"/>
                    <a:pt x="2531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EA4">
                    <a:alpha val="100000"/>
                  </a:srgbClr>
                </a:gs>
                <a:gs pos="100000">
                  <a:srgbClr val="9ECED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933401" cy="9857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83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214053" y="2244861"/>
            <a:ext cx="6090687" cy="663046"/>
            <a:chOff x="0" y="0"/>
            <a:chExt cx="1604132" cy="17462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04132" cy="174629"/>
            </a:xfrm>
            <a:custGeom>
              <a:avLst/>
              <a:gdLst/>
              <a:ahLst/>
              <a:cxnLst/>
              <a:rect r="r" b="b" t="t" l="l"/>
              <a:pathLst>
                <a:path h="174629" w="1604132">
                  <a:moveTo>
                    <a:pt x="24151" y="0"/>
                  </a:moveTo>
                  <a:lnTo>
                    <a:pt x="1579980" y="0"/>
                  </a:lnTo>
                  <a:cubicBezTo>
                    <a:pt x="1593319" y="0"/>
                    <a:pt x="1604132" y="10813"/>
                    <a:pt x="1604132" y="24151"/>
                  </a:cubicBezTo>
                  <a:lnTo>
                    <a:pt x="1604132" y="150478"/>
                  </a:lnTo>
                  <a:cubicBezTo>
                    <a:pt x="1604132" y="163817"/>
                    <a:pt x="1593319" y="174629"/>
                    <a:pt x="1579980" y="174629"/>
                  </a:cubicBezTo>
                  <a:lnTo>
                    <a:pt x="24151" y="174629"/>
                  </a:lnTo>
                  <a:cubicBezTo>
                    <a:pt x="10813" y="174629"/>
                    <a:pt x="0" y="163817"/>
                    <a:pt x="0" y="150478"/>
                  </a:cubicBezTo>
                  <a:lnTo>
                    <a:pt x="0" y="24151"/>
                  </a:lnTo>
                  <a:cubicBezTo>
                    <a:pt x="0" y="10813"/>
                    <a:pt x="10813" y="0"/>
                    <a:pt x="2415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604132" cy="2222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83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1872874" y="3430137"/>
            <a:ext cx="8202286" cy="9327211"/>
          </a:xfrm>
          <a:custGeom>
            <a:avLst/>
            <a:gdLst/>
            <a:ahLst/>
            <a:cxnLst/>
            <a:rect r="r" b="b" t="t" l="l"/>
            <a:pathLst>
              <a:path h="9327211" w="8202286">
                <a:moveTo>
                  <a:pt x="0" y="0"/>
                </a:moveTo>
                <a:lnTo>
                  <a:pt x="8202286" y="0"/>
                </a:lnTo>
                <a:lnTo>
                  <a:pt x="8202286" y="9327211"/>
                </a:lnTo>
                <a:lnTo>
                  <a:pt x="0" y="93272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942954" y="8122697"/>
            <a:ext cx="4474411" cy="374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8"/>
              </a:lnSpc>
            </a:pPr>
            <a:r>
              <a:rPr lang="en-US" b="true" sz="214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Satellite Monitoring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588956" y="5986299"/>
            <a:ext cx="7340882" cy="3872531"/>
            <a:chOff x="0" y="0"/>
            <a:chExt cx="1933401" cy="101992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33401" cy="1019926"/>
            </a:xfrm>
            <a:custGeom>
              <a:avLst/>
              <a:gdLst/>
              <a:ahLst/>
              <a:cxnLst/>
              <a:rect r="r" b="b" t="t" l="l"/>
              <a:pathLst>
                <a:path h="1019926" w="1933401">
                  <a:moveTo>
                    <a:pt x="25311" y="0"/>
                  </a:moveTo>
                  <a:lnTo>
                    <a:pt x="1908090" y="0"/>
                  </a:lnTo>
                  <a:cubicBezTo>
                    <a:pt x="1914803" y="0"/>
                    <a:pt x="1921241" y="2667"/>
                    <a:pt x="1925987" y="7413"/>
                  </a:cubicBezTo>
                  <a:cubicBezTo>
                    <a:pt x="1930734" y="12160"/>
                    <a:pt x="1933401" y="18598"/>
                    <a:pt x="1933401" y="25311"/>
                  </a:cubicBezTo>
                  <a:lnTo>
                    <a:pt x="1933401" y="994615"/>
                  </a:lnTo>
                  <a:cubicBezTo>
                    <a:pt x="1933401" y="1001328"/>
                    <a:pt x="1930734" y="1007766"/>
                    <a:pt x="1925987" y="1012512"/>
                  </a:cubicBezTo>
                  <a:cubicBezTo>
                    <a:pt x="1921241" y="1017259"/>
                    <a:pt x="1914803" y="1019926"/>
                    <a:pt x="1908090" y="1019926"/>
                  </a:cubicBezTo>
                  <a:lnTo>
                    <a:pt x="25311" y="1019926"/>
                  </a:lnTo>
                  <a:cubicBezTo>
                    <a:pt x="18598" y="1019926"/>
                    <a:pt x="12160" y="1017259"/>
                    <a:pt x="7413" y="1012512"/>
                  </a:cubicBezTo>
                  <a:cubicBezTo>
                    <a:pt x="2667" y="1007766"/>
                    <a:pt x="0" y="1001328"/>
                    <a:pt x="0" y="994615"/>
                  </a:cubicBezTo>
                  <a:lnTo>
                    <a:pt x="0" y="25311"/>
                  </a:lnTo>
                  <a:cubicBezTo>
                    <a:pt x="0" y="18598"/>
                    <a:pt x="2667" y="12160"/>
                    <a:pt x="7413" y="7413"/>
                  </a:cubicBezTo>
                  <a:cubicBezTo>
                    <a:pt x="12160" y="2667"/>
                    <a:pt x="18598" y="0"/>
                    <a:pt x="2531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EA4">
                    <a:alpha val="100000"/>
                  </a:srgbClr>
                </a:gs>
                <a:gs pos="100000">
                  <a:srgbClr val="9ECED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933401" cy="1067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83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134816" y="6110551"/>
            <a:ext cx="6090687" cy="498220"/>
            <a:chOff x="0" y="0"/>
            <a:chExt cx="1604132" cy="13121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04132" cy="131218"/>
            </a:xfrm>
            <a:custGeom>
              <a:avLst/>
              <a:gdLst/>
              <a:ahLst/>
              <a:cxnLst/>
              <a:rect r="r" b="b" t="t" l="l"/>
              <a:pathLst>
                <a:path h="131218" w="1604132">
                  <a:moveTo>
                    <a:pt x="24151" y="0"/>
                  </a:moveTo>
                  <a:lnTo>
                    <a:pt x="1579980" y="0"/>
                  </a:lnTo>
                  <a:cubicBezTo>
                    <a:pt x="1593319" y="0"/>
                    <a:pt x="1604132" y="10813"/>
                    <a:pt x="1604132" y="24151"/>
                  </a:cubicBezTo>
                  <a:lnTo>
                    <a:pt x="1604132" y="107067"/>
                  </a:lnTo>
                  <a:cubicBezTo>
                    <a:pt x="1604132" y="120406"/>
                    <a:pt x="1593319" y="131218"/>
                    <a:pt x="1579980" y="131218"/>
                  </a:cubicBezTo>
                  <a:lnTo>
                    <a:pt x="24151" y="131218"/>
                  </a:lnTo>
                  <a:cubicBezTo>
                    <a:pt x="10813" y="131218"/>
                    <a:pt x="0" y="120406"/>
                    <a:pt x="0" y="107067"/>
                  </a:cubicBezTo>
                  <a:lnTo>
                    <a:pt x="0" y="24151"/>
                  </a:lnTo>
                  <a:cubicBezTo>
                    <a:pt x="0" y="10813"/>
                    <a:pt x="10813" y="0"/>
                    <a:pt x="2415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604132" cy="1788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83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8929837" y="1872163"/>
            <a:ext cx="1879207" cy="1879207"/>
          </a:xfrm>
          <a:custGeom>
            <a:avLst/>
            <a:gdLst/>
            <a:ahLst/>
            <a:cxnLst/>
            <a:rect r="r" b="b" t="t" l="l"/>
            <a:pathLst>
              <a:path h="1879207" w="1879207">
                <a:moveTo>
                  <a:pt x="0" y="0"/>
                </a:moveTo>
                <a:lnTo>
                  <a:pt x="1879207" y="0"/>
                </a:lnTo>
                <a:lnTo>
                  <a:pt x="1879207" y="1879207"/>
                </a:lnTo>
                <a:lnTo>
                  <a:pt x="0" y="18792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056239" y="5738649"/>
            <a:ext cx="6072040" cy="3913732"/>
          </a:xfrm>
          <a:custGeom>
            <a:avLst/>
            <a:gdLst/>
            <a:ahLst/>
            <a:cxnLst/>
            <a:rect r="r" b="b" t="t" l="l"/>
            <a:pathLst>
              <a:path h="3913732" w="6072040">
                <a:moveTo>
                  <a:pt x="0" y="0"/>
                </a:moveTo>
                <a:lnTo>
                  <a:pt x="6072040" y="0"/>
                </a:lnTo>
                <a:lnTo>
                  <a:pt x="6072040" y="3913732"/>
                </a:lnTo>
                <a:lnTo>
                  <a:pt x="0" y="39137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1066824" y="1872163"/>
            <a:ext cx="4050870" cy="3562115"/>
          </a:xfrm>
          <a:custGeom>
            <a:avLst/>
            <a:gdLst/>
            <a:ahLst/>
            <a:cxnLst/>
            <a:rect r="r" b="b" t="t" l="l"/>
            <a:pathLst>
              <a:path h="3562115" w="4050870">
                <a:moveTo>
                  <a:pt x="0" y="0"/>
                </a:moveTo>
                <a:lnTo>
                  <a:pt x="4050870" y="0"/>
                </a:lnTo>
                <a:lnTo>
                  <a:pt x="4050870" y="3562115"/>
                </a:lnTo>
                <a:lnTo>
                  <a:pt x="0" y="356211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664174" y="538345"/>
            <a:ext cx="10959652" cy="666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5"/>
              </a:lnSpc>
            </a:pPr>
            <a:r>
              <a:rPr lang="en-US" b="true" sz="388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Hardware Constraints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359048" y="2889535"/>
            <a:ext cx="5324770" cy="2582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6990" indent="-198495" lvl="1">
              <a:lnSpc>
                <a:spcPts val="2949"/>
              </a:lnSpc>
              <a:buFont typeface="Arial"/>
              <a:buChar char="•"/>
            </a:pPr>
            <a:r>
              <a:rPr lang="en-US" sz="1838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Device often shuts down during night due to insufficient daytime solar charging</a:t>
            </a:r>
          </a:p>
          <a:p>
            <a:pPr algn="l" marL="396990" indent="-198495" lvl="1">
              <a:lnSpc>
                <a:spcPts val="2949"/>
              </a:lnSpc>
              <a:buFont typeface="Arial"/>
              <a:buChar char="•"/>
            </a:pPr>
            <a:r>
              <a:rPr lang="en-US" sz="1838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Rainy or cloudy weather affects solar panel efficiency, leading to early deactivation</a:t>
            </a:r>
          </a:p>
          <a:p>
            <a:pPr algn="l" marL="396990" indent="-198495" lvl="1">
              <a:lnSpc>
                <a:spcPts val="2949"/>
              </a:lnSpc>
              <a:buFont typeface="Arial"/>
              <a:buChar char="•"/>
            </a:pPr>
            <a:r>
              <a:rPr lang="en-US" sz="1838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System depends heavily on solar charging conditions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306461" y="2364722"/>
            <a:ext cx="5905870" cy="381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8"/>
              </a:lnSpc>
            </a:pPr>
            <a:r>
              <a:rPr lang="en-US" b="true" sz="2249">
                <a:solidFill>
                  <a:srgbClr val="60BC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Power supply limitation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134816" y="6695994"/>
            <a:ext cx="5773234" cy="2823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024" indent="-190012" lvl="1">
              <a:lnSpc>
                <a:spcPts val="2823"/>
              </a:lnSpc>
              <a:buFont typeface="Arial"/>
              <a:buChar char="•"/>
            </a:pPr>
            <a:r>
              <a:rPr lang="en-US" sz="176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The bent metal casing introduces slight inconsistencies at the sealing edges. These gaps can reduce waterproof reliability.</a:t>
            </a:r>
          </a:p>
          <a:p>
            <a:pPr algn="l" marL="380024" indent="-190012" lvl="1">
              <a:lnSpc>
                <a:spcPts val="2823"/>
              </a:lnSpc>
              <a:buFont typeface="Arial"/>
              <a:buChar char="•"/>
            </a:pPr>
            <a:r>
              <a:rPr lang="en-US" sz="176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Manufacturing tolerances lead to gasket misalignment </a:t>
            </a:r>
          </a:p>
          <a:p>
            <a:pPr algn="l" marL="380024" indent="-190012" lvl="1">
              <a:lnSpc>
                <a:spcPts val="2823"/>
              </a:lnSpc>
              <a:buFont typeface="Arial"/>
              <a:buChar char="•"/>
            </a:pPr>
            <a:r>
              <a:rPr lang="en-US" sz="176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The current microphone housing effectively blocks rain. However, it limits audio sensitivity.</a:t>
            </a:r>
          </a:p>
          <a:p>
            <a:pPr algn="l">
              <a:lnSpc>
                <a:spcPts val="2823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2227224" y="6145339"/>
            <a:ext cx="5905870" cy="381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8"/>
              </a:lnSpc>
            </a:pPr>
            <a:r>
              <a:rPr lang="en-US" b="true" sz="2249">
                <a:solidFill>
                  <a:srgbClr val="60BC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Casing limitations</a:t>
            </a:r>
          </a:p>
        </p:txBody>
      </p:sp>
    </p:spTree>
  </p:cSld>
  <p:clrMapOvr>
    <a:masterClrMapping/>
  </p:clrMapOvr>
  <p:transition spd="slow">
    <p:cover dir="l"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825942" y="-3840113"/>
            <a:ext cx="8202286" cy="9327211"/>
          </a:xfrm>
          <a:custGeom>
            <a:avLst/>
            <a:gdLst/>
            <a:ahLst/>
            <a:cxnLst/>
            <a:rect r="r" b="b" t="t" l="l"/>
            <a:pathLst>
              <a:path h="9327211" w="8202286">
                <a:moveTo>
                  <a:pt x="0" y="0"/>
                </a:moveTo>
                <a:lnTo>
                  <a:pt x="8202286" y="0"/>
                </a:lnTo>
                <a:lnTo>
                  <a:pt x="8202286" y="9327212"/>
                </a:lnTo>
                <a:lnTo>
                  <a:pt x="0" y="9327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878138" y="2730236"/>
            <a:ext cx="5313923" cy="3153480"/>
            <a:chOff x="0" y="0"/>
            <a:chExt cx="1178446" cy="69933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78446" cy="699334"/>
            </a:xfrm>
            <a:custGeom>
              <a:avLst/>
              <a:gdLst/>
              <a:ahLst/>
              <a:cxnLst/>
              <a:rect r="r" b="b" t="t" l="l"/>
              <a:pathLst>
                <a:path h="699334" w="1178446">
                  <a:moveTo>
                    <a:pt x="34966" y="0"/>
                  </a:moveTo>
                  <a:lnTo>
                    <a:pt x="1143480" y="0"/>
                  </a:lnTo>
                  <a:cubicBezTo>
                    <a:pt x="1152753" y="0"/>
                    <a:pt x="1161647" y="3684"/>
                    <a:pt x="1168205" y="10241"/>
                  </a:cubicBezTo>
                  <a:cubicBezTo>
                    <a:pt x="1174762" y="16799"/>
                    <a:pt x="1178446" y="25692"/>
                    <a:pt x="1178446" y="34966"/>
                  </a:cubicBezTo>
                  <a:lnTo>
                    <a:pt x="1178446" y="664368"/>
                  </a:lnTo>
                  <a:cubicBezTo>
                    <a:pt x="1178446" y="683679"/>
                    <a:pt x="1162791" y="699334"/>
                    <a:pt x="1143480" y="699334"/>
                  </a:cubicBezTo>
                  <a:lnTo>
                    <a:pt x="34966" y="699334"/>
                  </a:lnTo>
                  <a:cubicBezTo>
                    <a:pt x="15655" y="699334"/>
                    <a:pt x="0" y="683679"/>
                    <a:pt x="0" y="664368"/>
                  </a:cubicBezTo>
                  <a:lnTo>
                    <a:pt x="0" y="34966"/>
                  </a:lnTo>
                  <a:cubicBezTo>
                    <a:pt x="0" y="15655"/>
                    <a:pt x="15655" y="0"/>
                    <a:pt x="3496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EA4">
                    <a:alpha val="100000"/>
                  </a:srgbClr>
                </a:gs>
                <a:gs pos="100000">
                  <a:srgbClr val="9ECED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178446" cy="7564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960187" y="2730236"/>
            <a:ext cx="5339234" cy="3168500"/>
            <a:chOff x="0" y="0"/>
            <a:chExt cx="1178446" cy="6993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78446" cy="699334"/>
            </a:xfrm>
            <a:custGeom>
              <a:avLst/>
              <a:gdLst/>
              <a:ahLst/>
              <a:cxnLst/>
              <a:rect r="r" b="b" t="t" l="l"/>
              <a:pathLst>
                <a:path h="699334" w="1178446">
                  <a:moveTo>
                    <a:pt x="34800" y="0"/>
                  </a:moveTo>
                  <a:lnTo>
                    <a:pt x="1143646" y="0"/>
                  </a:lnTo>
                  <a:cubicBezTo>
                    <a:pt x="1152875" y="0"/>
                    <a:pt x="1161727" y="3666"/>
                    <a:pt x="1168253" y="10193"/>
                  </a:cubicBezTo>
                  <a:cubicBezTo>
                    <a:pt x="1174779" y="16719"/>
                    <a:pt x="1178446" y="25571"/>
                    <a:pt x="1178446" y="34800"/>
                  </a:cubicBezTo>
                  <a:lnTo>
                    <a:pt x="1178446" y="664533"/>
                  </a:lnTo>
                  <a:cubicBezTo>
                    <a:pt x="1178446" y="683753"/>
                    <a:pt x="1162865" y="699334"/>
                    <a:pt x="1143646" y="699334"/>
                  </a:cubicBezTo>
                  <a:lnTo>
                    <a:pt x="34800" y="699334"/>
                  </a:lnTo>
                  <a:cubicBezTo>
                    <a:pt x="15581" y="699334"/>
                    <a:pt x="0" y="683753"/>
                    <a:pt x="0" y="664533"/>
                  </a:cubicBezTo>
                  <a:lnTo>
                    <a:pt x="0" y="34800"/>
                  </a:lnTo>
                  <a:cubicBezTo>
                    <a:pt x="0" y="15581"/>
                    <a:pt x="15581" y="0"/>
                    <a:pt x="348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EA4">
                    <a:alpha val="100000"/>
                  </a:srgbClr>
                </a:gs>
                <a:gs pos="100000">
                  <a:srgbClr val="9ECED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178446" cy="7564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3023728" y="3462992"/>
            <a:ext cx="4711012" cy="2670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10253" indent="-205126" lvl="1">
              <a:lnSpc>
                <a:spcPts val="3047"/>
              </a:lnSpc>
              <a:buFont typeface="Arial"/>
              <a:buChar char="•"/>
            </a:pPr>
            <a:r>
              <a:rPr lang="en-US" sz="19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Casing cannot be securely tied to narrow or irregular trees</a:t>
            </a:r>
          </a:p>
          <a:p>
            <a:pPr algn="ctr" marL="410253" indent="-205126" lvl="1">
              <a:lnSpc>
                <a:spcPts val="3047"/>
              </a:lnSpc>
              <a:buFont typeface="Arial"/>
              <a:buChar char="•"/>
            </a:pPr>
            <a:r>
              <a:rPr lang="en-US" sz="19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</a:t>
            </a:r>
            <a:r>
              <a:rPr lang="en-US" sz="19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urrent cargo straps interfere with camera and vent positioning</a:t>
            </a:r>
          </a:p>
          <a:p>
            <a:pPr algn="ctr" marL="410253" indent="-205126" lvl="1">
              <a:lnSpc>
                <a:spcPts val="3047"/>
              </a:lnSpc>
              <a:buFont typeface="Arial"/>
              <a:buChar char="•"/>
            </a:pPr>
            <a:r>
              <a:rPr lang="en-US" sz="19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Limits flexibility and quick deployment in the field</a:t>
            </a:r>
          </a:p>
          <a:p>
            <a:pPr algn="ctr">
              <a:lnSpc>
                <a:spcPts val="3047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-1840246" y="4600239"/>
            <a:ext cx="8192533" cy="9316121"/>
          </a:xfrm>
          <a:custGeom>
            <a:avLst/>
            <a:gdLst/>
            <a:ahLst/>
            <a:cxnLst/>
            <a:rect r="r" b="b" t="t" l="l"/>
            <a:pathLst>
              <a:path h="9316121" w="8192533">
                <a:moveTo>
                  <a:pt x="0" y="0"/>
                </a:moveTo>
                <a:lnTo>
                  <a:pt x="8192533" y="0"/>
                </a:lnTo>
                <a:lnTo>
                  <a:pt x="8192533" y="9316122"/>
                </a:lnTo>
                <a:lnTo>
                  <a:pt x="0" y="93161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718879" y="6295716"/>
            <a:ext cx="3632441" cy="3632441"/>
          </a:xfrm>
          <a:custGeom>
            <a:avLst/>
            <a:gdLst/>
            <a:ahLst/>
            <a:cxnLst/>
            <a:rect r="r" b="b" t="t" l="l"/>
            <a:pathLst>
              <a:path h="3632441" w="3632441">
                <a:moveTo>
                  <a:pt x="0" y="0"/>
                </a:moveTo>
                <a:lnTo>
                  <a:pt x="3632441" y="0"/>
                </a:lnTo>
                <a:lnTo>
                  <a:pt x="3632441" y="3632441"/>
                </a:lnTo>
                <a:lnTo>
                  <a:pt x="0" y="36324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049628" y="6410208"/>
            <a:ext cx="3160352" cy="3403456"/>
          </a:xfrm>
          <a:custGeom>
            <a:avLst/>
            <a:gdLst/>
            <a:ahLst/>
            <a:cxnLst/>
            <a:rect r="r" b="b" t="t" l="l"/>
            <a:pathLst>
              <a:path h="3403456" w="3160352">
                <a:moveTo>
                  <a:pt x="0" y="0"/>
                </a:moveTo>
                <a:lnTo>
                  <a:pt x="3160352" y="0"/>
                </a:lnTo>
                <a:lnTo>
                  <a:pt x="3160352" y="3403456"/>
                </a:lnTo>
                <a:lnTo>
                  <a:pt x="0" y="34034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347663" y="3616923"/>
            <a:ext cx="4199989" cy="2517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390451" indent="-195226" lvl="1">
              <a:lnSpc>
                <a:spcPts val="2900"/>
              </a:lnSpc>
              <a:buFont typeface="Arial"/>
              <a:buChar char="•"/>
            </a:pPr>
            <a:r>
              <a:rPr lang="en-US" sz="1808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Once installed, repositioning is difficult</a:t>
            </a:r>
          </a:p>
          <a:p>
            <a:pPr algn="ctr" marL="390451" indent="-195226" lvl="1">
              <a:lnSpc>
                <a:spcPts val="2900"/>
              </a:lnSpc>
              <a:buFont typeface="Arial"/>
              <a:buChar char="•"/>
            </a:pPr>
            <a:r>
              <a:rPr lang="en-US" sz="1808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Placement of camera and vents restricts strapping angles</a:t>
            </a:r>
          </a:p>
          <a:p>
            <a:pPr algn="ctr" marL="390451" indent="-195226" lvl="1">
              <a:lnSpc>
                <a:spcPts val="2900"/>
              </a:lnSpc>
              <a:buFont typeface="Arial"/>
              <a:buChar char="•"/>
            </a:pPr>
            <a:r>
              <a:rPr lang="en-US" sz="1808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Can interfere with field-of-view or airflow</a:t>
            </a:r>
          </a:p>
          <a:p>
            <a:pPr algn="ctr">
              <a:lnSpc>
                <a:spcPts val="2900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2878138" y="2977564"/>
            <a:ext cx="5313923" cy="435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3"/>
              </a:lnSpc>
            </a:pPr>
            <a:r>
              <a:rPr lang="en-US" b="true" sz="255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Tree mounting restrictions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60187" y="2978969"/>
            <a:ext cx="5339234" cy="437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0"/>
              </a:lnSpc>
            </a:pPr>
            <a:r>
              <a:rPr lang="en-US" b="true" sz="256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Fixed installation point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556596" y="2977564"/>
            <a:ext cx="5313923" cy="435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3"/>
              </a:lnSpc>
            </a:pPr>
            <a:r>
              <a:rPr lang="en-US" b="true" sz="255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 Remote access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664174" y="1322744"/>
            <a:ext cx="10959652" cy="666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5"/>
              </a:lnSpc>
            </a:pPr>
            <a:r>
              <a:rPr lang="en-US" b="true" sz="388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Deployment Constraints</a:t>
            </a:r>
          </a:p>
        </p:txBody>
      </p:sp>
    </p:spTree>
  </p:cSld>
  <p:clrMapOvr>
    <a:masterClrMapping/>
  </p:clrMapOvr>
  <p:transition spd="fast">
    <p:push dir="l"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43317" y="387553"/>
            <a:ext cx="10959652" cy="666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5"/>
              </a:lnSpc>
            </a:pPr>
            <a:r>
              <a:rPr lang="en-US" b="true" sz="388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Connectivity Issues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4213419" y="-5755028"/>
            <a:ext cx="8202286" cy="9327211"/>
          </a:xfrm>
          <a:custGeom>
            <a:avLst/>
            <a:gdLst/>
            <a:ahLst/>
            <a:cxnLst/>
            <a:rect r="r" b="b" t="t" l="l"/>
            <a:pathLst>
              <a:path h="9327211" w="8202286">
                <a:moveTo>
                  <a:pt x="0" y="0"/>
                </a:moveTo>
                <a:lnTo>
                  <a:pt x="8202285" y="0"/>
                </a:lnTo>
                <a:lnTo>
                  <a:pt x="8202285" y="9327211"/>
                </a:lnTo>
                <a:lnTo>
                  <a:pt x="0" y="93272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160766" y="1861845"/>
            <a:ext cx="5313923" cy="3153480"/>
            <a:chOff x="0" y="0"/>
            <a:chExt cx="1178446" cy="6993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78446" cy="699334"/>
            </a:xfrm>
            <a:custGeom>
              <a:avLst/>
              <a:gdLst/>
              <a:ahLst/>
              <a:cxnLst/>
              <a:rect r="r" b="b" t="t" l="l"/>
              <a:pathLst>
                <a:path h="699334" w="1178446">
                  <a:moveTo>
                    <a:pt x="34966" y="0"/>
                  </a:moveTo>
                  <a:lnTo>
                    <a:pt x="1143480" y="0"/>
                  </a:lnTo>
                  <a:cubicBezTo>
                    <a:pt x="1152753" y="0"/>
                    <a:pt x="1161647" y="3684"/>
                    <a:pt x="1168205" y="10241"/>
                  </a:cubicBezTo>
                  <a:cubicBezTo>
                    <a:pt x="1174762" y="16799"/>
                    <a:pt x="1178446" y="25692"/>
                    <a:pt x="1178446" y="34966"/>
                  </a:cubicBezTo>
                  <a:lnTo>
                    <a:pt x="1178446" y="664368"/>
                  </a:lnTo>
                  <a:cubicBezTo>
                    <a:pt x="1178446" y="683679"/>
                    <a:pt x="1162791" y="699334"/>
                    <a:pt x="1143480" y="699334"/>
                  </a:cubicBezTo>
                  <a:lnTo>
                    <a:pt x="34966" y="699334"/>
                  </a:lnTo>
                  <a:cubicBezTo>
                    <a:pt x="15655" y="699334"/>
                    <a:pt x="0" y="683679"/>
                    <a:pt x="0" y="664368"/>
                  </a:cubicBezTo>
                  <a:lnTo>
                    <a:pt x="0" y="34966"/>
                  </a:lnTo>
                  <a:cubicBezTo>
                    <a:pt x="0" y="15655"/>
                    <a:pt x="15655" y="0"/>
                    <a:pt x="3496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EA4">
                    <a:alpha val="100000"/>
                  </a:srgbClr>
                </a:gs>
                <a:gs pos="100000">
                  <a:srgbClr val="9ECED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178446" cy="7564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450169" y="1846824"/>
            <a:ext cx="5339234" cy="3168500"/>
            <a:chOff x="0" y="0"/>
            <a:chExt cx="1178446" cy="69933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78446" cy="699334"/>
            </a:xfrm>
            <a:custGeom>
              <a:avLst/>
              <a:gdLst/>
              <a:ahLst/>
              <a:cxnLst/>
              <a:rect r="r" b="b" t="t" l="l"/>
              <a:pathLst>
                <a:path h="699334" w="1178446">
                  <a:moveTo>
                    <a:pt x="34800" y="0"/>
                  </a:moveTo>
                  <a:lnTo>
                    <a:pt x="1143646" y="0"/>
                  </a:lnTo>
                  <a:cubicBezTo>
                    <a:pt x="1152875" y="0"/>
                    <a:pt x="1161727" y="3666"/>
                    <a:pt x="1168253" y="10193"/>
                  </a:cubicBezTo>
                  <a:cubicBezTo>
                    <a:pt x="1174779" y="16719"/>
                    <a:pt x="1178446" y="25571"/>
                    <a:pt x="1178446" y="34800"/>
                  </a:cubicBezTo>
                  <a:lnTo>
                    <a:pt x="1178446" y="664533"/>
                  </a:lnTo>
                  <a:cubicBezTo>
                    <a:pt x="1178446" y="683753"/>
                    <a:pt x="1162865" y="699334"/>
                    <a:pt x="1143646" y="699334"/>
                  </a:cubicBezTo>
                  <a:lnTo>
                    <a:pt x="34800" y="699334"/>
                  </a:lnTo>
                  <a:cubicBezTo>
                    <a:pt x="15581" y="699334"/>
                    <a:pt x="0" y="683753"/>
                    <a:pt x="0" y="664533"/>
                  </a:cubicBezTo>
                  <a:lnTo>
                    <a:pt x="0" y="34800"/>
                  </a:lnTo>
                  <a:cubicBezTo>
                    <a:pt x="0" y="15581"/>
                    <a:pt x="15581" y="0"/>
                    <a:pt x="348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EA4">
                    <a:alpha val="100000"/>
                  </a:srgbClr>
                </a:gs>
                <a:gs pos="100000">
                  <a:srgbClr val="9ECED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178446" cy="7564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462221" y="2743966"/>
            <a:ext cx="4711012" cy="1901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10253" indent="-205126" lvl="1">
              <a:lnSpc>
                <a:spcPts val="3047"/>
              </a:lnSpc>
              <a:buFont typeface="Arial"/>
              <a:buChar char="•"/>
            </a:pPr>
            <a:r>
              <a:rPr lang="en-US" sz="19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4G dongle experiences intermittent drops in rural zones</a:t>
            </a:r>
          </a:p>
          <a:p>
            <a:pPr algn="ctr" marL="410253" indent="-205126" lvl="1">
              <a:lnSpc>
                <a:spcPts val="3047"/>
              </a:lnSpc>
              <a:buFont typeface="Arial"/>
              <a:buChar char="•"/>
            </a:pPr>
            <a:r>
              <a:rPr lang="en-US" sz="19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Signal fluctuations lead to lag or delayed API updates</a:t>
            </a:r>
          </a:p>
          <a:p>
            <a:pPr algn="ctr">
              <a:lnSpc>
                <a:spcPts val="3047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257635" y="4074710"/>
            <a:ext cx="8192533" cy="9316121"/>
          </a:xfrm>
          <a:custGeom>
            <a:avLst/>
            <a:gdLst/>
            <a:ahLst/>
            <a:cxnLst/>
            <a:rect r="r" b="b" t="t" l="l"/>
            <a:pathLst>
              <a:path h="9316121" w="8192533">
                <a:moveTo>
                  <a:pt x="0" y="0"/>
                </a:moveTo>
                <a:lnTo>
                  <a:pt x="8192534" y="0"/>
                </a:lnTo>
                <a:lnTo>
                  <a:pt x="8192534" y="9316121"/>
                </a:lnTo>
                <a:lnTo>
                  <a:pt x="0" y="93161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964381" y="5499408"/>
            <a:ext cx="9062324" cy="2181671"/>
          </a:xfrm>
          <a:custGeom>
            <a:avLst/>
            <a:gdLst/>
            <a:ahLst/>
            <a:cxnLst/>
            <a:rect r="r" b="b" t="t" l="l"/>
            <a:pathLst>
              <a:path h="2181671" w="9062324">
                <a:moveTo>
                  <a:pt x="0" y="0"/>
                </a:moveTo>
                <a:lnTo>
                  <a:pt x="9062324" y="0"/>
                </a:lnTo>
                <a:lnTo>
                  <a:pt x="9062324" y="2181671"/>
                </a:lnTo>
                <a:lnTo>
                  <a:pt x="0" y="21816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248689" y="7681079"/>
            <a:ext cx="8778016" cy="2029053"/>
          </a:xfrm>
          <a:custGeom>
            <a:avLst/>
            <a:gdLst/>
            <a:ahLst/>
            <a:cxnLst/>
            <a:rect r="r" b="b" t="t" l="l"/>
            <a:pathLst>
              <a:path h="2029053" w="8778016">
                <a:moveTo>
                  <a:pt x="0" y="0"/>
                </a:moveTo>
                <a:lnTo>
                  <a:pt x="8778016" y="0"/>
                </a:lnTo>
                <a:lnTo>
                  <a:pt x="8778016" y="2029052"/>
                </a:lnTo>
                <a:lnTo>
                  <a:pt x="0" y="20290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673" r="0" b="-1673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837645" y="2748531"/>
            <a:ext cx="4665324" cy="1520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16065" indent="-208032" lvl="1">
              <a:lnSpc>
                <a:spcPts val="3091"/>
              </a:lnSpc>
              <a:buFont typeface="Arial"/>
              <a:buChar char="•"/>
            </a:pPr>
            <a:r>
              <a:rPr lang="en-US" sz="1927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Occasional dongle disconnection requires physical reconnection</a:t>
            </a:r>
          </a:p>
          <a:p>
            <a:pPr algn="ctr" marL="416065" indent="-208032" lvl="1">
              <a:lnSpc>
                <a:spcPts val="3091"/>
              </a:lnSpc>
              <a:buFont typeface="Arial"/>
              <a:buChar char="•"/>
            </a:pPr>
            <a:r>
              <a:rPr lang="en-US" sz="1927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Limits fully autonomous operation</a:t>
            </a:r>
          </a:p>
          <a:p>
            <a:pPr algn="ctr">
              <a:lnSpc>
                <a:spcPts val="3091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3160766" y="2109172"/>
            <a:ext cx="5313923" cy="435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3"/>
              </a:lnSpc>
            </a:pPr>
            <a:r>
              <a:rPr lang="en-US" b="true" sz="255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Unreliable Connection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50169" y="2110577"/>
            <a:ext cx="5339234" cy="437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0"/>
              </a:lnSpc>
            </a:pPr>
            <a:r>
              <a:rPr lang="en-US" b="true" sz="256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Manual Intervention Needed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046578" y="2109172"/>
            <a:ext cx="5313923" cy="435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3"/>
              </a:lnSpc>
            </a:pPr>
            <a:r>
              <a:rPr lang="en-US" b="true" sz="255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Impact on API Communication</a:t>
            </a:r>
          </a:p>
        </p:txBody>
      </p:sp>
    </p:spTree>
  </p:cSld>
  <p:clrMapOvr>
    <a:masterClrMapping/>
  </p:clrMapOvr>
  <p:transition spd="fast">
    <p:circle/>
  </p:transition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706387" y="6489031"/>
            <a:ext cx="8202286" cy="9327211"/>
          </a:xfrm>
          <a:custGeom>
            <a:avLst/>
            <a:gdLst/>
            <a:ahLst/>
            <a:cxnLst/>
            <a:rect r="r" b="b" t="t" l="l"/>
            <a:pathLst>
              <a:path h="9327211" w="8202286">
                <a:moveTo>
                  <a:pt x="0" y="0"/>
                </a:moveTo>
                <a:lnTo>
                  <a:pt x="8202286" y="0"/>
                </a:lnTo>
                <a:lnTo>
                  <a:pt x="8202286" y="9327211"/>
                </a:lnTo>
                <a:lnTo>
                  <a:pt x="0" y="93272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25244" y="382122"/>
            <a:ext cx="11237512" cy="87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95"/>
              </a:lnSpc>
            </a:pPr>
            <a:r>
              <a:rPr lang="en-US" b="true" sz="521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348068" y="-4607409"/>
            <a:ext cx="8202286" cy="9327211"/>
          </a:xfrm>
          <a:custGeom>
            <a:avLst/>
            <a:gdLst/>
            <a:ahLst/>
            <a:cxnLst/>
            <a:rect r="r" b="b" t="t" l="l"/>
            <a:pathLst>
              <a:path h="9327211" w="8202286">
                <a:moveTo>
                  <a:pt x="0" y="0"/>
                </a:moveTo>
                <a:lnTo>
                  <a:pt x="8202285" y="0"/>
                </a:lnTo>
                <a:lnTo>
                  <a:pt x="8202285" y="9327212"/>
                </a:lnTo>
                <a:lnTo>
                  <a:pt x="0" y="9327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01079" y="2230798"/>
            <a:ext cx="8743570" cy="5825403"/>
          </a:xfrm>
          <a:custGeom>
            <a:avLst/>
            <a:gdLst/>
            <a:ahLst/>
            <a:cxnLst/>
            <a:rect r="r" b="b" t="t" l="l"/>
            <a:pathLst>
              <a:path h="5825403" w="8743570">
                <a:moveTo>
                  <a:pt x="0" y="0"/>
                </a:moveTo>
                <a:lnTo>
                  <a:pt x="8743570" y="0"/>
                </a:lnTo>
                <a:lnTo>
                  <a:pt x="8743570" y="5825404"/>
                </a:lnTo>
                <a:lnTo>
                  <a:pt x="0" y="58254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144000" y="2344559"/>
            <a:ext cx="7268354" cy="5903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2710" indent="-331355" lvl="1">
              <a:lnSpc>
                <a:spcPts val="4297"/>
              </a:lnSpc>
              <a:buFont typeface="Arial"/>
              <a:buChar char="•"/>
            </a:pPr>
            <a:r>
              <a:rPr lang="en-US" sz="30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Real-time detection minimizes c</a:t>
            </a:r>
            <a:r>
              <a:rPr lang="en-US" sz="30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onflict risk</a:t>
            </a:r>
          </a:p>
          <a:p>
            <a:pPr algn="l">
              <a:lnSpc>
                <a:spcPts val="4297"/>
              </a:lnSpc>
            </a:pPr>
          </a:p>
          <a:p>
            <a:pPr algn="l" marL="662710" indent="-331355" lvl="1">
              <a:lnSpc>
                <a:spcPts val="4297"/>
              </a:lnSpc>
              <a:buFont typeface="Arial"/>
              <a:buChar char="•"/>
            </a:pPr>
            <a:r>
              <a:rPr lang="en-US" sz="30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Supports remote, off-grid communities with green energy</a:t>
            </a:r>
          </a:p>
          <a:p>
            <a:pPr algn="l">
              <a:lnSpc>
                <a:spcPts val="4297"/>
              </a:lnSpc>
            </a:pPr>
          </a:p>
          <a:p>
            <a:pPr algn="l" marL="662710" indent="-331355" lvl="1">
              <a:lnSpc>
                <a:spcPts val="4297"/>
              </a:lnSpc>
              <a:buFont typeface="Arial"/>
              <a:buChar char="•"/>
            </a:pPr>
            <a:r>
              <a:rPr lang="en-US" sz="30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Easy to deploy and maintain in rural areas</a:t>
            </a:r>
          </a:p>
          <a:p>
            <a:pPr algn="l">
              <a:lnSpc>
                <a:spcPts val="4297"/>
              </a:lnSpc>
            </a:pPr>
          </a:p>
          <a:p>
            <a:pPr algn="l" marL="662710" indent="-331355" lvl="1">
              <a:lnSpc>
                <a:spcPts val="4297"/>
              </a:lnSpc>
              <a:buFont typeface="Arial"/>
              <a:buChar char="•"/>
            </a:pPr>
            <a:r>
              <a:rPr lang="en-US" sz="30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Promotes harmony between humans and elephants</a:t>
            </a:r>
          </a:p>
        </p:txBody>
      </p:sp>
    </p:spTree>
  </p:cSld>
  <p:clrMapOvr>
    <a:masterClrMapping/>
  </p:clrMapOvr>
  <p:transition spd="fast">
    <p:fade/>
  </p:transition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706387" y="6489031"/>
            <a:ext cx="8202286" cy="9327211"/>
          </a:xfrm>
          <a:custGeom>
            <a:avLst/>
            <a:gdLst/>
            <a:ahLst/>
            <a:cxnLst/>
            <a:rect r="r" b="b" t="t" l="l"/>
            <a:pathLst>
              <a:path h="9327211" w="8202286">
                <a:moveTo>
                  <a:pt x="0" y="0"/>
                </a:moveTo>
                <a:lnTo>
                  <a:pt x="8202286" y="0"/>
                </a:lnTo>
                <a:lnTo>
                  <a:pt x="8202286" y="9327211"/>
                </a:lnTo>
                <a:lnTo>
                  <a:pt x="0" y="93272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221065" y="3905125"/>
            <a:ext cx="4908481" cy="842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6"/>
              </a:lnSpc>
            </a:pPr>
            <a:r>
              <a:rPr lang="en-US" sz="1431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Deforestation, urbanization, and climate change are rapidly destroying natural habitats, putting many species at risk of extinction.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661448" y="550135"/>
            <a:ext cx="11237512" cy="87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95"/>
              </a:lnSpc>
            </a:pPr>
            <a:r>
              <a:rPr lang="en-US" b="true" sz="521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Next Steps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3348068" y="-4607409"/>
            <a:ext cx="8202286" cy="9327211"/>
          </a:xfrm>
          <a:custGeom>
            <a:avLst/>
            <a:gdLst/>
            <a:ahLst/>
            <a:cxnLst/>
            <a:rect r="r" b="b" t="t" l="l"/>
            <a:pathLst>
              <a:path h="9327211" w="8202286">
                <a:moveTo>
                  <a:pt x="0" y="0"/>
                </a:moveTo>
                <a:lnTo>
                  <a:pt x="8202285" y="0"/>
                </a:lnTo>
                <a:lnTo>
                  <a:pt x="8202285" y="9327212"/>
                </a:lnTo>
                <a:lnTo>
                  <a:pt x="0" y="9327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548116" y="1584916"/>
            <a:ext cx="11490884" cy="1868062"/>
            <a:chOff x="0" y="0"/>
            <a:chExt cx="3026406" cy="492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26406" cy="492000"/>
            </a:xfrm>
            <a:custGeom>
              <a:avLst/>
              <a:gdLst/>
              <a:ahLst/>
              <a:cxnLst/>
              <a:rect r="r" b="b" t="t" l="l"/>
              <a:pathLst>
                <a:path h="492000" w="3026406">
                  <a:moveTo>
                    <a:pt x="16170" y="0"/>
                  </a:moveTo>
                  <a:lnTo>
                    <a:pt x="3010236" y="0"/>
                  </a:lnTo>
                  <a:cubicBezTo>
                    <a:pt x="3014524" y="0"/>
                    <a:pt x="3018637" y="1704"/>
                    <a:pt x="3021670" y="4736"/>
                  </a:cubicBezTo>
                  <a:cubicBezTo>
                    <a:pt x="3024702" y="7768"/>
                    <a:pt x="3026406" y="11881"/>
                    <a:pt x="3026406" y="16170"/>
                  </a:cubicBezTo>
                  <a:lnTo>
                    <a:pt x="3026406" y="475830"/>
                  </a:lnTo>
                  <a:cubicBezTo>
                    <a:pt x="3026406" y="480119"/>
                    <a:pt x="3024702" y="484231"/>
                    <a:pt x="3021670" y="487264"/>
                  </a:cubicBezTo>
                  <a:cubicBezTo>
                    <a:pt x="3018637" y="490296"/>
                    <a:pt x="3014524" y="492000"/>
                    <a:pt x="3010236" y="492000"/>
                  </a:cubicBezTo>
                  <a:lnTo>
                    <a:pt x="16170" y="492000"/>
                  </a:lnTo>
                  <a:cubicBezTo>
                    <a:pt x="11881" y="492000"/>
                    <a:pt x="7768" y="490296"/>
                    <a:pt x="4736" y="487264"/>
                  </a:cubicBezTo>
                  <a:cubicBezTo>
                    <a:pt x="1704" y="484231"/>
                    <a:pt x="0" y="480119"/>
                    <a:pt x="0" y="475830"/>
                  </a:cubicBezTo>
                  <a:lnTo>
                    <a:pt x="0" y="16170"/>
                  </a:lnTo>
                  <a:cubicBezTo>
                    <a:pt x="0" y="11881"/>
                    <a:pt x="1704" y="7768"/>
                    <a:pt x="4736" y="4736"/>
                  </a:cubicBezTo>
                  <a:cubicBezTo>
                    <a:pt x="7768" y="1704"/>
                    <a:pt x="11881" y="0"/>
                    <a:pt x="1617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EA4">
                    <a:alpha val="100000"/>
                  </a:srgbClr>
                </a:gs>
                <a:gs pos="100000">
                  <a:srgbClr val="9ECED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3026406" cy="549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611426" y="1829035"/>
            <a:ext cx="7797420" cy="663046"/>
            <a:chOff x="0" y="0"/>
            <a:chExt cx="2053641" cy="17462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53642" cy="174629"/>
            </a:xfrm>
            <a:custGeom>
              <a:avLst/>
              <a:gdLst/>
              <a:ahLst/>
              <a:cxnLst/>
              <a:rect r="r" b="b" t="t" l="l"/>
              <a:pathLst>
                <a:path h="174629" w="2053642">
                  <a:moveTo>
                    <a:pt x="18865" y="0"/>
                  </a:moveTo>
                  <a:lnTo>
                    <a:pt x="2034777" y="0"/>
                  </a:lnTo>
                  <a:cubicBezTo>
                    <a:pt x="2039780" y="0"/>
                    <a:pt x="2044578" y="1988"/>
                    <a:pt x="2048116" y="5525"/>
                  </a:cubicBezTo>
                  <a:cubicBezTo>
                    <a:pt x="2051654" y="9063"/>
                    <a:pt x="2053642" y="13862"/>
                    <a:pt x="2053642" y="18865"/>
                  </a:cubicBezTo>
                  <a:lnTo>
                    <a:pt x="2053642" y="155765"/>
                  </a:lnTo>
                  <a:cubicBezTo>
                    <a:pt x="2053642" y="160768"/>
                    <a:pt x="2051654" y="165566"/>
                    <a:pt x="2048116" y="169104"/>
                  </a:cubicBezTo>
                  <a:cubicBezTo>
                    <a:pt x="2044578" y="172642"/>
                    <a:pt x="2039780" y="174629"/>
                    <a:pt x="2034777" y="174629"/>
                  </a:cubicBezTo>
                  <a:lnTo>
                    <a:pt x="18865" y="174629"/>
                  </a:lnTo>
                  <a:cubicBezTo>
                    <a:pt x="13862" y="174629"/>
                    <a:pt x="9063" y="172642"/>
                    <a:pt x="5525" y="169104"/>
                  </a:cubicBezTo>
                  <a:cubicBezTo>
                    <a:pt x="1988" y="165566"/>
                    <a:pt x="0" y="160768"/>
                    <a:pt x="0" y="155765"/>
                  </a:cubicBezTo>
                  <a:lnTo>
                    <a:pt x="0" y="18865"/>
                  </a:lnTo>
                  <a:cubicBezTo>
                    <a:pt x="0" y="13862"/>
                    <a:pt x="1988" y="9063"/>
                    <a:pt x="5525" y="5525"/>
                  </a:cubicBezTo>
                  <a:cubicBezTo>
                    <a:pt x="9063" y="1988"/>
                    <a:pt x="13862" y="0"/>
                    <a:pt x="1886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2053641" cy="231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761121" y="2691449"/>
            <a:ext cx="7498030" cy="55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6"/>
              </a:lnSpc>
            </a:pPr>
            <a:r>
              <a:rPr lang="en-US" sz="1431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Enhance solar panel efficiency to fully charge the battery during the day, ensuring uninterrupted performance throughout the night.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732409" y="1933710"/>
            <a:ext cx="7555453" cy="372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8"/>
              </a:lnSpc>
            </a:pPr>
            <a:r>
              <a:rPr lang="en-US" b="true" sz="2149">
                <a:solidFill>
                  <a:srgbClr val="60BC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Optimize Power Management for 24-Hour Operation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3548116" y="3733675"/>
            <a:ext cx="11490884" cy="1868062"/>
            <a:chOff x="0" y="0"/>
            <a:chExt cx="3026406" cy="492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026406" cy="492000"/>
            </a:xfrm>
            <a:custGeom>
              <a:avLst/>
              <a:gdLst/>
              <a:ahLst/>
              <a:cxnLst/>
              <a:rect r="r" b="b" t="t" l="l"/>
              <a:pathLst>
                <a:path h="492000" w="3026406">
                  <a:moveTo>
                    <a:pt x="16170" y="0"/>
                  </a:moveTo>
                  <a:lnTo>
                    <a:pt x="3010236" y="0"/>
                  </a:lnTo>
                  <a:cubicBezTo>
                    <a:pt x="3014524" y="0"/>
                    <a:pt x="3018637" y="1704"/>
                    <a:pt x="3021670" y="4736"/>
                  </a:cubicBezTo>
                  <a:cubicBezTo>
                    <a:pt x="3024702" y="7768"/>
                    <a:pt x="3026406" y="11881"/>
                    <a:pt x="3026406" y="16170"/>
                  </a:cubicBezTo>
                  <a:lnTo>
                    <a:pt x="3026406" y="475830"/>
                  </a:lnTo>
                  <a:cubicBezTo>
                    <a:pt x="3026406" y="480119"/>
                    <a:pt x="3024702" y="484231"/>
                    <a:pt x="3021670" y="487264"/>
                  </a:cubicBezTo>
                  <a:cubicBezTo>
                    <a:pt x="3018637" y="490296"/>
                    <a:pt x="3014524" y="492000"/>
                    <a:pt x="3010236" y="492000"/>
                  </a:cubicBezTo>
                  <a:lnTo>
                    <a:pt x="16170" y="492000"/>
                  </a:lnTo>
                  <a:cubicBezTo>
                    <a:pt x="11881" y="492000"/>
                    <a:pt x="7768" y="490296"/>
                    <a:pt x="4736" y="487264"/>
                  </a:cubicBezTo>
                  <a:cubicBezTo>
                    <a:pt x="1704" y="484231"/>
                    <a:pt x="0" y="480119"/>
                    <a:pt x="0" y="475830"/>
                  </a:cubicBezTo>
                  <a:lnTo>
                    <a:pt x="0" y="16170"/>
                  </a:lnTo>
                  <a:cubicBezTo>
                    <a:pt x="0" y="11881"/>
                    <a:pt x="1704" y="7768"/>
                    <a:pt x="4736" y="4736"/>
                  </a:cubicBezTo>
                  <a:cubicBezTo>
                    <a:pt x="7768" y="1704"/>
                    <a:pt x="11881" y="0"/>
                    <a:pt x="1617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EA4">
                    <a:alpha val="100000"/>
                  </a:srgbClr>
                </a:gs>
                <a:gs pos="100000">
                  <a:srgbClr val="9ECED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3026406" cy="549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611426" y="3995040"/>
            <a:ext cx="7797420" cy="663046"/>
            <a:chOff x="0" y="0"/>
            <a:chExt cx="2053641" cy="17462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53642" cy="174629"/>
            </a:xfrm>
            <a:custGeom>
              <a:avLst/>
              <a:gdLst/>
              <a:ahLst/>
              <a:cxnLst/>
              <a:rect r="r" b="b" t="t" l="l"/>
              <a:pathLst>
                <a:path h="174629" w="2053642">
                  <a:moveTo>
                    <a:pt x="18865" y="0"/>
                  </a:moveTo>
                  <a:lnTo>
                    <a:pt x="2034777" y="0"/>
                  </a:lnTo>
                  <a:cubicBezTo>
                    <a:pt x="2039780" y="0"/>
                    <a:pt x="2044578" y="1988"/>
                    <a:pt x="2048116" y="5525"/>
                  </a:cubicBezTo>
                  <a:cubicBezTo>
                    <a:pt x="2051654" y="9063"/>
                    <a:pt x="2053642" y="13862"/>
                    <a:pt x="2053642" y="18865"/>
                  </a:cubicBezTo>
                  <a:lnTo>
                    <a:pt x="2053642" y="155765"/>
                  </a:lnTo>
                  <a:cubicBezTo>
                    <a:pt x="2053642" y="160768"/>
                    <a:pt x="2051654" y="165566"/>
                    <a:pt x="2048116" y="169104"/>
                  </a:cubicBezTo>
                  <a:cubicBezTo>
                    <a:pt x="2044578" y="172642"/>
                    <a:pt x="2039780" y="174629"/>
                    <a:pt x="2034777" y="174629"/>
                  </a:cubicBezTo>
                  <a:lnTo>
                    <a:pt x="18865" y="174629"/>
                  </a:lnTo>
                  <a:cubicBezTo>
                    <a:pt x="13862" y="174629"/>
                    <a:pt x="9063" y="172642"/>
                    <a:pt x="5525" y="169104"/>
                  </a:cubicBezTo>
                  <a:cubicBezTo>
                    <a:pt x="1988" y="165566"/>
                    <a:pt x="0" y="160768"/>
                    <a:pt x="0" y="155765"/>
                  </a:cubicBezTo>
                  <a:lnTo>
                    <a:pt x="0" y="18865"/>
                  </a:lnTo>
                  <a:cubicBezTo>
                    <a:pt x="0" y="13862"/>
                    <a:pt x="1988" y="9063"/>
                    <a:pt x="5525" y="5525"/>
                  </a:cubicBezTo>
                  <a:cubicBezTo>
                    <a:pt x="9063" y="1988"/>
                    <a:pt x="13862" y="0"/>
                    <a:pt x="1886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2053641" cy="231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6732409" y="4826211"/>
            <a:ext cx="7498030" cy="55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6"/>
              </a:lnSpc>
            </a:pPr>
            <a:r>
              <a:rPr lang="en-US" sz="1431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Refine the machine learning model to reduce false positives and better distinguish elephants from humans and other</a:t>
            </a:r>
            <a:r>
              <a:rPr lang="en-US" sz="1431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animals.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732409" y="4127683"/>
            <a:ext cx="5905870" cy="372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8"/>
              </a:lnSpc>
            </a:pPr>
            <a:r>
              <a:rPr lang="en-US" b="true" sz="2149">
                <a:solidFill>
                  <a:srgbClr val="60BC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Improve Detection Accuracy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3548116" y="5830337"/>
            <a:ext cx="11490884" cy="1868062"/>
            <a:chOff x="0" y="0"/>
            <a:chExt cx="3026406" cy="492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026406" cy="492000"/>
            </a:xfrm>
            <a:custGeom>
              <a:avLst/>
              <a:gdLst/>
              <a:ahLst/>
              <a:cxnLst/>
              <a:rect r="r" b="b" t="t" l="l"/>
              <a:pathLst>
                <a:path h="492000" w="3026406">
                  <a:moveTo>
                    <a:pt x="16170" y="0"/>
                  </a:moveTo>
                  <a:lnTo>
                    <a:pt x="3010236" y="0"/>
                  </a:lnTo>
                  <a:cubicBezTo>
                    <a:pt x="3014524" y="0"/>
                    <a:pt x="3018637" y="1704"/>
                    <a:pt x="3021670" y="4736"/>
                  </a:cubicBezTo>
                  <a:cubicBezTo>
                    <a:pt x="3024702" y="7768"/>
                    <a:pt x="3026406" y="11881"/>
                    <a:pt x="3026406" y="16170"/>
                  </a:cubicBezTo>
                  <a:lnTo>
                    <a:pt x="3026406" y="475830"/>
                  </a:lnTo>
                  <a:cubicBezTo>
                    <a:pt x="3026406" y="480119"/>
                    <a:pt x="3024702" y="484231"/>
                    <a:pt x="3021670" y="487264"/>
                  </a:cubicBezTo>
                  <a:cubicBezTo>
                    <a:pt x="3018637" y="490296"/>
                    <a:pt x="3014524" y="492000"/>
                    <a:pt x="3010236" y="492000"/>
                  </a:cubicBezTo>
                  <a:lnTo>
                    <a:pt x="16170" y="492000"/>
                  </a:lnTo>
                  <a:cubicBezTo>
                    <a:pt x="11881" y="492000"/>
                    <a:pt x="7768" y="490296"/>
                    <a:pt x="4736" y="487264"/>
                  </a:cubicBezTo>
                  <a:cubicBezTo>
                    <a:pt x="1704" y="484231"/>
                    <a:pt x="0" y="480119"/>
                    <a:pt x="0" y="475830"/>
                  </a:cubicBezTo>
                  <a:lnTo>
                    <a:pt x="0" y="16170"/>
                  </a:lnTo>
                  <a:cubicBezTo>
                    <a:pt x="0" y="11881"/>
                    <a:pt x="1704" y="7768"/>
                    <a:pt x="4736" y="4736"/>
                  </a:cubicBezTo>
                  <a:cubicBezTo>
                    <a:pt x="7768" y="1704"/>
                    <a:pt x="11881" y="0"/>
                    <a:pt x="1617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EA4">
                    <a:alpha val="100000"/>
                  </a:srgbClr>
                </a:gs>
                <a:gs pos="100000">
                  <a:srgbClr val="9ECED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3026406" cy="549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611426" y="6091702"/>
            <a:ext cx="7797420" cy="663046"/>
            <a:chOff x="0" y="0"/>
            <a:chExt cx="2053641" cy="17462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53642" cy="174629"/>
            </a:xfrm>
            <a:custGeom>
              <a:avLst/>
              <a:gdLst/>
              <a:ahLst/>
              <a:cxnLst/>
              <a:rect r="r" b="b" t="t" l="l"/>
              <a:pathLst>
                <a:path h="174629" w="2053642">
                  <a:moveTo>
                    <a:pt x="18865" y="0"/>
                  </a:moveTo>
                  <a:lnTo>
                    <a:pt x="2034777" y="0"/>
                  </a:lnTo>
                  <a:cubicBezTo>
                    <a:pt x="2039780" y="0"/>
                    <a:pt x="2044578" y="1988"/>
                    <a:pt x="2048116" y="5525"/>
                  </a:cubicBezTo>
                  <a:cubicBezTo>
                    <a:pt x="2051654" y="9063"/>
                    <a:pt x="2053642" y="13862"/>
                    <a:pt x="2053642" y="18865"/>
                  </a:cubicBezTo>
                  <a:lnTo>
                    <a:pt x="2053642" y="155765"/>
                  </a:lnTo>
                  <a:cubicBezTo>
                    <a:pt x="2053642" y="160768"/>
                    <a:pt x="2051654" y="165566"/>
                    <a:pt x="2048116" y="169104"/>
                  </a:cubicBezTo>
                  <a:cubicBezTo>
                    <a:pt x="2044578" y="172642"/>
                    <a:pt x="2039780" y="174629"/>
                    <a:pt x="2034777" y="174629"/>
                  </a:cubicBezTo>
                  <a:lnTo>
                    <a:pt x="18865" y="174629"/>
                  </a:lnTo>
                  <a:cubicBezTo>
                    <a:pt x="13862" y="174629"/>
                    <a:pt x="9063" y="172642"/>
                    <a:pt x="5525" y="169104"/>
                  </a:cubicBezTo>
                  <a:cubicBezTo>
                    <a:pt x="1988" y="165566"/>
                    <a:pt x="0" y="160768"/>
                    <a:pt x="0" y="155765"/>
                  </a:cubicBezTo>
                  <a:lnTo>
                    <a:pt x="0" y="18865"/>
                  </a:lnTo>
                  <a:cubicBezTo>
                    <a:pt x="0" y="13862"/>
                    <a:pt x="1988" y="9063"/>
                    <a:pt x="5525" y="5525"/>
                  </a:cubicBezTo>
                  <a:cubicBezTo>
                    <a:pt x="9063" y="1988"/>
                    <a:pt x="13862" y="0"/>
                    <a:pt x="1886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2053641" cy="231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6732409" y="6926198"/>
            <a:ext cx="7498030" cy="55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6"/>
              </a:lnSpc>
            </a:pPr>
            <a:r>
              <a:rPr lang="en-US" sz="1431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Enhance microphone quality to improve elephant sound detection range and clarity, especially in noisy or forested</a:t>
            </a:r>
            <a:r>
              <a:rPr lang="en-US" sz="1431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environments.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853393" y="6222456"/>
            <a:ext cx="5905870" cy="372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8"/>
              </a:lnSpc>
            </a:pPr>
            <a:r>
              <a:rPr lang="en-US" b="true" sz="2149">
                <a:solidFill>
                  <a:srgbClr val="60BC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Upgrade Audio Capture Hardware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495899" y="1605388"/>
            <a:ext cx="1212709" cy="1709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37"/>
              </a:lnSpc>
              <a:spcBef>
                <a:spcPct val="0"/>
              </a:spcBef>
            </a:pPr>
            <a:r>
              <a:rPr lang="en-US" sz="10027">
                <a:solidFill>
                  <a:srgbClr val="000000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🔋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462596" y="3907574"/>
            <a:ext cx="1399481" cy="1367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35"/>
              </a:lnSpc>
              <a:spcBef>
                <a:spcPct val="0"/>
              </a:spcBef>
            </a:pPr>
            <a:r>
              <a:rPr lang="en-US" sz="8025">
                <a:solidFill>
                  <a:srgbClr val="000000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🎯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569190" y="5939302"/>
            <a:ext cx="1383690" cy="1354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08"/>
              </a:lnSpc>
              <a:spcBef>
                <a:spcPct val="0"/>
              </a:spcBef>
            </a:pPr>
            <a:r>
              <a:rPr lang="en-US" sz="7934">
                <a:solidFill>
                  <a:srgbClr val="000000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🎤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221065" y="8060349"/>
            <a:ext cx="4908481" cy="842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6"/>
              </a:lnSpc>
            </a:pPr>
            <a:r>
              <a:rPr lang="en-US" sz="1431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Deforestation, urbanization, and climate change are rapidly destroying natural habitats, putting many species at risk of extinction.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3548116" y="7888899"/>
            <a:ext cx="11490884" cy="1868062"/>
            <a:chOff x="0" y="0"/>
            <a:chExt cx="3026406" cy="492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026406" cy="492000"/>
            </a:xfrm>
            <a:custGeom>
              <a:avLst/>
              <a:gdLst/>
              <a:ahLst/>
              <a:cxnLst/>
              <a:rect r="r" b="b" t="t" l="l"/>
              <a:pathLst>
                <a:path h="492000" w="3026406">
                  <a:moveTo>
                    <a:pt x="16170" y="0"/>
                  </a:moveTo>
                  <a:lnTo>
                    <a:pt x="3010236" y="0"/>
                  </a:lnTo>
                  <a:cubicBezTo>
                    <a:pt x="3014524" y="0"/>
                    <a:pt x="3018637" y="1704"/>
                    <a:pt x="3021670" y="4736"/>
                  </a:cubicBezTo>
                  <a:cubicBezTo>
                    <a:pt x="3024702" y="7768"/>
                    <a:pt x="3026406" y="11881"/>
                    <a:pt x="3026406" y="16170"/>
                  </a:cubicBezTo>
                  <a:lnTo>
                    <a:pt x="3026406" y="475830"/>
                  </a:lnTo>
                  <a:cubicBezTo>
                    <a:pt x="3026406" y="480119"/>
                    <a:pt x="3024702" y="484231"/>
                    <a:pt x="3021670" y="487264"/>
                  </a:cubicBezTo>
                  <a:cubicBezTo>
                    <a:pt x="3018637" y="490296"/>
                    <a:pt x="3014524" y="492000"/>
                    <a:pt x="3010236" y="492000"/>
                  </a:cubicBezTo>
                  <a:lnTo>
                    <a:pt x="16170" y="492000"/>
                  </a:lnTo>
                  <a:cubicBezTo>
                    <a:pt x="11881" y="492000"/>
                    <a:pt x="7768" y="490296"/>
                    <a:pt x="4736" y="487264"/>
                  </a:cubicBezTo>
                  <a:cubicBezTo>
                    <a:pt x="1704" y="484231"/>
                    <a:pt x="0" y="480119"/>
                    <a:pt x="0" y="475830"/>
                  </a:cubicBezTo>
                  <a:lnTo>
                    <a:pt x="0" y="16170"/>
                  </a:lnTo>
                  <a:cubicBezTo>
                    <a:pt x="0" y="11881"/>
                    <a:pt x="1704" y="7768"/>
                    <a:pt x="4736" y="4736"/>
                  </a:cubicBezTo>
                  <a:cubicBezTo>
                    <a:pt x="7768" y="1704"/>
                    <a:pt x="11881" y="0"/>
                    <a:pt x="1617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EA4">
                    <a:alpha val="100000"/>
                  </a:srgbClr>
                </a:gs>
                <a:gs pos="100000">
                  <a:srgbClr val="9ECED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3026406" cy="549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4657463" y="8037589"/>
            <a:ext cx="1383690" cy="1551441"/>
          </a:xfrm>
          <a:custGeom>
            <a:avLst/>
            <a:gdLst/>
            <a:ahLst/>
            <a:cxnLst/>
            <a:rect r="r" b="b" t="t" l="l"/>
            <a:pathLst>
              <a:path h="1551441" w="1383690">
                <a:moveTo>
                  <a:pt x="0" y="0"/>
                </a:moveTo>
                <a:lnTo>
                  <a:pt x="1383689" y="0"/>
                </a:lnTo>
                <a:lnTo>
                  <a:pt x="1383689" y="1551441"/>
                </a:lnTo>
                <a:lnTo>
                  <a:pt x="0" y="15514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6611426" y="8150264"/>
            <a:ext cx="7797420" cy="663046"/>
            <a:chOff x="0" y="0"/>
            <a:chExt cx="2053641" cy="17462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053642" cy="174629"/>
            </a:xfrm>
            <a:custGeom>
              <a:avLst/>
              <a:gdLst/>
              <a:ahLst/>
              <a:cxnLst/>
              <a:rect r="r" b="b" t="t" l="l"/>
              <a:pathLst>
                <a:path h="174629" w="2053642">
                  <a:moveTo>
                    <a:pt x="18865" y="0"/>
                  </a:moveTo>
                  <a:lnTo>
                    <a:pt x="2034777" y="0"/>
                  </a:lnTo>
                  <a:cubicBezTo>
                    <a:pt x="2039780" y="0"/>
                    <a:pt x="2044578" y="1988"/>
                    <a:pt x="2048116" y="5525"/>
                  </a:cubicBezTo>
                  <a:cubicBezTo>
                    <a:pt x="2051654" y="9063"/>
                    <a:pt x="2053642" y="13862"/>
                    <a:pt x="2053642" y="18865"/>
                  </a:cubicBezTo>
                  <a:lnTo>
                    <a:pt x="2053642" y="155765"/>
                  </a:lnTo>
                  <a:cubicBezTo>
                    <a:pt x="2053642" y="160768"/>
                    <a:pt x="2051654" y="165566"/>
                    <a:pt x="2048116" y="169104"/>
                  </a:cubicBezTo>
                  <a:cubicBezTo>
                    <a:pt x="2044578" y="172642"/>
                    <a:pt x="2039780" y="174629"/>
                    <a:pt x="2034777" y="174629"/>
                  </a:cubicBezTo>
                  <a:lnTo>
                    <a:pt x="18865" y="174629"/>
                  </a:lnTo>
                  <a:cubicBezTo>
                    <a:pt x="13862" y="174629"/>
                    <a:pt x="9063" y="172642"/>
                    <a:pt x="5525" y="169104"/>
                  </a:cubicBezTo>
                  <a:cubicBezTo>
                    <a:pt x="1988" y="165566"/>
                    <a:pt x="0" y="160768"/>
                    <a:pt x="0" y="155765"/>
                  </a:cubicBezTo>
                  <a:lnTo>
                    <a:pt x="0" y="18865"/>
                  </a:lnTo>
                  <a:cubicBezTo>
                    <a:pt x="0" y="13862"/>
                    <a:pt x="1988" y="9063"/>
                    <a:pt x="5525" y="5525"/>
                  </a:cubicBezTo>
                  <a:cubicBezTo>
                    <a:pt x="9063" y="1988"/>
                    <a:pt x="13862" y="0"/>
                    <a:pt x="1886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2053641" cy="231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3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6761121" y="9007954"/>
            <a:ext cx="7498030" cy="55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6"/>
              </a:lnSpc>
            </a:pPr>
            <a:r>
              <a:rPr lang="en-US" sz="1431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Integrate GPS to track device location and monitor elephant movement paths, enhancing response</a:t>
            </a:r>
            <a:r>
              <a:rPr lang="en-US" sz="1431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planning and data analysis.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732409" y="8282907"/>
            <a:ext cx="5905870" cy="372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8"/>
              </a:lnSpc>
            </a:pPr>
            <a:r>
              <a:rPr lang="en-US" b="true" sz="2149">
                <a:solidFill>
                  <a:srgbClr val="60BCD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GPS Tracker</a:t>
            </a:r>
          </a:p>
        </p:txBody>
      </p:sp>
    </p:spTree>
  </p:cSld>
  <p:clrMapOvr>
    <a:masterClrMapping/>
  </p:clrMapOvr>
  <p:transition spd="fast">
    <p:cover dir="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DAGmLhlE5_M</dc:identifier>
  <dcterms:modified xsi:type="dcterms:W3CDTF">2011-08-01T06:04:30Z</dcterms:modified>
  <cp:revision>1</cp:revision>
  <dc:title>An automated detection and early warning system for human-wildlife conflict</dc:title>
</cp:coreProperties>
</file>